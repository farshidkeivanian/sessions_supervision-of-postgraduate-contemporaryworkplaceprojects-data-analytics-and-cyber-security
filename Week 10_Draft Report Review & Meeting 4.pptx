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406" r:id="rId3"/>
    <p:sldId id="421" r:id="rId4"/>
    <p:sldId id="407" r:id="rId5"/>
    <p:sldId id="386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420" r:id="rId19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2298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300" b="1" dirty="0">
                <a:latin typeface="+mj-lt"/>
              </a:rPr>
              <a:t>HI6050 Contemporary Workplace Project - Student Guidelines</a:t>
            </a:r>
            <a:endParaRPr lang="en-US" sz="33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300" dirty="0">
                <a:latin typeface="+mj-lt"/>
              </a:rPr>
              <a:t>This guide outlines your weekly responsibilities, assessment expectations, and tips for success in the HI6050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987078-FB47-73B4-DF9F-E782FB6C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EE06A0-C491-8FAB-618A-2EAE86581E00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Objectives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08D4155-F0EF-7144-85BE-F1AF775EE4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D1BB52-A524-6C09-AA57-F31D4C0B5D03}"/>
              </a:ext>
            </a:extLst>
          </p:cNvPr>
          <p:cNvSpPr txBox="1"/>
          <p:nvPr/>
        </p:nvSpPr>
        <p:spPr>
          <a:xfrm>
            <a:off x="304800" y="1752601"/>
            <a:ext cx="11887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Present near-complete literature review + results + discussion draft.</a:t>
            </a:r>
          </a:p>
        </p:txBody>
      </p:sp>
    </p:spTree>
    <p:extLst>
      <p:ext uri="{BB962C8B-B14F-4D97-AF65-F5344CB8AC3E}">
        <p14:creationId xmlns:p14="http://schemas.microsoft.com/office/powerpoint/2010/main" val="19056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46E568-6EA1-2C32-BFE5-68C00CE9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B794B1-6EC1-2B51-AF2E-5322FE7C391F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Tasks for Groups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0992A29-47AA-2EE1-0422-8DCAE9CFD7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ECE52A-A859-60E9-CCC5-D25296ABB51D}"/>
              </a:ext>
            </a:extLst>
          </p:cNvPr>
          <p:cNvSpPr txBox="1"/>
          <p:nvPr/>
        </p:nvSpPr>
        <p:spPr>
          <a:xfrm>
            <a:off x="304800" y="1752601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Supervisor will check if your discussion section integrates literature with your </a:t>
            </a:r>
            <a:r>
              <a:rPr lang="en-US" sz="2800">
                <a:latin typeface="+mj-lt"/>
              </a:rPr>
              <a:t>results.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+mj-lt"/>
              </a:rPr>
              <a:t>Receive </a:t>
            </a:r>
            <a:r>
              <a:rPr lang="en-US" sz="2800" dirty="0">
                <a:latin typeface="+mj-lt"/>
              </a:rPr>
              <a:t>final feedback before polishing.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Cross-check report with marking rubric.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Plan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29943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3B3E51-0AB9-C738-CDA3-5F8FAE49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DB1473-CFF0-D2DC-ECAE-6E5A9ABC6D29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Tasks for Groups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299AD45-5365-1221-D2B0-B73C55EBB4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BAD1EA-466A-BE36-BBF3-0897D7170BD8}"/>
              </a:ext>
            </a:extLst>
          </p:cNvPr>
          <p:cNvSpPr txBox="1"/>
          <p:nvPr/>
        </p:nvSpPr>
        <p:spPr>
          <a:xfrm>
            <a:off x="304800" y="1752601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Assign final editing roles.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Double-check references.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last-minute structural changes unless critical.</a:t>
            </a:r>
          </a:p>
        </p:txBody>
      </p:sp>
    </p:spTree>
    <p:extLst>
      <p:ext uri="{BB962C8B-B14F-4D97-AF65-F5344CB8AC3E}">
        <p14:creationId xmlns:p14="http://schemas.microsoft.com/office/powerpoint/2010/main" val="178686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E2C759-6C1F-1ABD-BBA8-FE37BF86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97F1E8-2BB8-4BF6-450C-F1849A39579E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EC90566-AB44-CDB7-7789-90B7B36705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FB2E4C-A06C-D451-831D-4A922EC5BC7E}"/>
              </a:ext>
            </a:extLst>
          </p:cNvPr>
          <p:cNvSpPr txBox="1"/>
          <p:nvPr/>
        </p:nvSpPr>
        <p:spPr>
          <a:xfrm>
            <a:off x="152400" y="1138455"/>
            <a:ext cx="118871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A. Data Analytics Topics – Literature Review Tips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Role of Data Analytics in Business Decision-Making</a:t>
            </a:r>
            <a:endParaRPr lang="en-US" sz="2800" dirty="0">
              <a:latin typeface="+mj-lt"/>
            </a:endParaRP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Search for recent case studies in </a:t>
            </a:r>
            <a:r>
              <a:rPr lang="en-US" sz="2800" i="1" dirty="0">
                <a:latin typeface="+mj-lt"/>
              </a:rPr>
              <a:t>Harvard Business Review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MIS Quarterly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Decision Support Systems</a:t>
            </a:r>
            <a:r>
              <a:rPr lang="en-US" sz="2800" dirty="0">
                <a:latin typeface="+mj-lt"/>
              </a:rPr>
              <a:t>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Compare decision-making outcomes before vs. after analytics adoption.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</a:t>
            </a:r>
            <a:r>
              <a:rPr lang="en-US" sz="2800" dirty="0" err="1">
                <a:latin typeface="+mj-lt"/>
              </a:rPr>
              <a:t>organisational</a:t>
            </a:r>
            <a:r>
              <a:rPr lang="en-US" sz="2800" dirty="0">
                <a:latin typeface="+mj-lt"/>
              </a:rPr>
              <a:t> change theory and data culture adoption frameworks.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ECF279D-8D3B-633B-C0D6-8A7515AAB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375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3FFCCA-B9E1-D45F-7E55-6E52D5326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D094AF-36E5-F0CD-9DE2-25C617BC719C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013FF13-7667-9E95-01CC-21A3E6F940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A7D38-AA9B-2DAC-E49E-0CCBB6EA6A6D}"/>
              </a:ext>
            </a:extLst>
          </p:cNvPr>
          <p:cNvSpPr txBox="1"/>
          <p:nvPr/>
        </p:nvSpPr>
        <p:spPr>
          <a:xfrm>
            <a:off x="152400" y="1138455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+mj-lt"/>
              </a:rPr>
              <a:t>Big Data Analytics in Healthcare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i="1" dirty="0">
                <a:latin typeface="+mj-lt"/>
              </a:rPr>
              <a:t>Journal of Medical Internet Research</a:t>
            </a:r>
            <a:r>
              <a:rPr lang="en-US" sz="2800" dirty="0">
                <a:latin typeface="+mj-lt"/>
              </a:rPr>
              <a:t> and </a:t>
            </a:r>
            <a:r>
              <a:rPr lang="en-US" sz="2800" i="1" dirty="0">
                <a:latin typeface="+mj-lt"/>
              </a:rPr>
              <a:t>Health Informatics Journal</a:t>
            </a:r>
            <a:r>
              <a:rPr lang="en-US" sz="28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Look at both benefits (diagnosis, operational efficiency) and challenges (privacy, interoperability).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global and local (e.g., Australia’s My Health Record) perspectives.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3E7568F-A619-106E-FB9A-5439DBF40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296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F6BB20-6BAE-515A-E70A-A8871612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010FEB-A27F-7368-6AD8-6E5EFCDCBFA3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670F71E-0A41-69D0-1435-FA486E9799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6522D8-E10A-2A73-6A48-0180962012A8}"/>
              </a:ext>
            </a:extLst>
          </p:cNvPr>
          <p:cNvSpPr txBox="1"/>
          <p:nvPr/>
        </p:nvSpPr>
        <p:spPr>
          <a:xfrm>
            <a:off x="152400" y="1138455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+mj-lt"/>
              </a:rPr>
              <a:t>Predictive Analytics in Financial Risk Management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Target </a:t>
            </a:r>
            <a:r>
              <a:rPr lang="en-US" sz="2800" i="1" dirty="0">
                <a:latin typeface="+mj-lt"/>
              </a:rPr>
              <a:t>Journal of Banking &amp; Finance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Risk Analysis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Compare statistical vs. machine learning approaches.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 model explainability and regulatory compliance (e.g., Basel accords).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D2FD4F1-F3EC-DB33-F346-11208FF3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9224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73B149-7A9D-83D1-6BAF-91D91858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224F93-FBA7-6667-3AB5-B87104B0B2AC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0DAA3E-5BE9-5015-1D50-5DB84F5A87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23FDB1-128D-BA16-E67A-518D09503D1D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 dirty="0">
                <a:latin typeface="+mj-lt"/>
              </a:rPr>
              <a:t>Ethical Challenges in Data Analytics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i="1" dirty="0">
                <a:latin typeface="+mj-lt"/>
              </a:rPr>
              <a:t>Ethics and Information Technology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AI &amp; Society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Explore bias, discrimination, consent, and data misuse cases.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Highlight ethical frameworks like OECD AI Principles.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C224B94-B8A2-59BB-CB51-1BB2B160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9422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D85744-E884-1D45-3018-FB5FA818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9FEECB-7AE4-E648-7C3F-A363508800BD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80DACC4-B90A-51A0-379A-524C9009F8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ED433F-6FF9-3063-082F-921DBD329032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b="1" dirty="0">
                <a:latin typeface="+mj-lt"/>
              </a:rPr>
              <a:t>Impact of Real-Time Analytics on E-Commerce</a:t>
            </a:r>
            <a:endParaRPr lang="en-US" sz="2800" dirty="0">
              <a:latin typeface="+mj-lt"/>
            </a:endParaRP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Search </a:t>
            </a:r>
            <a:r>
              <a:rPr lang="en-US" sz="2800" i="1" dirty="0">
                <a:latin typeface="+mj-lt"/>
              </a:rPr>
              <a:t>Electronic Commerce Research &amp; Applications</a:t>
            </a:r>
            <a:r>
              <a:rPr lang="en-US" sz="2800" dirty="0">
                <a:latin typeface="+mj-lt"/>
              </a:rPr>
              <a:t>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 infrastructure requirements (e.g., stream processing with Kafka).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Link to customer experience models and ROI studies.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0EDD9C-1B7F-2A44-ACCA-A8EBC7F05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5838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4E37EB-4E67-4AB4-F2D2-44E588C0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C1BE7F-FADF-81C8-22B0-E688562BC793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BB1B4AA-00DD-718B-9399-3BB6F7BE47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93659C-E694-1101-273A-9A575F1E4A2A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b="1" dirty="0">
                <a:latin typeface="+mj-lt"/>
              </a:rPr>
              <a:t>Data Analytics in Sports Performance and Management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i="1" dirty="0">
                <a:latin typeface="+mj-lt"/>
              </a:rPr>
              <a:t>Journal of Sports Analytics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Separate athlete performance metrics from fan engagement analytics.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Explore ethical concerns on player privacy.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24AF6A1-65E1-398B-C2FA-3C8CF395E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791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5417CC-401E-589D-1C0A-BBCD7AC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14C03D-9AC0-1122-60CF-0809FCF6B1AE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3FE6331-537F-3FC9-ED15-37DAF892AC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20588D-7B8D-51A8-A096-B1B087AF293F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7.   Sentiment Analysis in Social Media Monitoring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Search </a:t>
            </a:r>
            <a:r>
              <a:rPr lang="en-US" sz="2800" i="1" dirty="0">
                <a:latin typeface="+mj-lt"/>
              </a:rPr>
              <a:t>Computational Linguistics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Social Network Analysis and Mining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Compare lexicon-based vs. machine learning sentiment methods.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Evaluate accuracy issues with sarcasm, slang, and multilingual data.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C7A1CBD-C9DA-9E11-4524-F1E5B4EE7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7967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6B7079-5D25-5162-0F5F-BB12576A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862CE8-22C5-9EAA-1AED-9318AB73A41D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5998909-875D-D931-9B52-4D1EEC16F9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FADF5-308C-0A3F-1237-A1E85C8A582E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9.   Learning Analytics in Education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i="1" dirty="0">
                <a:latin typeface="+mj-lt"/>
              </a:rPr>
              <a:t>Computers &amp; Education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Educational Data Mining Journal</a:t>
            </a:r>
            <a:r>
              <a:rPr lang="en-US" sz="2800" dirty="0">
                <a:latin typeface="+mj-lt"/>
              </a:rPr>
              <a:t>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 early warning systems, adaptive learning platforms.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ethics in student data use.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1A638F-3744-DA9E-72C8-4F076D7AA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8102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6B5328-4D9C-1928-027C-A4B2E0F6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9297E1-AFF1-0DDE-975D-E2F8F56F4E0C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20F2D90-AF80-8942-1710-28C5A562D5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470D14-D23A-7A58-84B1-959BC81DD784}"/>
              </a:ext>
            </a:extLst>
          </p:cNvPr>
          <p:cNvSpPr txBox="1"/>
          <p:nvPr/>
        </p:nvSpPr>
        <p:spPr>
          <a:xfrm>
            <a:off x="152400" y="1138455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9.   Data Visualization in Analytics Communication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Search </a:t>
            </a:r>
            <a:r>
              <a:rPr lang="en-US" sz="2800" i="1" dirty="0">
                <a:latin typeface="+mj-lt"/>
              </a:rPr>
              <a:t>Information Visualization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IEEE Transactions on Visualization and Computer Graphics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Identify best practices (color theory, chart choice, storytelling).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Review misleading </a:t>
            </a:r>
            <a:r>
              <a:rPr lang="en-US" sz="2800" dirty="0" err="1">
                <a:latin typeface="+mj-lt"/>
              </a:rPr>
              <a:t>visualisation</a:t>
            </a:r>
            <a:r>
              <a:rPr lang="en-US" sz="2800" dirty="0">
                <a:latin typeface="+mj-lt"/>
              </a:rPr>
              <a:t> pitfalls.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A549031-6255-DBB1-3FAD-B0E8BF1A2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7833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9BFD0E-4A03-3F30-CE91-09923648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957E65-F139-D751-D772-65BAAFCB5503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AED705C-D2F3-BD9B-D079-E4BA16D90D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746A13-BC77-C207-A0C2-71370A50F832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10"/>
            </a:pPr>
            <a:r>
              <a:rPr lang="en-US" sz="2800" b="1" dirty="0">
                <a:latin typeface="+mj-lt"/>
              </a:rPr>
              <a:t>Data Analytics for Climate Change Monitoring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i="1" dirty="0">
                <a:latin typeface="+mj-lt"/>
              </a:rPr>
              <a:t>Nature Climate Change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Environmental Modelling &amp; Software</a:t>
            </a:r>
            <a:r>
              <a:rPr lang="en-US" sz="2800" dirty="0">
                <a:latin typeface="+mj-lt"/>
              </a:rPr>
              <a:t>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Look at remote sensing, predictive climate models.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 policy-making influence.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ADE1181-BF86-7410-DA4D-11B88023B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4156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0F8766-2022-4F74-71D9-B0D69E78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2C5CCE8-57EB-FD70-0C42-7E4F42814C76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3BA06C1-1D30-48EB-17F7-95E3500CFF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638F6-C1A6-E3C8-A8C8-AA0C9EC1E76C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11"/>
            </a:pPr>
            <a:r>
              <a:rPr lang="en-US" sz="2800" b="1" dirty="0">
                <a:latin typeface="+mj-lt"/>
              </a:rPr>
              <a:t>Customer Segmentation Using Clustering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Search </a:t>
            </a:r>
            <a:r>
              <a:rPr lang="en-US" sz="2800" i="1" dirty="0">
                <a:latin typeface="+mj-lt"/>
              </a:rPr>
              <a:t>Pattern Recognition</a:t>
            </a:r>
            <a:r>
              <a:rPr lang="en-US" sz="2800" dirty="0">
                <a:latin typeface="+mj-lt"/>
              </a:rPr>
              <a:t>, </a:t>
            </a:r>
            <a:r>
              <a:rPr lang="en-US" sz="2800" i="1" dirty="0">
                <a:latin typeface="+mj-lt"/>
              </a:rPr>
              <a:t>Knowledge-Based Systems</a:t>
            </a:r>
            <a:r>
              <a:rPr lang="en-US" sz="2800" dirty="0">
                <a:latin typeface="+mj-lt"/>
              </a:rPr>
              <a:t>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Compare algorithms (k-means, hierarchical, DBSCAN).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Review evaluation metrics (silhouette score, Davies–Bouldin index).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B50A53-E1FD-2133-BA9F-3C4B2B085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4624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794FC8-0097-D609-9DE3-6933192B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AE7D6A-6DBA-D5D4-7C97-C83B79D1C081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50137C2-7A29-7C61-4F9B-F7FA4D638C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F72719-D6E0-3254-A0B6-0C5D22282483}"/>
              </a:ext>
            </a:extLst>
          </p:cNvPr>
          <p:cNvSpPr txBox="1"/>
          <p:nvPr/>
        </p:nvSpPr>
        <p:spPr>
          <a:xfrm>
            <a:off x="152400" y="1138455"/>
            <a:ext cx="118871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12.   Data Quality Impact on Analytics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Information Systems Journal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Journal of Data and Information Quality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Discuss dimensions: completeness, accuracy, timeliness.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Include data cleaning frameworks.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13.   Data Analytics in Supply Chain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Optimisation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Search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International Journal of Production Economics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Look at forecasting, route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optimisation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risk mitigation models.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Include resilience post-COVID.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49D029-450F-5B5D-F934-CC9B2F1F9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2713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F25612-D722-214F-85CB-83553062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ACEF84-C7F0-E046-319E-D75F3FBA02CD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9FDDFCC-A43C-E7A5-3BF6-1F09C3D949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F16FFE-D03A-BA70-50D8-38335A2BED45}"/>
              </a:ext>
            </a:extLst>
          </p:cNvPr>
          <p:cNvSpPr txBox="1"/>
          <p:nvPr/>
        </p:nvSpPr>
        <p:spPr>
          <a:xfrm>
            <a:off x="152400" y="1138455"/>
            <a:ext cx="118871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14.   Machine Learning for Churn Prediction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Expert Systems with Applications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Compare classification models (logistic regression, random forest,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XGBoost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Review feature engineering approaches.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15.   IoT and Data Analytics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Search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IEEE Internet of Things Journal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Include case studies in smart manufacturing, predictive maintenance.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Discuss data security and interoperability.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F47ED74-E4D6-3DA0-3875-A9A9E4880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67422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71BD6D-BF5C-B2A1-2366-13393F7E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77A651-B758-42A0-C8DB-7AE9E741FC3F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 ON EACH TOPIC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56B6EA9-6B79-3A2E-A3AB-84BA25AF58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433DD5-0806-9A6B-583D-654A61DAEF3E}"/>
              </a:ext>
            </a:extLst>
          </p:cNvPr>
          <p:cNvSpPr txBox="1"/>
          <p:nvPr/>
        </p:nvSpPr>
        <p:spPr>
          <a:xfrm>
            <a:off x="152400" y="1138455"/>
            <a:ext cx="11887199" cy="7781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16. Bias in Machine Learning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(Fairness, Accountability, Transparency) conference papers.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Identify bias sources (data imbalance, algorithmic design).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Explore debiasing strategies.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17. Fraud Detection with Data Analytics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Search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Computers &amp; Security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Decision Support Systems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Compare supervised vs. unsupervised detection methods.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Include evolving fraud tactics.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18. Open Data and Public Policy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Government Information Quarterly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Discuss transparency, citizen engagement, and challenges of open data adoption.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1AE03C1-4DBC-AF8D-65AA-C8E36BA9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FC31E9-6C44-1F60-B59F-24FE88F27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611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789</Words>
  <Application>Microsoft Office PowerPoint</Application>
  <PresentationFormat>Custom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112</cp:revision>
  <dcterms:created xsi:type="dcterms:W3CDTF">2025-04-05T17:32:34Z</dcterms:created>
  <dcterms:modified xsi:type="dcterms:W3CDTF">2025-08-10T04:13:28Z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