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437" r:id="rId3"/>
    <p:sldId id="1749" r:id="rId4"/>
    <p:sldId id="1752" r:id="rId5"/>
    <p:sldId id="1750" r:id="rId6"/>
    <p:sldId id="1751" r:id="rId7"/>
    <p:sldId id="1748" r:id="rId8"/>
    <p:sldId id="438" r:id="rId9"/>
    <p:sldId id="439" r:id="rId10"/>
    <p:sldId id="440" r:id="rId11"/>
    <p:sldId id="441" r:id="rId12"/>
    <p:sldId id="442" r:id="rId13"/>
    <p:sldId id="443" r:id="rId14"/>
    <p:sldId id="444" r:id="rId15"/>
    <p:sldId id="445" r:id="rId16"/>
    <p:sldId id="446" r:id="rId17"/>
    <p:sldId id="447" r:id="rId18"/>
    <p:sldId id="448" r:id="rId19"/>
    <p:sldId id="449" r:id="rId20"/>
    <p:sldId id="450" r:id="rId21"/>
    <p:sldId id="1747" r:id="rId22"/>
    <p:sldId id="612" r:id="rId23"/>
  </p:sldIdLst>
  <p:sldSz cx="12192000" cy="10058400"/>
  <p:notesSz cx="12192000" cy="10058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815" autoAdjust="0"/>
    <p:restoredTop sz="94660"/>
  </p:normalViewPr>
  <p:slideViewPr>
    <p:cSldViewPr>
      <p:cViewPr varScale="1">
        <p:scale>
          <a:sx n="48" d="100"/>
          <a:sy n="48" d="100"/>
        </p:scale>
        <p:origin x="1235" y="4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299459" y="77723"/>
            <a:ext cx="4029455" cy="1479803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3055111" y="1967229"/>
            <a:ext cx="4791075" cy="45211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rgbClr val="0D0D0D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8/10/2025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</a:pPr>
            <a:r>
              <a:rPr dirty="0"/>
              <a:t>Page</a:t>
            </a:r>
            <a:r>
              <a:rPr spc="10" dirty="0"/>
              <a:t> </a:t>
            </a:r>
            <a:fld id="{81D60167-4931-47E6-BA6A-407CBD079E47}" type="slidenum">
              <a:rPr sz="1000" spc="-25" dirty="0">
                <a:latin typeface="Verdana"/>
                <a:cs typeface="Verdana"/>
              </a:rPr>
              <a:t>‹#›</a:t>
            </a:fld>
            <a:endParaRPr sz="1000">
              <a:latin typeface="Verdana"/>
              <a:cs typeface="Verdana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49224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92023" y="42671"/>
            <a:ext cx="1531620" cy="562355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0D0D0D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8/10/2025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</a:pPr>
            <a:r>
              <a:rPr dirty="0"/>
              <a:t>Page</a:t>
            </a:r>
            <a:r>
              <a:rPr spc="10" dirty="0"/>
              <a:t> </a:t>
            </a:r>
            <a:fld id="{81D60167-4931-47E6-BA6A-407CBD079E47}" type="slidenum">
              <a:rPr sz="1000" spc="-25" dirty="0">
                <a:latin typeface="Verdana"/>
                <a:cs typeface="Verdana"/>
              </a:rPr>
              <a:t>‹#›</a:t>
            </a:fld>
            <a:endParaRPr sz="1000">
              <a:latin typeface="Verdana"/>
              <a:cs typeface="Verdana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0D0D0D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8/10/2025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</a:pPr>
            <a:r>
              <a:rPr dirty="0"/>
              <a:t>Page</a:t>
            </a:r>
            <a:r>
              <a:rPr spc="10" dirty="0"/>
              <a:t> </a:t>
            </a:r>
            <a:fld id="{81D60167-4931-47E6-BA6A-407CBD079E47}" type="slidenum">
              <a:rPr sz="1000" spc="-25" dirty="0">
                <a:latin typeface="Verdana"/>
                <a:cs typeface="Verdana"/>
              </a:rPr>
              <a:t>‹#›</a:t>
            </a:fld>
            <a:endParaRPr sz="1000">
              <a:latin typeface="Verdana"/>
              <a:cs typeface="Verdana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299459" y="77723"/>
            <a:ext cx="4029455" cy="1479803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0D0D0D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8/10/2025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</a:pPr>
            <a:r>
              <a:rPr dirty="0"/>
              <a:t>Page</a:t>
            </a:r>
            <a:r>
              <a:rPr spc="10" dirty="0"/>
              <a:t> </a:t>
            </a:r>
            <a:fld id="{81D60167-4931-47E6-BA6A-407CBD079E47}" type="slidenum">
              <a:rPr sz="1000" spc="-25" dirty="0">
                <a:latin typeface="Verdana"/>
                <a:cs typeface="Verdana"/>
              </a:rPr>
              <a:t>‹#›</a:t>
            </a:fld>
            <a:endParaRPr sz="1000">
              <a:latin typeface="Verdana"/>
              <a:cs typeface="Verdana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8/10/2025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</a:pPr>
            <a:r>
              <a:rPr dirty="0"/>
              <a:t>Page</a:t>
            </a:r>
            <a:r>
              <a:rPr spc="10" dirty="0"/>
              <a:t> </a:t>
            </a:r>
            <a:fld id="{81D60167-4931-47E6-BA6A-407CBD079E47}" type="slidenum">
              <a:rPr sz="1000" spc="-25" dirty="0">
                <a:latin typeface="Verdana"/>
                <a:cs typeface="Verdana"/>
              </a:rPr>
              <a:t>‹#›</a:t>
            </a:fld>
            <a:endParaRPr sz="1000">
              <a:latin typeface="Verdana"/>
              <a:cs typeface="Verdana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3E6D3-906C-1320-4687-C1367C63EF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301287"/>
            <a:ext cx="9144000" cy="1846659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4F1C4FD-A4A9-4ABA-B38A-5C011FCA6C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282989"/>
            <a:ext cx="9144000" cy="36933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929ADD-9CFD-F94C-3BD4-E15649AA4B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0" y="6377940"/>
            <a:ext cx="2804160" cy="276999"/>
          </a:xfrm>
        </p:spPr>
        <p:txBody>
          <a:bodyPr/>
          <a:lstStyle/>
          <a:p>
            <a:fld id="{A22E6EEE-11DC-44F3-8567-F3508996C4D6}" type="datetimeFigureOut">
              <a:rPr lang="en-AU" smtClean="0"/>
              <a:t>10/08/2025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BCD539-4B99-E1AD-D8EE-398581E194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45280" y="6377940"/>
            <a:ext cx="3901440" cy="276999"/>
          </a:xfrm>
        </p:spPr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2118EA-AFF6-1D9C-A064-CCC312C78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921502" y="9253759"/>
            <a:ext cx="533400" cy="169277"/>
          </a:xfrm>
        </p:spPr>
        <p:txBody>
          <a:bodyPr/>
          <a:lstStyle/>
          <a:p>
            <a:fld id="{65DD78D8-BAAB-4AA7-9E67-7B3D99A130F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315784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8739" y="-1396"/>
            <a:ext cx="12034520" cy="3911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rgbClr val="0D0D0D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8/10/2025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921502" y="9253759"/>
            <a:ext cx="533400" cy="18795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</a:pPr>
            <a:r>
              <a:rPr dirty="0"/>
              <a:t>Page</a:t>
            </a:r>
            <a:r>
              <a:rPr spc="10" dirty="0"/>
              <a:t> </a:t>
            </a:r>
            <a:fld id="{81D60167-4931-47E6-BA6A-407CBD079E47}" type="slidenum">
              <a:rPr sz="1000" spc="-25" dirty="0">
                <a:latin typeface="Verdana"/>
                <a:cs typeface="Verdana"/>
              </a:rPr>
              <a:t>‹#›</a:t>
            </a:fld>
            <a:endParaRPr sz="1000">
              <a:latin typeface="Verdana"/>
              <a:cs typeface="Verdana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3C8CCC5-7719-5429-9C16-F066E03793F0}"/>
              </a:ext>
            </a:extLst>
          </p:cNvPr>
          <p:cNvSpPr txBox="1"/>
          <p:nvPr/>
        </p:nvSpPr>
        <p:spPr>
          <a:xfrm>
            <a:off x="304800" y="1752601"/>
            <a:ext cx="11887199" cy="3330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600" b="1" dirty="0">
                <a:latin typeface="+mj-lt"/>
              </a:rPr>
              <a:t>HI6050 Capstone: Comprehensive Topic Selection and Supplementary Document</a:t>
            </a:r>
          </a:p>
          <a:p>
            <a:pPr>
              <a:lnSpc>
                <a:spcPct val="150000"/>
              </a:lnSpc>
            </a:pPr>
            <a:r>
              <a:rPr lang="en-US" sz="3600" b="1" dirty="0">
                <a:latin typeface="+mj-lt"/>
              </a:rPr>
              <a:t>Supervisor: Dr. Farshid Keivanian</a:t>
            </a:r>
          </a:p>
          <a:p>
            <a:pPr>
              <a:lnSpc>
                <a:spcPct val="150000"/>
              </a:lnSpc>
            </a:pPr>
            <a:r>
              <a:rPr lang="en-US" sz="3600" b="1" dirty="0">
                <a:latin typeface="+mj-lt"/>
              </a:rPr>
              <a:t>Session 6: </a:t>
            </a:r>
            <a:r>
              <a:rPr lang="en-US" sz="3600" dirty="0">
                <a:latin typeface="+mj-lt"/>
              </a:rPr>
              <a:t>Preparation for Group Final Report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0C7EAED-98FD-BF40-F827-981D09025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9961DC71-359D-3013-40FF-80E6454C376A}"/>
              </a:ext>
            </a:extLst>
          </p:cNvPr>
          <p:cNvSpPr txBox="1"/>
          <p:nvPr/>
        </p:nvSpPr>
        <p:spPr>
          <a:xfrm>
            <a:off x="191211" y="213486"/>
            <a:ext cx="1040130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algn="l">
              <a:lnSpc>
                <a:spcPct val="100000"/>
              </a:lnSpc>
              <a:spcBef>
                <a:spcPts val="100"/>
              </a:spcBef>
            </a:pPr>
            <a:r>
              <a:rPr lang="en-US" sz="3600" b="1" dirty="0">
                <a:latin typeface="+mj-lt"/>
              </a:rPr>
              <a:t>Group Presentations (Interim) &amp; Meeting 2</a:t>
            </a:r>
            <a:endParaRPr sz="3300" b="1" dirty="0">
              <a:latin typeface="+mj-lt"/>
              <a:cs typeface="Calibri"/>
            </a:endParaRP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FF6481E3-A976-2302-8B84-7A861068CEE5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685F1C9-DD21-35BC-CA6E-6FDA77063E2F}"/>
              </a:ext>
            </a:extLst>
          </p:cNvPr>
          <p:cNvSpPr txBox="1"/>
          <p:nvPr/>
        </p:nvSpPr>
        <p:spPr>
          <a:xfrm>
            <a:off x="533400" y="2362201"/>
            <a:ext cx="11130950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i="1" dirty="0">
                <a:latin typeface="+mj-lt"/>
              </a:rPr>
              <a:t>(Meeting window: </a:t>
            </a:r>
            <a:r>
              <a:rPr lang="en-US" sz="2800" i="1" dirty="0" err="1">
                <a:latin typeface="+mj-lt"/>
              </a:rPr>
              <a:t>Wk</a:t>
            </a:r>
            <a:r>
              <a:rPr lang="en-US" sz="2800" i="1" dirty="0">
                <a:latin typeface="+mj-lt"/>
              </a:rPr>
              <a:t> 6–7)</a:t>
            </a:r>
            <a:br>
              <a:rPr lang="en-US" sz="2800" dirty="0">
                <a:latin typeface="+mj-lt"/>
              </a:rPr>
            </a:br>
            <a:r>
              <a:rPr lang="en-US" sz="2800" b="1" dirty="0">
                <a:latin typeface="+mj-lt"/>
              </a:rPr>
              <a:t>Objectives:</a:t>
            </a:r>
            <a:endParaRPr lang="en-US" sz="2800" dirty="0">
              <a:latin typeface="+mj-lt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Conduct Meeting 2.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Deliver interim presentation on research progress.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Present updated literature review + draft methodology.</a:t>
            </a:r>
          </a:p>
        </p:txBody>
      </p:sp>
    </p:spTree>
    <p:extLst>
      <p:ext uri="{BB962C8B-B14F-4D97-AF65-F5344CB8AC3E}">
        <p14:creationId xmlns:p14="http://schemas.microsoft.com/office/powerpoint/2010/main" val="36533836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55CC9E8-0538-E38A-6CFA-D435374285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7AB55535-7AF4-15D7-6576-CF24EC2E8D3D}"/>
              </a:ext>
            </a:extLst>
          </p:cNvPr>
          <p:cNvSpPr txBox="1"/>
          <p:nvPr/>
        </p:nvSpPr>
        <p:spPr>
          <a:xfrm>
            <a:off x="191211" y="213486"/>
            <a:ext cx="1040130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algn="l">
              <a:lnSpc>
                <a:spcPct val="100000"/>
              </a:lnSpc>
              <a:spcBef>
                <a:spcPts val="100"/>
              </a:spcBef>
            </a:pPr>
            <a:r>
              <a:rPr lang="en-US" sz="3600" b="1" dirty="0">
                <a:latin typeface="+mj-lt"/>
              </a:rPr>
              <a:t>Group Presentations (Interim) &amp; Meeting 2</a:t>
            </a:r>
            <a:endParaRPr sz="3300" b="1" dirty="0">
              <a:latin typeface="+mj-lt"/>
              <a:cs typeface="Calibri"/>
            </a:endParaRP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7A67DDCF-D4E0-4DF9-AF6C-8F6E35022EF2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E5DFA3E-AE73-AB9D-29D0-3F0F490F7B98}"/>
              </a:ext>
            </a:extLst>
          </p:cNvPr>
          <p:cNvSpPr txBox="1"/>
          <p:nvPr/>
        </p:nvSpPr>
        <p:spPr>
          <a:xfrm>
            <a:off x="533400" y="2362201"/>
            <a:ext cx="11130950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+mj-lt"/>
              </a:rPr>
              <a:t>Tasks for Groups:</a:t>
            </a:r>
            <a:endParaRPr lang="en-US" sz="2800" dirty="0">
              <a:latin typeface="+mj-lt"/>
            </a:endParaRPr>
          </a:p>
          <a:p>
            <a:pPr marL="66992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Update literature review.</a:t>
            </a:r>
          </a:p>
          <a:p>
            <a:pPr marL="66992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Present methodology draft &amp; expected outcomes.</a:t>
            </a:r>
          </a:p>
          <a:p>
            <a:pPr marL="66992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Receive peer and supervisor feedback.</a:t>
            </a:r>
          </a:p>
          <a:p>
            <a:pPr marL="66992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Summarise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literature review into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3–4 key insights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and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1–2 research gaps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.</a:t>
            </a:r>
          </a:p>
          <a:p>
            <a:pPr marL="66992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Prepare slides that combine key literature findings with proposed approach.</a:t>
            </a:r>
            <a:endParaRPr lang="en-US" sz="28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19289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B7C29E4-8C44-C74E-02F3-9EBF45007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F7BB109B-F2E6-E5D1-BEE6-8A09162132E7}"/>
              </a:ext>
            </a:extLst>
          </p:cNvPr>
          <p:cNvSpPr txBox="1"/>
          <p:nvPr/>
        </p:nvSpPr>
        <p:spPr>
          <a:xfrm>
            <a:off x="191211" y="213486"/>
            <a:ext cx="1040130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algn="l">
              <a:lnSpc>
                <a:spcPct val="100000"/>
              </a:lnSpc>
              <a:spcBef>
                <a:spcPts val="100"/>
              </a:spcBef>
            </a:pPr>
            <a:r>
              <a:rPr lang="en-US" sz="3600" b="1" dirty="0">
                <a:latin typeface="+mj-lt"/>
              </a:rPr>
              <a:t>Group Presentations (Interim) &amp; Meeting 2</a:t>
            </a:r>
            <a:endParaRPr sz="3300" b="1" dirty="0">
              <a:latin typeface="+mj-lt"/>
              <a:cs typeface="Calibri"/>
            </a:endParaRP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A00C6D95-BDEB-A988-0E45-703B57FC37EB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2076A62-99E7-8223-521B-57C38C9D6748}"/>
              </a:ext>
            </a:extLst>
          </p:cNvPr>
          <p:cNvSpPr txBox="1"/>
          <p:nvPr/>
        </p:nvSpPr>
        <p:spPr>
          <a:xfrm>
            <a:off x="533400" y="2362201"/>
            <a:ext cx="11130950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+mj-lt"/>
              </a:rPr>
              <a:t>Literature Review Integration:</a:t>
            </a:r>
            <a:endParaRPr lang="en-US" sz="2800" dirty="0">
              <a:latin typeface="+mj-lt"/>
            </a:endParaRPr>
          </a:p>
          <a:p>
            <a:pPr marL="7159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Link findings directly to your chosen methodology.</a:t>
            </a:r>
          </a:p>
          <a:p>
            <a:pPr marL="7159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Show how literature influenced your research design.</a:t>
            </a:r>
          </a:p>
        </p:txBody>
      </p:sp>
    </p:spTree>
    <p:extLst>
      <p:ext uri="{BB962C8B-B14F-4D97-AF65-F5344CB8AC3E}">
        <p14:creationId xmlns:p14="http://schemas.microsoft.com/office/powerpoint/2010/main" val="16102427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167A657-32AB-703F-C261-D3A70B410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58C16BA3-672D-A266-E7ED-D6BD6B8D9E7F}"/>
              </a:ext>
            </a:extLst>
          </p:cNvPr>
          <p:cNvSpPr txBox="1"/>
          <p:nvPr/>
        </p:nvSpPr>
        <p:spPr>
          <a:xfrm>
            <a:off x="191211" y="213486"/>
            <a:ext cx="1040130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algn="l">
              <a:lnSpc>
                <a:spcPct val="100000"/>
              </a:lnSpc>
              <a:spcBef>
                <a:spcPts val="100"/>
              </a:spcBef>
            </a:pPr>
            <a:r>
              <a:rPr lang="en-US" sz="3600" b="1" dirty="0">
                <a:latin typeface="+mj-lt"/>
              </a:rPr>
              <a:t>Group Presentations (Interim) &amp; Meeting 2</a:t>
            </a:r>
            <a:endParaRPr sz="3300" b="1" dirty="0">
              <a:latin typeface="+mj-lt"/>
              <a:cs typeface="Calibri"/>
            </a:endParaRP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EC4FA715-928F-6E0E-CC2B-B70D7267F6DD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B80E2A9-D866-03CB-E423-2321364EAC4A}"/>
              </a:ext>
            </a:extLst>
          </p:cNvPr>
          <p:cNvSpPr txBox="1"/>
          <p:nvPr/>
        </p:nvSpPr>
        <p:spPr>
          <a:xfrm>
            <a:off x="533400" y="2362201"/>
            <a:ext cx="11130950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+mj-lt"/>
              </a:rPr>
              <a:t>Do’s:</a:t>
            </a:r>
            <a:endParaRPr lang="en-US" sz="2800" dirty="0">
              <a:latin typeface="+mj-lt"/>
            </a:endParaRPr>
          </a:p>
          <a:p>
            <a:pPr marL="625475" indent="-45720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808038" algn="l"/>
              </a:tabLst>
            </a:pPr>
            <a:r>
              <a:rPr lang="en-US" sz="2800" dirty="0">
                <a:latin typeface="+mj-lt"/>
              </a:rPr>
              <a:t>Practice presentation beforehand.</a:t>
            </a:r>
          </a:p>
          <a:p>
            <a:pPr marL="625475" indent="-45720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808038" algn="l"/>
              </a:tabLst>
            </a:pPr>
            <a:r>
              <a:rPr lang="en-US" sz="2800" dirty="0">
                <a:latin typeface="+mj-lt"/>
              </a:rPr>
              <a:t>Bring evidence of research progress.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+mj-lt"/>
              </a:rPr>
              <a:t>Don’ts:</a:t>
            </a:r>
            <a:endParaRPr lang="en-US" sz="2800" dirty="0">
              <a:latin typeface="+mj-lt"/>
            </a:endParaRPr>
          </a:p>
          <a:p>
            <a:pPr marL="6254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Don’t read slides verbatim.</a:t>
            </a:r>
          </a:p>
          <a:p>
            <a:pPr marL="6254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Avoid overcrowding slides with text.</a:t>
            </a:r>
          </a:p>
        </p:txBody>
      </p:sp>
    </p:spTree>
    <p:extLst>
      <p:ext uri="{BB962C8B-B14F-4D97-AF65-F5344CB8AC3E}">
        <p14:creationId xmlns:p14="http://schemas.microsoft.com/office/powerpoint/2010/main" val="10146034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B0A0144-0E29-8070-B567-A4C46755F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3C32138A-7F00-3D6C-26C5-5CF99C763C47}"/>
              </a:ext>
            </a:extLst>
          </p:cNvPr>
          <p:cNvSpPr txBox="1"/>
          <p:nvPr/>
        </p:nvSpPr>
        <p:spPr>
          <a:xfrm>
            <a:off x="191211" y="213486"/>
            <a:ext cx="1040130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algn="l">
              <a:lnSpc>
                <a:spcPct val="100000"/>
              </a:lnSpc>
              <a:spcBef>
                <a:spcPts val="100"/>
              </a:spcBef>
            </a:pPr>
            <a:r>
              <a:rPr lang="en-US" sz="3600" b="1" dirty="0">
                <a:latin typeface="+mj-lt"/>
              </a:rPr>
              <a:t>Group Presentations (Interim) &amp; Meeting 2</a:t>
            </a:r>
            <a:endParaRPr sz="3300" b="1" dirty="0">
              <a:latin typeface="+mj-lt"/>
              <a:cs typeface="Calibri"/>
            </a:endParaRP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B1ED4704-51C9-2FBC-4A33-73E541E93FAC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C544DB2-E0C9-85ED-1E60-4DF654006E22}"/>
              </a:ext>
            </a:extLst>
          </p:cNvPr>
          <p:cNvSpPr txBox="1"/>
          <p:nvPr/>
        </p:nvSpPr>
        <p:spPr>
          <a:xfrm>
            <a:off x="533400" y="2362201"/>
            <a:ext cx="11130950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+mj-lt"/>
              </a:rPr>
              <a:t>Supervisor Check Questions:</a:t>
            </a:r>
            <a:endParaRPr lang="en-US" sz="2800" dirty="0">
              <a:latin typeface="+mj-lt"/>
            </a:endParaRPr>
          </a:p>
          <a:p>
            <a:pPr marL="1082675" lvl="1" indent="-625475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+mj-lt"/>
              </a:rPr>
              <a:t>What changes did you make after Meeting 1 feedback?</a:t>
            </a:r>
          </a:p>
          <a:p>
            <a:pPr marL="1082675" lvl="1" indent="-625475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+mj-lt"/>
              </a:rPr>
              <a:t>How are you planning to collect and </a:t>
            </a:r>
            <a:r>
              <a:rPr lang="en-US" sz="2800" dirty="0" err="1">
                <a:latin typeface="+mj-lt"/>
              </a:rPr>
              <a:t>analyse</a:t>
            </a:r>
            <a:r>
              <a:rPr lang="en-US" sz="2800" dirty="0">
                <a:latin typeface="+mj-lt"/>
              </a:rPr>
              <a:t> data?</a:t>
            </a:r>
          </a:p>
        </p:txBody>
      </p:sp>
    </p:spTree>
    <p:extLst>
      <p:ext uri="{BB962C8B-B14F-4D97-AF65-F5344CB8AC3E}">
        <p14:creationId xmlns:p14="http://schemas.microsoft.com/office/powerpoint/2010/main" val="39750328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5C38CD78-AD92-0E05-AB91-2EB49E75EE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F3C253F1-C0E6-8407-DC32-F6DE747662D0}"/>
              </a:ext>
            </a:extLst>
          </p:cNvPr>
          <p:cNvSpPr txBox="1"/>
          <p:nvPr/>
        </p:nvSpPr>
        <p:spPr>
          <a:xfrm>
            <a:off x="191211" y="213486"/>
            <a:ext cx="1040130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algn="l">
              <a:lnSpc>
                <a:spcPct val="100000"/>
              </a:lnSpc>
              <a:spcBef>
                <a:spcPts val="100"/>
              </a:spcBef>
            </a:pPr>
            <a:r>
              <a:rPr lang="en-US" sz="3600" b="1" dirty="0">
                <a:latin typeface="+mj-lt"/>
              </a:rPr>
              <a:t>Preparation for Group Final Report</a:t>
            </a:r>
            <a:endParaRPr sz="3300" b="1" dirty="0">
              <a:latin typeface="+mj-lt"/>
              <a:cs typeface="Calibri"/>
            </a:endParaRP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2E898B45-D688-D277-E116-B8B3B8883492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FE00F06-40DB-DBBB-A4B2-6D06FC7C83DB}"/>
              </a:ext>
            </a:extLst>
          </p:cNvPr>
          <p:cNvSpPr txBox="1"/>
          <p:nvPr/>
        </p:nvSpPr>
        <p:spPr>
          <a:xfrm>
            <a:off x="533400" y="2362201"/>
            <a:ext cx="11130950" cy="26079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+mj-lt"/>
              </a:rPr>
              <a:t>Word Count:</a:t>
            </a:r>
            <a:r>
              <a:rPr lang="en-US" sz="2800" dirty="0">
                <a:latin typeface="+mj-lt"/>
              </a:rPr>
              <a:t> 2500–3000 words</a:t>
            </a:r>
            <a:br>
              <a:rPr lang="en-US" sz="2800" dirty="0">
                <a:latin typeface="+mj-lt"/>
              </a:rPr>
            </a:br>
            <a:r>
              <a:rPr lang="en-US" sz="2800" b="1" dirty="0">
                <a:latin typeface="+mj-lt"/>
              </a:rPr>
              <a:t>Format:</a:t>
            </a:r>
            <a:r>
              <a:rPr lang="en-US" sz="2800" dirty="0">
                <a:latin typeface="+mj-lt"/>
              </a:rPr>
              <a:t> Microsoft Word (.docx only) | Holmes Harvard Referencing</a:t>
            </a:r>
            <a:br>
              <a:rPr lang="en-US" sz="2800" dirty="0">
                <a:latin typeface="+mj-lt"/>
              </a:rPr>
            </a:br>
            <a:r>
              <a:rPr lang="en-US" sz="2800" b="1" dirty="0">
                <a:latin typeface="+mj-lt"/>
              </a:rPr>
              <a:t>Submission Method:</a:t>
            </a:r>
            <a:r>
              <a:rPr lang="en-US" sz="2800" dirty="0">
                <a:latin typeface="+mj-lt"/>
              </a:rPr>
              <a:t> Blackboard (desktop/laptop only)</a:t>
            </a:r>
            <a:br>
              <a:rPr lang="en-US" sz="2800" dirty="0">
                <a:latin typeface="+mj-lt"/>
              </a:rPr>
            </a:br>
            <a:r>
              <a:rPr lang="en-US" sz="2800" b="1" dirty="0">
                <a:latin typeface="+mj-lt"/>
              </a:rPr>
              <a:t>Penalty:</a:t>
            </a:r>
            <a:r>
              <a:rPr lang="en-US" sz="2800" dirty="0">
                <a:latin typeface="+mj-lt"/>
              </a:rPr>
              <a:t> ❌ Students not listed on the cover sheet will receive </a:t>
            </a:r>
            <a:r>
              <a:rPr lang="en-US" sz="2800" b="1" dirty="0">
                <a:latin typeface="+mj-lt"/>
              </a:rPr>
              <a:t>zero marks</a:t>
            </a:r>
            <a:endParaRPr lang="en-US" sz="28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2283377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99AE84E-3D32-A46A-C0AD-A28B3EDB3D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47F612F6-1007-11C0-A581-284BFA5AEC91}"/>
              </a:ext>
            </a:extLst>
          </p:cNvPr>
          <p:cNvSpPr txBox="1"/>
          <p:nvPr/>
        </p:nvSpPr>
        <p:spPr>
          <a:xfrm>
            <a:off x="191211" y="213486"/>
            <a:ext cx="1040130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algn="l">
              <a:lnSpc>
                <a:spcPct val="100000"/>
              </a:lnSpc>
              <a:spcBef>
                <a:spcPts val="100"/>
              </a:spcBef>
            </a:pPr>
            <a:r>
              <a:rPr lang="en-US" sz="3600" b="1" dirty="0">
                <a:latin typeface="+mj-lt"/>
              </a:rPr>
              <a:t>Preparation for Group Final Report</a:t>
            </a:r>
            <a:endParaRPr sz="3300" b="1" dirty="0">
              <a:latin typeface="+mj-lt"/>
              <a:cs typeface="Calibri"/>
            </a:endParaRP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A557BE68-A153-EA16-5C48-72EC2D6C5EB2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9C119DB-C2A2-8643-3997-34AEA59B14F9}"/>
              </a:ext>
            </a:extLst>
          </p:cNvPr>
          <p:cNvSpPr txBox="1"/>
          <p:nvPr/>
        </p:nvSpPr>
        <p:spPr>
          <a:xfrm>
            <a:off x="533400" y="2362201"/>
            <a:ext cx="11130950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+mj-lt"/>
              </a:rPr>
              <a:t>Purpose of the Report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+mj-lt"/>
              </a:rPr>
              <a:t>The </a:t>
            </a:r>
            <a:r>
              <a:rPr lang="en-US" sz="2800" b="1" dirty="0">
                <a:latin typeface="+mj-lt"/>
              </a:rPr>
              <a:t>Group Final Report</a:t>
            </a:r>
            <a:r>
              <a:rPr lang="en-US" sz="2800" dirty="0">
                <a:latin typeface="+mj-lt"/>
              </a:rPr>
              <a:t> is a cumulative submission representing the </a:t>
            </a:r>
            <a:r>
              <a:rPr lang="en-US" sz="2800" b="1" dirty="0">
                <a:latin typeface="+mj-lt"/>
              </a:rPr>
              <a:t>research work, findings, and implications</a:t>
            </a:r>
            <a:r>
              <a:rPr lang="en-US" sz="2800" dirty="0">
                <a:latin typeface="+mj-lt"/>
              </a:rPr>
              <a:t> from your semester-long investigation. It showcases your ability to:</a:t>
            </a:r>
          </a:p>
          <a:p>
            <a:pPr marL="75882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Frame a research problem</a:t>
            </a:r>
          </a:p>
          <a:p>
            <a:pPr marL="75882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Conduct a literature-based inquiry</a:t>
            </a:r>
          </a:p>
          <a:p>
            <a:pPr marL="75882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Present meaningful findings and recommendation</a:t>
            </a:r>
          </a:p>
        </p:txBody>
      </p:sp>
    </p:spTree>
    <p:extLst>
      <p:ext uri="{BB962C8B-B14F-4D97-AF65-F5344CB8AC3E}">
        <p14:creationId xmlns:p14="http://schemas.microsoft.com/office/powerpoint/2010/main" val="34337889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4F8350B-8D10-07A2-A3BA-EE16909B88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02ECA19A-5739-095A-3124-9092ED0D3D63}"/>
              </a:ext>
            </a:extLst>
          </p:cNvPr>
          <p:cNvSpPr txBox="1"/>
          <p:nvPr/>
        </p:nvSpPr>
        <p:spPr>
          <a:xfrm>
            <a:off x="191211" y="213486"/>
            <a:ext cx="1040130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algn="l">
              <a:lnSpc>
                <a:spcPct val="100000"/>
              </a:lnSpc>
              <a:spcBef>
                <a:spcPts val="100"/>
              </a:spcBef>
            </a:pPr>
            <a:r>
              <a:rPr lang="en-US" sz="3600" b="1" dirty="0">
                <a:latin typeface="+mj-lt"/>
              </a:rPr>
              <a:t>Preparation for Group Final Report</a:t>
            </a:r>
            <a:endParaRPr sz="3300" b="1" dirty="0">
              <a:latin typeface="+mj-lt"/>
              <a:cs typeface="Calibri"/>
            </a:endParaRP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07B46BA1-8615-8030-F687-F25225661E24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6C8C6F4-981F-7B98-6273-30C50A9086E3}"/>
              </a:ext>
            </a:extLst>
          </p:cNvPr>
          <p:cNvSpPr txBox="1"/>
          <p:nvPr/>
        </p:nvSpPr>
        <p:spPr>
          <a:xfrm>
            <a:off x="533400" y="2362201"/>
            <a:ext cx="11130950" cy="4546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+mj-lt"/>
              </a:rPr>
              <a:t>Weekly Breakdown – Section-by-Section Guide</a:t>
            </a:r>
          </a:p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+mj-lt"/>
              </a:rPr>
              <a:t>Research Context</a:t>
            </a:r>
          </a:p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+mj-lt"/>
              </a:rPr>
              <a:t>1. Abstract (100–250 words)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A </a:t>
            </a:r>
            <a:r>
              <a:rPr lang="en-US" sz="2800" b="1" dirty="0">
                <a:latin typeface="+mj-lt"/>
              </a:rPr>
              <a:t>concise summary</a:t>
            </a:r>
            <a:r>
              <a:rPr lang="en-US" sz="2800" dirty="0">
                <a:latin typeface="+mj-lt"/>
              </a:rPr>
              <a:t> of the whole report.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Include: the research problem, methods, major findings, and implications.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+mj-lt"/>
              </a:rPr>
              <a:t>Tip:</a:t>
            </a:r>
            <a:r>
              <a:rPr lang="en-US" sz="2800" dirty="0">
                <a:latin typeface="+mj-lt"/>
              </a:rPr>
              <a:t> Write it last, but place it at the beginning.</a:t>
            </a:r>
          </a:p>
        </p:txBody>
      </p:sp>
    </p:spTree>
    <p:extLst>
      <p:ext uri="{BB962C8B-B14F-4D97-AF65-F5344CB8AC3E}">
        <p14:creationId xmlns:p14="http://schemas.microsoft.com/office/powerpoint/2010/main" val="33397963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BD939F7-DC0E-ECB5-8D3A-783675FC2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F5A91F8A-C2C1-4F95-1BE9-CDA41571B17A}"/>
              </a:ext>
            </a:extLst>
          </p:cNvPr>
          <p:cNvSpPr txBox="1"/>
          <p:nvPr/>
        </p:nvSpPr>
        <p:spPr>
          <a:xfrm>
            <a:off x="191211" y="213486"/>
            <a:ext cx="1040130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algn="l">
              <a:lnSpc>
                <a:spcPct val="100000"/>
              </a:lnSpc>
              <a:spcBef>
                <a:spcPts val="100"/>
              </a:spcBef>
            </a:pPr>
            <a:r>
              <a:rPr lang="en-US" sz="3600" b="1" dirty="0">
                <a:latin typeface="+mj-lt"/>
              </a:rPr>
              <a:t>Preparation for Group Final Report</a:t>
            </a:r>
            <a:endParaRPr sz="3300" b="1" dirty="0">
              <a:latin typeface="+mj-lt"/>
              <a:cs typeface="Calibri"/>
            </a:endParaRP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34EC85C2-6420-0171-13A0-FABB58164340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D5FFD3E-DEF9-3138-0737-371AC541EECB}"/>
              </a:ext>
            </a:extLst>
          </p:cNvPr>
          <p:cNvSpPr txBox="1"/>
          <p:nvPr/>
        </p:nvSpPr>
        <p:spPr>
          <a:xfrm>
            <a:off x="533400" y="2362201"/>
            <a:ext cx="11130950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+mj-lt"/>
              </a:rPr>
              <a:t>2. Introduction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+mj-lt"/>
              </a:rPr>
              <a:t>Include the following:</a:t>
            </a:r>
          </a:p>
          <a:p>
            <a:pPr marL="7413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Background to the research area</a:t>
            </a:r>
          </a:p>
          <a:p>
            <a:pPr marL="7413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Clear description of the problem</a:t>
            </a:r>
          </a:p>
          <a:p>
            <a:pPr marL="7413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Significance of the research</a:t>
            </a:r>
          </a:p>
          <a:p>
            <a:pPr marL="7413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Research question(s)</a:t>
            </a:r>
          </a:p>
          <a:p>
            <a:pPr marL="7413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Project scope and limitations</a:t>
            </a:r>
          </a:p>
          <a:p>
            <a:pPr marL="7413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Ethical considerations</a:t>
            </a:r>
          </a:p>
          <a:p>
            <a:pPr marL="7413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Chosen research approach (qualitative – literature review)</a:t>
            </a:r>
          </a:p>
        </p:txBody>
      </p:sp>
    </p:spTree>
    <p:extLst>
      <p:ext uri="{BB962C8B-B14F-4D97-AF65-F5344CB8AC3E}">
        <p14:creationId xmlns:p14="http://schemas.microsoft.com/office/powerpoint/2010/main" val="16046779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11FD5FA-2307-1754-F222-51A7CBA12D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0692CE2E-D1B5-E0D7-F8C7-1241E23E0322}"/>
              </a:ext>
            </a:extLst>
          </p:cNvPr>
          <p:cNvSpPr txBox="1"/>
          <p:nvPr/>
        </p:nvSpPr>
        <p:spPr>
          <a:xfrm>
            <a:off x="191211" y="213486"/>
            <a:ext cx="1040130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algn="l">
              <a:lnSpc>
                <a:spcPct val="100000"/>
              </a:lnSpc>
              <a:spcBef>
                <a:spcPts val="100"/>
              </a:spcBef>
            </a:pPr>
            <a:r>
              <a:rPr lang="en-US" sz="3600" b="1" dirty="0">
                <a:latin typeface="+mj-lt"/>
              </a:rPr>
              <a:t>Preparation for Group Final Report</a:t>
            </a:r>
            <a:endParaRPr sz="3300" b="1" dirty="0">
              <a:latin typeface="+mj-lt"/>
              <a:cs typeface="Calibri"/>
            </a:endParaRP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1D1741B1-434E-2B81-A8CA-8747D4AE3E41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9BC6C0E-0315-C55D-0391-A96B867B9281}"/>
              </a:ext>
            </a:extLst>
          </p:cNvPr>
          <p:cNvSpPr txBox="1"/>
          <p:nvPr/>
        </p:nvSpPr>
        <p:spPr>
          <a:xfrm>
            <a:off x="530525" y="2115438"/>
            <a:ext cx="11130950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+mj-lt"/>
              </a:rPr>
              <a:t>Research Methods</a:t>
            </a:r>
          </a:p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+mj-lt"/>
              </a:rPr>
              <a:t>3. Methodology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Use a </a:t>
            </a:r>
            <a:r>
              <a:rPr lang="en-US" sz="2800" b="1" dirty="0">
                <a:latin typeface="+mj-lt"/>
              </a:rPr>
              <a:t>qualitative approach</a:t>
            </a:r>
            <a:r>
              <a:rPr lang="en-US" sz="2800" dirty="0">
                <a:latin typeface="+mj-lt"/>
              </a:rPr>
              <a:t> (systematic literature review).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Follow guidance from </a:t>
            </a:r>
            <a:r>
              <a:rPr lang="en-US" sz="2800" b="1" dirty="0">
                <a:latin typeface="+mj-lt"/>
              </a:rPr>
              <a:t>Okoli &amp; </a:t>
            </a:r>
            <a:r>
              <a:rPr lang="en-US" sz="2800" b="1" dirty="0" err="1">
                <a:latin typeface="+mj-lt"/>
              </a:rPr>
              <a:t>Schabram</a:t>
            </a:r>
            <a:r>
              <a:rPr lang="en-US" sz="2800" b="1" dirty="0">
                <a:latin typeface="+mj-lt"/>
              </a:rPr>
              <a:t> (2010)</a:t>
            </a:r>
            <a:r>
              <a:rPr lang="en-US" sz="2800" dirty="0">
                <a:latin typeface="+mj-lt"/>
              </a:rPr>
              <a:t>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Clearly describe: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What sources were searched?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What keywords or criteria were used?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Why was a literature review selected?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How was bias minimized?</a:t>
            </a:r>
          </a:p>
        </p:txBody>
      </p:sp>
    </p:spTree>
    <p:extLst>
      <p:ext uri="{BB962C8B-B14F-4D97-AF65-F5344CB8AC3E}">
        <p14:creationId xmlns:p14="http://schemas.microsoft.com/office/powerpoint/2010/main" val="42474937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8807B4E-1D10-FB22-8DD8-E1C86AF68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A4E79582-8676-F3D3-88E1-00B67A915053}"/>
              </a:ext>
            </a:extLst>
          </p:cNvPr>
          <p:cNvSpPr txBox="1"/>
          <p:nvPr/>
        </p:nvSpPr>
        <p:spPr>
          <a:xfrm>
            <a:off x="191211" y="213486"/>
            <a:ext cx="1040130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algn="l">
              <a:lnSpc>
                <a:spcPct val="100000"/>
              </a:lnSpc>
              <a:spcBef>
                <a:spcPts val="100"/>
              </a:spcBef>
            </a:pPr>
            <a:r>
              <a:rPr lang="en-US" sz="3600" b="1" dirty="0">
                <a:latin typeface="+mj-lt"/>
              </a:rPr>
              <a:t>Preparation for Group Final Report</a:t>
            </a:r>
            <a:endParaRPr sz="3300" b="1" dirty="0">
              <a:latin typeface="+mj-lt"/>
              <a:cs typeface="Calibri"/>
            </a:endParaRP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003E3CF7-74EF-383C-9094-AE06D88C5918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A3A838F-6A36-72E7-08E7-AE50DB4F13FC}"/>
              </a:ext>
            </a:extLst>
          </p:cNvPr>
          <p:cNvSpPr txBox="1"/>
          <p:nvPr/>
        </p:nvSpPr>
        <p:spPr>
          <a:xfrm>
            <a:off x="530525" y="1461621"/>
            <a:ext cx="11130950" cy="71351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Literature Review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4. Literature Review</a:t>
            </a:r>
          </a:p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Provide scholarly background to your topic.</a:t>
            </a:r>
          </a:p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Use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relevant, peer-reviewed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sources (journals, white papers, reports).</a:t>
            </a:r>
          </a:p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The review should:</a:t>
            </a:r>
          </a:p>
          <a:p>
            <a:pPr marL="914400" marR="0" lvl="1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Highlight existing gaps</a:t>
            </a:r>
          </a:p>
          <a:p>
            <a:pPr marL="914400" marR="0" lvl="1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Compare prior findings</a:t>
            </a:r>
          </a:p>
          <a:p>
            <a:pPr marL="914400" marR="0" lvl="1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Serve as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evidence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for your research direction</a:t>
            </a: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Reference: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Okoli &amp;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Schabram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(2010), “A Guide to Conducting a Systematic Literature Review…”</a:t>
            </a:r>
          </a:p>
        </p:txBody>
      </p:sp>
    </p:spTree>
    <p:extLst>
      <p:ext uri="{BB962C8B-B14F-4D97-AF65-F5344CB8AC3E}">
        <p14:creationId xmlns:p14="http://schemas.microsoft.com/office/powerpoint/2010/main" val="654084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3764CDAB-9FB2-EC6C-29E8-E1A86F65AE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D5DF2E33-F8BB-4455-34AB-AF24091645A9}"/>
              </a:ext>
            </a:extLst>
          </p:cNvPr>
          <p:cNvSpPr txBox="1"/>
          <p:nvPr/>
        </p:nvSpPr>
        <p:spPr>
          <a:xfrm>
            <a:off x="191211" y="213486"/>
            <a:ext cx="1040130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algn="l">
              <a:lnSpc>
                <a:spcPct val="100000"/>
              </a:lnSpc>
              <a:spcBef>
                <a:spcPts val="100"/>
              </a:spcBef>
            </a:pPr>
            <a:r>
              <a:rPr lang="en-US" sz="3600" b="1" dirty="0">
                <a:latin typeface="+mj-lt"/>
              </a:rPr>
              <a:t>Preparation for Group Final Report</a:t>
            </a:r>
            <a:endParaRPr sz="3300" b="1" dirty="0">
              <a:latin typeface="+mj-lt"/>
              <a:cs typeface="Calibri"/>
            </a:endParaRP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EC8FB0F0-7F7C-02D9-0629-6DA73974A3D1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7E0B2FB-DD95-A5CB-6BF4-CB813E82929D}"/>
              </a:ext>
            </a:extLst>
          </p:cNvPr>
          <p:cNvSpPr txBox="1"/>
          <p:nvPr/>
        </p:nvSpPr>
        <p:spPr>
          <a:xfrm>
            <a:off x="530525" y="1461621"/>
            <a:ext cx="11130950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+mj-lt"/>
              </a:rPr>
              <a:t>Research Results &amp; Conclusion</a:t>
            </a:r>
          </a:p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+mj-lt"/>
              </a:rPr>
              <a:t>5. Results</a:t>
            </a:r>
          </a:p>
          <a:p>
            <a:pPr marL="79375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Objectively present your findings from the literature.</a:t>
            </a:r>
          </a:p>
          <a:p>
            <a:pPr marL="79375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+mj-lt"/>
              </a:rPr>
              <a:t>Avoid interpretation or bias</a:t>
            </a:r>
            <a:r>
              <a:rPr lang="en-US" sz="2800" dirty="0">
                <a:latin typeface="+mj-lt"/>
              </a:rPr>
              <a:t> – just present the data/patterns/themes.</a:t>
            </a:r>
          </a:p>
        </p:txBody>
      </p:sp>
    </p:spTree>
    <p:extLst>
      <p:ext uri="{BB962C8B-B14F-4D97-AF65-F5344CB8AC3E}">
        <p14:creationId xmlns:p14="http://schemas.microsoft.com/office/powerpoint/2010/main" val="26283725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5A5D35EA-81EC-95FF-D986-E596EC8AE8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E864AAEE-E4E2-0DB3-CCA2-CECE9A708B74}"/>
              </a:ext>
            </a:extLst>
          </p:cNvPr>
          <p:cNvSpPr txBox="1"/>
          <p:nvPr/>
        </p:nvSpPr>
        <p:spPr>
          <a:xfrm>
            <a:off x="191211" y="213486"/>
            <a:ext cx="1040130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algn="l">
              <a:lnSpc>
                <a:spcPct val="100000"/>
              </a:lnSpc>
              <a:spcBef>
                <a:spcPts val="100"/>
              </a:spcBef>
            </a:pPr>
            <a:r>
              <a:rPr lang="en-US" sz="3600" b="1" dirty="0">
                <a:latin typeface="+mj-lt"/>
              </a:rPr>
              <a:t>Preparation for Group Final Report</a:t>
            </a:r>
            <a:endParaRPr sz="3300" b="1" dirty="0">
              <a:latin typeface="+mj-lt"/>
              <a:cs typeface="Calibri"/>
            </a:endParaRP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507AA932-E806-F48F-6262-ECCD693AAA0D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B09D2CA-ED1F-A339-774A-9438D542B3E2}"/>
              </a:ext>
            </a:extLst>
          </p:cNvPr>
          <p:cNvSpPr txBox="1"/>
          <p:nvPr/>
        </p:nvSpPr>
        <p:spPr>
          <a:xfrm>
            <a:off x="530525" y="1461621"/>
            <a:ext cx="11130950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+mj-lt"/>
              </a:rPr>
              <a:t>6. Discussion &amp; Conclusion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+mj-lt"/>
              </a:rPr>
              <a:t>In this section:</a:t>
            </a:r>
          </a:p>
          <a:p>
            <a:pPr marL="7413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Interpret findings</a:t>
            </a:r>
          </a:p>
          <a:p>
            <a:pPr marL="7413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Reflect on their significance</a:t>
            </a:r>
          </a:p>
          <a:p>
            <a:pPr marL="7413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Compare to existing knowledge</a:t>
            </a:r>
          </a:p>
          <a:p>
            <a:pPr marL="7413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Suggest improvements or policy/industry relevance</a:t>
            </a:r>
          </a:p>
          <a:p>
            <a:pPr marL="7413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Offer future research directions</a:t>
            </a:r>
          </a:p>
        </p:txBody>
      </p:sp>
    </p:spTree>
    <p:extLst>
      <p:ext uri="{BB962C8B-B14F-4D97-AF65-F5344CB8AC3E}">
        <p14:creationId xmlns:p14="http://schemas.microsoft.com/office/powerpoint/2010/main" val="38069342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170FC30-1776-C30A-3383-706CC9E5D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8127C1E7-4A22-F7C4-98E5-0349D54C702B}"/>
              </a:ext>
            </a:extLst>
          </p:cNvPr>
          <p:cNvSpPr txBox="1"/>
          <p:nvPr/>
        </p:nvSpPr>
        <p:spPr>
          <a:xfrm>
            <a:off x="191211" y="213486"/>
            <a:ext cx="1040130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algn="l">
              <a:lnSpc>
                <a:spcPct val="100000"/>
              </a:lnSpc>
              <a:spcBef>
                <a:spcPts val="100"/>
              </a:spcBef>
            </a:pPr>
            <a:r>
              <a:rPr lang="en-US" sz="3600" b="1" dirty="0">
                <a:latin typeface="+mj-lt"/>
              </a:rPr>
              <a:t>Preparation for Group Final Report</a:t>
            </a:r>
            <a:endParaRPr sz="3300" b="1" dirty="0">
              <a:latin typeface="+mj-lt"/>
              <a:cs typeface="Calibri"/>
            </a:endParaRP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EAFAE3F1-0ACE-D0E8-05E3-C772ED251BDC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1BFF5A8-C796-DA43-A0FA-7858925A9061}"/>
              </a:ext>
            </a:extLst>
          </p:cNvPr>
          <p:cNvSpPr txBox="1"/>
          <p:nvPr/>
        </p:nvSpPr>
        <p:spPr>
          <a:xfrm>
            <a:off x="530525" y="1461621"/>
            <a:ext cx="11130950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+mj-lt"/>
              </a:rPr>
              <a:t>Final Report Submission</a:t>
            </a:r>
          </a:p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+mj-lt"/>
              </a:rPr>
              <a:t>7. References</a:t>
            </a:r>
          </a:p>
          <a:p>
            <a:pPr marL="776288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Use </a:t>
            </a:r>
            <a:r>
              <a:rPr lang="en-US" sz="2800" b="1" dirty="0">
                <a:latin typeface="+mj-lt"/>
              </a:rPr>
              <a:t>Holmes Adapted Harvard Style</a:t>
            </a:r>
            <a:endParaRPr lang="en-US" sz="2800" dirty="0">
              <a:latin typeface="+mj-lt"/>
            </a:endParaRPr>
          </a:p>
          <a:p>
            <a:pPr marL="776288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Minimum of </a:t>
            </a:r>
            <a:r>
              <a:rPr lang="en-US" sz="2800" b="1" dirty="0">
                <a:latin typeface="+mj-lt"/>
              </a:rPr>
              <a:t>10 scholarly sources</a:t>
            </a:r>
            <a:r>
              <a:rPr lang="en-US" sz="2800" dirty="0">
                <a:latin typeface="+mj-lt"/>
              </a:rPr>
              <a:t> recommended</a:t>
            </a:r>
          </a:p>
          <a:p>
            <a:pPr marL="776288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All in-text citations must match the reference list</a:t>
            </a:r>
          </a:p>
        </p:txBody>
      </p:sp>
    </p:spTree>
    <p:extLst>
      <p:ext uri="{BB962C8B-B14F-4D97-AF65-F5344CB8AC3E}">
        <p14:creationId xmlns:p14="http://schemas.microsoft.com/office/powerpoint/2010/main" val="19907926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1CA5EA2-E616-6BFF-132E-8B84BB478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C4C8DE23-E322-F6C4-1F78-7F7AA15999EC}"/>
              </a:ext>
            </a:extLst>
          </p:cNvPr>
          <p:cNvSpPr txBox="1"/>
          <p:nvPr/>
        </p:nvSpPr>
        <p:spPr>
          <a:xfrm>
            <a:off x="191211" y="213486"/>
            <a:ext cx="1040130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algn="l">
              <a:lnSpc>
                <a:spcPct val="100000"/>
              </a:lnSpc>
              <a:spcBef>
                <a:spcPts val="100"/>
              </a:spcBef>
            </a:pPr>
            <a:r>
              <a:rPr lang="en-US" sz="3600" b="1" dirty="0">
                <a:latin typeface="+mj-lt"/>
              </a:rPr>
              <a:t>Preparation for Group Final Report</a:t>
            </a:r>
            <a:endParaRPr sz="3300" b="1" dirty="0">
              <a:latin typeface="+mj-lt"/>
              <a:cs typeface="Calibri"/>
            </a:endParaRP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62732F3A-B3EF-90C0-E901-B225B2700D74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CF831FF-1224-6C59-6253-34250155712C}"/>
              </a:ext>
            </a:extLst>
          </p:cNvPr>
          <p:cNvSpPr txBox="1"/>
          <p:nvPr/>
        </p:nvSpPr>
        <p:spPr>
          <a:xfrm>
            <a:off x="530525" y="1461621"/>
            <a:ext cx="11130950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+mj-lt"/>
              </a:rPr>
              <a:t>Final Document Includes:</a:t>
            </a:r>
          </a:p>
          <a:p>
            <a:pPr marL="776288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Title Page + Cover Sheet (all team members listed)</a:t>
            </a:r>
          </a:p>
          <a:p>
            <a:pPr marL="776288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Abstract</a:t>
            </a:r>
          </a:p>
          <a:p>
            <a:pPr marL="776288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Introduction</a:t>
            </a:r>
          </a:p>
          <a:p>
            <a:pPr marL="776288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Methodology</a:t>
            </a:r>
          </a:p>
          <a:p>
            <a:pPr marL="776288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Literature Review</a:t>
            </a:r>
          </a:p>
          <a:p>
            <a:pPr marL="776288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Results</a:t>
            </a:r>
          </a:p>
          <a:p>
            <a:pPr marL="776288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Discussion &amp; Conclusion</a:t>
            </a:r>
          </a:p>
          <a:p>
            <a:pPr marL="776288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References</a:t>
            </a:r>
          </a:p>
        </p:txBody>
      </p:sp>
    </p:spTree>
    <p:extLst>
      <p:ext uri="{BB962C8B-B14F-4D97-AF65-F5344CB8AC3E}">
        <p14:creationId xmlns:p14="http://schemas.microsoft.com/office/powerpoint/2010/main" val="21734303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52BD214-9B88-A22C-F595-4B1FC9F67E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49CF602C-2313-48F1-F396-9342AE8FCCD5}"/>
              </a:ext>
            </a:extLst>
          </p:cNvPr>
          <p:cNvSpPr txBox="1"/>
          <p:nvPr/>
        </p:nvSpPr>
        <p:spPr>
          <a:xfrm>
            <a:off x="191211" y="213486"/>
            <a:ext cx="1040130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algn="l">
              <a:lnSpc>
                <a:spcPct val="100000"/>
              </a:lnSpc>
              <a:spcBef>
                <a:spcPts val="100"/>
              </a:spcBef>
            </a:pPr>
            <a:r>
              <a:rPr lang="en-US" sz="3600" b="1" dirty="0">
                <a:latin typeface="+mj-lt"/>
              </a:rPr>
              <a:t>Preparation for Group Final Report</a:t>
            </a:r>
            <a:endParaRPr sz="3300" b="1" dirty="0">
              <a:latin typeface="+mj-lt"/>
              <a:cs typeface="Calibri"/>
            </a:endParaRP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869A44E9-955B-DE25-5230-5408607FAF1F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4BADC75-8E40-C64C-78BE-44B199D9BD05}"/>
              </a:ext>
            </a:extLst>
          </p:cNvPr>
          <p:cNvSpPr txBox="1"/>
          <p:nvPr/>
        </p:nvSpPr>
        <p:spPr>
          <a:xfrm>
            <a:off x="530525" y="1461621"/>
            <a:ext cx="11130950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+mj-lt"/>
              </a:rPr>
              <a:t>Formatting Requirements</a:t>
            </a:r>
          </a:p>
          <a:p>
            <a:pPr marL="7413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MS Word (.docx) ONLY</a:t>
            </a:r>
          </a:p>
          <a:p>
            <a:pPr marL="7413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Font: </a:t>
            </a:r>
            <a:r>
              <a:rPr lang="en-US" sz="2800" b="1" dirty="0">
                <a:latin typeface="+mj-lt"/>
              </a:rPr>
              <a:t>Calibri</a:t>
            </a:r>
            <a:r>
              <a:rPr lang="en-US" sz="2800" dirty="0">
                <a:latin typeface="+mj-lt"/>
              </a:rPr>
              <a:t>, size </a:t>
            </a:r>
            <a:r>
              <a:rPr lang="en-US" sz="2800" b="1" dirty="0">
                <a:latin typeface="+mj-lt"/>
              </a:rPr>
              <a:t>11pt</a:t>
            </a:r>
            <a:r>
              <a:rPr lang="en-US" sz="2800" dirty="0">
                <a:latin typeface="+mj-lt"/>
              </a:rPr>
              <a:t>, no spacing</a:t>
            </a:r>
          </a:p>
          <a:p>
            <a:pPr marL="7413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Margins: </a:t>
            </a:r>
            <a:r>
              <a:rPr lang="en-US" sz="2800" b="1" dirty="0">
                <a:latin typeface="+mj-lt"/>
              </a:rPr>
              <a:t>2 cm on all sides</a:t>
            </a:r>
            <a:endParaRPr lang="en-US" sz="2800" dirty="0">
              <a:latin typeface="+mj-lt"/>
            </a:endParaRPr>
          </a:p>
          <a:p>
            <a:pPr marL="7413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All group members must be listed on the </a:t>
            </a:r>
            <a:r>
              <a:rPr lang="en-US" sz="2800" b="1" dirty="0">
                <a:latin typeface="+mj-lt"/>
              </a:rPr>
              <a:t>cover sheet</a:t>
            </a:r>
            <a:endParaRPr lang="en-US" sz="2800" dirty="0">
              <a:latin typeface="+mj-lt"/>
            </a:endParaRPr>
          </a:p>
          <a:p>
            <a:pPr marL="7413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Submit from </a:t>
            </a:r>
            <a:r>
              <a:rPr lang="en-US" sz="2800" b="1" dirty="0">
                <a:latin typeface="+mj-lt"/>
              </a:rPr>
              <a:t>desktop/laptop</a:t>
            </a:r>
            <a:r>
              <a:rPr lang="en-US" sz="2800" dirty="0">
                <a:latin typeface="+mj-lt"/>
              </a:rPr>
              <a:t> (no phones/tablets/Blackboard app)</a:t>
            </a:r>
          </a:p>
        </p:txBody>
      </p:sp>
    </p:spTree>
    <p:extLst>
      <p:ext uri="{BB962C8B-B14F-4D97-AF65-F5344CB8AC3E}">
        <p14:creationId xmlns:p14="http://schemas.microsoft.com/office/powerpoint/2010/main" val="34523875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57017113-3822-0666-8FFA-62EE920128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A27CF84F-DBFF-329C-FC34-A6CEA2DF4445}"/>
              </a:ext>
            </a:extLst>
          </p:cNvPr>
          <p:cNvSpPr txBox="1"/>
          <p:nvPr/>
        </p:nvSpPr>
        <p:spPr>
          <a:xfrm>
            <a:off x="191211" y="213486"/>
            <a:ext cx="1040130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algn="l">
              <a:lnSpc>
                <a:spcPct val="100000"/>
              </a:lnSpc>
              <a:spcBef>
                <a:spcPts val="100"/>
              </a:spcBef>
            </a:pPr>
            <a:r>
              <a:rPr lang="en-US" sz="3600" b="1" dirty="0">
                <a:latin typeface="+mj-lt"/>
              </a:rPr>
              <a:t>Preparation for Group Final Report</a:t>
            </a:r>
            <a:endParaRPr sz="3300" b="1" dirty="0">
              <a:latin typeface="+mj-lt"/>
              <a:cs typeface="Calibri"/>
            </a:endParaRP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A05F20FF-B097-CFB9-5C40-F3EBCC2A0972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15E0285-CDBC-40AD-9B65-E2617739ED85}"/>
              </a:ext>
            </a:extLst>
          </p:cNvPr>
          <p:cNvSpPr txBox="1"/>
          <p:nvPr/>
        </p:nvSpPr>
        <p:spPr>
          <a:xfrm>
            <a:off x="530525" y="1461621"/>
            <a:ext cx="11130950" cy="51932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+mj-lt"/>
              </a:rPr>
              <a:t>What Will Be Rejected (Zero Mark &amp; Academic Misconduct)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+mj-lt"/>
              </a:rPr>
              <a:t>❌ No cover sheet</a:t>
            </a:r>
            <a:br>
              <a:rPr lang="en-US" sz="2800" dirty="0">
                <a:latin typeface="+mj-lt"/>
              </a:rPr>
            </a:br>
            <a:r>
              <a:rPr lang="en-US" sz="2800" dirty="0">
                <a:latin typeface="+mj-lt"/>
              </a:rPr>
              <a:t>❌ Students not registered in your Blackboard group</a:t>
            </a:r>
            <a:br>
              <a:rPr lang="en-US" sz="2800" dirty="0">
                <a:latin typeface="+mj-lt"/>
              </a:rPr>
            </a:br>
            <a:r>
              <a:rPr lang="en-US" sz="2800" dirty="0">
                <a:latin typeface="+mj-lt"/>
              </a:rPr>
              <a:t>❌ PDF, Pages, screenshots, or handwritten answers</a:t>
            </a:r>
            <a:br>
              <a:rPr lang="en-US" sz="2800" dirty="0">
                <a:latin typeface="+mj-lt"/>
              </a:rPr>
            </a:br>
            <a:r>
              <a:rPr lang="en-US" sz="2800" dirty="0">
                <a:latin typeface="+mj-lt"/>
              </a:rPr>
              <a:t>❌ Submitting from smartphones</a:t>
            </a:r>
            <a:br>
              <a:rPr lang="en-US" sz="2800" dirty="0">
                <a:latin typeface="+mj-lt"/>
              </a:rPr>
            </a:br>
            <a:r>
              <a:rPr lang="en-US" sz="2800" dirty="0">
                <a:latin typeface="+mj-lt"/>
              </a:rPr>
              <a:t>❌ Listing students who did not contribute</a:t>
            </a:r>
            <a:br>
              <a:rPr lang="en-US" sz="2800" dirty="0">
                <a:latin typeface="+mj-lt"/>
              </a:rPr>
            </a:br>
            <a:r>
              <a:rPr lang="en-US" sz="2800" dirty="0">
                <a:latin typeface="+mj-lt"/>
              </a:rPr>
              <a:t>❌ AI-generated text without critical editing or citation</a:t>
            </a:r>
            <a:br>
              <a:rPr lang="en-US" sz="2800" dirty="0">
                <a:latin typeface="+mj-lt"/>
              </a:rPr>
            </a:br>
            <a:r>
              <a:rPr lang="en-US" sz="2800" dirty="0">
                <a:latin typeface="+mj-lt"/>
              </a:rPr>
              <a:t>❌ Submissions from overseas IPs without permission</a:t>
            </a:r>
          </a:p>
        </p:txBody>
      </p:sp>
    </p:spTree>
    <p:extLst>
      <p:ext uri="{BB962C8B-B14F-4D97-AF65-F5344CB8AC3E}">
        <p14:creationId xmlns:p14="http://schemas.microsoft.com/office/powerpoint/2010/main" val="29552466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0E83F40-8EDB-C7C7-3132-C4B2451CF9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2D55221A-4D4E-4A22-DC8C-869F80B20EF5}"/>
              </a:ext>
            </a:extLst>
          </p:cNvPr>
          <p:cNvSpPr txBox="1"/>
          <p:nvPr/>
        </p:nvSpPr>
        <p:spPr>
          <a:xfrm>
            <a:off x="191211" y="213486"/>
            <a:ext cx="1040130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algn="l">
              <a:lnSpc>
                <a:spcPct val="100000"/>
              </a:lnSpc>
              <a:spcBef>
                <a:spcPts val="100"/>
              </a:spcBef>
            </a:pPr>
            <a:r>
              <a:rPr lang="en-US" sz="3600" b="1" dirty="0">
                <a:latin typeface="+mj-lt"/>
              </a:rPr>
              <a:t>Preparation for Group Final Report</a:t>
            </a:r>
            <a:endParaRPr sz="3300" b="1" dirty="0">
              <a:latin typeface="+mj-lt"/>
              <a:cs typeface="Calibri"/>
            </a:endParaRP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1C801ACE-717A-298E-23D8-050FAB168C18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7060D55-E15D-81F2-6236-3631A066F633}"/>
              </a:ext>
            </a:extLst>
          </p:cNvPr>
          <p:cNvSpPr txBox="1"/>
          <p:nvPr/>
        </p:nvSpPr>
        <p:spPr>
          <a:xfrm>
            <a:off x="530525" y="1461621"/>
            <a:ext cx="11130950" cy="51932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+mj-lt"/>
              </a:rPr>
              <a:t>Tips for Success</a:t>
            </a:r>
          </a:p>
          <a:p>
            <a:pPr marL="776288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+mj-lt"/>
              </a:rPr>
              <a:t>Start Early:</a:t>
            </a:r>
            <a:r>
              <a:rPr lang="en-US" sz="2800" dirty="0">
                <a:latin typeface="+mj-lt"/>
              </a:rPr>
              <a:t> Break down the work into manageable chunks weekly.</a:t>
            </a:r>
          </a:p>
          <a:p>
            <a:pPr marL="776288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+mj-lt"/>
              </a:rPr>
              <a:t>Assign Roles:</a:t>
            </a:r>
            <a:r>
              <a:rPr lang="en-US" sz="2800" dirty="0">
                <a:latin typeface="+mj-lt"/>
              </a:rPr>
              <a:t> Research lead, editor, reference checker, Gantt chart creator.</a:t>
            </a:r>
          </a:p>
          <a:p>
            <a:pPr marL="776288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+mj-lt"/>
              </a:rPr>
              <a:t>Use a Literature Matrix:</a:t>
            </a:r>
            <a:r>
              <a:rPr lang="en-US" sz="2800" dirty="0">
                <a:latin typeface="+mj-lt"/>
              </a:rPr>
              <a:t> To track your readings.</a:t>
            </a:r>
          </a:p>
          <a:p>
            <a:pPr marL="776288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+mj-lt"/>
              </a:rPr>
              <a:t>Use Tools:</a:t>
            </a:r>
            <a:r>
              <a:rPr lang="en-US" sz="2800" dirty="0">
                <a:latin typeface="+mj-lt"/>
              </a:rPr>
              <a:t> Zotero, Mendeley, or EndNote for referencing.</a:t>
            </a:r>
          </a:p>
          <a:p>
            <a:pPr marL="776288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+mj-lt"/>
              </a:rPr>
              <a:t>Proofread Carefully:</a:t>
            </a:r>
            <a:r>
              <a:rPr lang="en-US" sz="2800" dirty="0">
                <a:latin typeface="+mj-lt"/>
              </a:rPr>
              <a:t> Spelling, flow, and formatting affect marks.</a:t>
            </a:r>
          </a:p>
          <a:p>
            <a:pPr marL="776288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+mj-lt"/>
              </a:rPr>
              <a:t>Book Drop-in Consultations:</a:t>
            </a:r>
            <a:r>
              <a:rPr lang="en-US" sz="2800" dirty="0">
                <a:latin typeface="+mj-lt"/>
              </a:rPr>
              <a:t> For feedback or clarification.</a:t>
            </a:r>
          </a:p>
        </p:txBody>
      </p:sp>
    </p:spTree>
    <p:extLst>
      <p:ext uri="{BB962C8B-B14F-4D97-AF65-F5344CB8AC3E}">
        <p14:creationId xmlns:p14="http://schemas.microsoft.com/office/powerpoint/2010/main" val="8031218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056C5A06-56A4-30BF-CBAE-40D361870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3D1DDD43-6BF8-F7FF-8EB6-430D1EC53291}"/>
              </a:ext>
            </a:extLst>
          </p:cNvPr>
          <p:cNvSpPr txBox="1"/>
          <p:nvPr/>
        </p:nvSpPr>
        <p:spPr>
          <a:xfrm>
            <a:off x="191211" y="213486"/>
            <a:ext cx="1040130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algn="l">
              <a:lnSpc>
                <a:spcPct val="100000"/>
              </a:lnSpc>
              <a:spcBef>
                <a:spcPts val="100"/>
              </a:spcBef>
            </a:pPr>
            <a:r>
              <a:rPr lang="en-US" sz="3600" b="1" dirty="0">
                <a:latin typeface="+mj-lt"/>
              </a:rPr>
              <a:t>Preparation for Group Final Report</a:t>
            </a:r>
            <a:endParaRPr sz="3300" b="1" dirty="0">
              <a:latin typeface="+mj-lt"/>
              <a:cs typeface="Calibri"/>
            </a:endParaRP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69576A48-C034-7053-A118-4687BA0784C1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E61E7B9-B860-2899-E63F-2FBD3B6A00B9}"/>
              </a:ext>
            </a:extLst>
          </p:cNvPr>
          <p:cNvSpPr txBox="1"/>
          <p:nvPr/>
        </p:nvSpPr>
        <p:spPr>
          <a:xfrm>
            <a:off x="530525" y="1461621"/>
            <a:ext cx="11130950" cy="648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+mj-lt"/>
              </a:rPr>
              <a:t>Submission Checklist</a:t>
            </a:r>
          </a:p>
          <a:p>
            <a:pPr marL="846138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Abstract summarizes full research</a:t>
            </a:r>
          </a:p>
          <a:p>
            <a:pPr marL="846138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Introduction outlines scope, problem, and approach</a:t>
            </a:r>
          </a:p>
          <a:p>
            <a:pPr marL="846138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Methodology uses systematic literature review</a:t>
            </a:r>
          </a:p>
          <a:p>
            <a:pPr marL="846138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Literature review uses 10+ scholarly sources</a:t>
            </a:r>
          </a:p>
          <a:p>
            <a:pPr marL="846138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Results presented objectively</a:t>
            </a:r>
          </a:p>
          <a:p>
            <a:pPr marL="846138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Discussion interprets findings in context</a:t>
            </a:r>
          </a:p>
          <a:p>
            <a:pPr marL="846138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All citations are correct and listed in references</a:t>
            </a:r>
          </a:p>
          <a:p>
            <a:pPr marL="846138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Final .docx submitted via Blackboard from PC/Mac</a:t>
            </a:r>
          </a:p>
          <a:p>
            <a:pPr marL="846138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All team members listed on cover sheet</a:t>
            </a:r>
          </a:p>
        </p:txBody>
      </p:sp>
    </p:spTree>
    <p:extLst>
      <p:ext uri="{BB962C8B-B14F-4D97-AF65-F5344CB8AC3E}">
        <p14:creationId xmlns:p14="http://schemas.microsoft.com/office/powerpoint/2010/main" val="13344365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8E0D2-9286-EC6A-FC28-A59187C96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2">
            <a:extLst>
              <a:ext uri="{FF2B5EF4-FFF2-40B4-BE49-F238E27FC236}">
                <a16:creationId xmlns:a16="http://schemas.microsoft.com/office/drawing/2014/main" id="{53D8119B-B033-4742-7B01-FE383058F9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26" y="12941"/>
            <a:ext cx="12192000" cy="1053859"/>
          </a:xfrm>
          <a:solidFill>
            <a:schemeClr val="bg1"/>
          </a:solidFill>
        </p:spPr>
        <p:txBody>
          <a:bodyPr>
            <a:noAutofit/>
          </a:bodyPr>
          <a:lstStyle/>
          <a:p>
            <a:pPr algn="l"/>
            <a:r>
              <a:rPr lang="en-US" sz="3600" dirty="0">
                <a:latin typeface="Calibri" panose="020F0502020204030204" pitchFamily="34" charset="0"/>
                <a:cs typeface="Calibri" panose="020F0502020204030204" pitchFamily="34" charset="0"/>
              </a:rPr>
              <a:t>Group Progress Presentation – Overview of Progress at least 5 min</a:t>
            </a:r>
            <a:endParaRPr lang="en-US" sz="3600" dirty="0">
              <a:highlight>
                <a:srgbClr val="FFFF00"/>
              </a:highlight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94872E6-ECC6-7615-EF56-326EA87CDB1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4199" b="23637"/>
          <a:stretch/>
        </p:blipFill>
        <p:spPr>
          <a:xfrm>
            <a:off x="8626" y="1371600"/>
            <a:ext cx="12192000" cy="4263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8778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8CDC9-A7F0-B9E3-E9E4-516B6197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>
            <a:extLst>
              <a:ext uri="{FF2B5EF4-FFF2-40B4-BE49-F238E27FC236}">
                <a16:creationId xmlns:a16="http://schemas.microsoft.com/office/drawing/2014/main" id="{D91AB5A2-B21D-66A0-4528-C2C55210EBB0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5EF6D16-E124-24B9-1D4B-698CF1363FA5}"/>
              </a:ext>
            </a:extLst>
          </p:cNvPr>
          <p:cNvSpPr txBox="1"/>
          <p:nvPr/>
        </p:nvSpPr>
        <p:spPr>
          <a:xfrm>
            <a:off x="0" y="0"/>
            <a:ext cx="1188719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/>
              <a:t>Thank You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82B71991-9C10-2CDD-0295-065A9579E2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0" y="1577975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9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550CBBC-F537-AFEC-634C-56C9DAB146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2239963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9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85037F8A-312A-5706-B9D4-BD56C9AD7D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2560638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9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163D227C-1D36-DEFE-C2F8-3CA3D97D92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2606675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9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EE1BCA2-620C-3559-3A80-9228DA241173}"/>
              </a:ext>
            </a:extLst>
          </p:cNvPr>
          <p:cNvSpPr txBox="1"/>
          <p:nvPr/>
        </p:nvSpPr>
        <p:spPr>
          <a:xfrm>
            <a:off x="609600" y="2441246"/>
            <a:ext cx="9624202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+mj-lt"/>
              </a:rPr>
              <a:t>Need Help? Send an email or ask during the tutorial session.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+mj-lt"/>
              </a:rPr>
              <a:t>Good luck with your capstone journey!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+mj-lt"/>
              </a:rPr>
              <a:t>Dr. Farshid Keivanian</a:t>
            </a:r>
            <a:br>
              <a:rPr lang="en-US" sz="2800" dirty="0">
                <a:latin typeface="+mj-lt"/>
              </a:rPr>
            </a:br>
            <a:r>
              <a:rPr lang="en-US" sz="2800" dirty="0">
                <a:latin typeface="+mj-lt"/>
              </a:rPr>
              <a:t>Capstone Project Supervisor</a:t>
            </a:r>
            <a:br>
              <a:rPr lang="en-US" sz="2800" dirty="0">
                <a:latin typeface="+mj-lt"/>
              </a:rPr>
            </a:br>
            <a:r>
              <a:rPr lang="en-US" sz="2800" dirty="0">
                <a:latin typeface="+mj-lt"/>
              </a:rPr>
              <a:t>FKeivanian@my.holmes.edu.au</a:t>
            </a:r>
          </a:p>
        </p:txBody>
      </p:sp>
    </p:spTree>
    <p:extLst>
      <p:ext uri="{BB962C8B-B14F-4D97-AF65-F5344CB8AC3E}">
        <p14:creationId xmlns:p14="http://schemas.microsoft.com/office/powerpoint/2010/main" val="25836958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381</TotalTime>
  <Words>970</Words>
  <Application>Microsoft Office PowerPoint</Application>
  <PresentationFormat>Custom</PresentationFormat>
  <Paragraphs>139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Calibri</vt:lpstr>
      <vt:lpstr>Verdana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Group Progress Presentation – Overview of Progress at least 5 min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Farshid Keivanian</dc:creator>
  <cp:lastModifiedBy>Farshid Keivanian</cp:lastModifiedBy>
  <cp:revision>146</cp:revision>
  <dcterms:created xsi:type="dcterms:W3CDTF">2025-04-05T17:32:34Z</dcterms:created>
  <dcterms:modified xsi:type="dcterms:W3CDTF">2025-08-10T04:08:23Z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2024-05-02T00:00:00Z</vt:filetime>
  </property>
  <property fmtid="{D5CDD505-2E9C-101B-9397-08002B2CF9AE}" pid="3" name="Creator">
    <vt:lpwstr>Microsoft® Word for Microsoft 365</vt:lpwstr>
  </property>
  <property fmtid="{D5CDD505-2E9C-101B-9397-08002B2CF9AE}" pid="4" name="LastSaved">
    <vt:filetime>2025-04-05T00:00:00Z</vt:filetime>
  </property>
  <property fmtid="{D5CDD505-2E9C-101B-9397-08002B2CF9AE}" pid="5" name="Producer">
    <vt:lpwstr>Adobe Acrobat Pro (64-bit) 24.2.20687</vt:lpwstr>
  </property>
</Properties>
</file>