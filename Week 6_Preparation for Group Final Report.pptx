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437" r:id="rId3"/>
    <p:sldId id="1749" r:id="rId4"/>
    <p:sldId id="1750" r:id="rId5"/>
    <p:sldId id="1751" r:id="rId6"/>
    <p:sldId id="1748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1747" r:id="rId21"/>
    <p:sldId id="612" r:id="rId22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E6D3-906C-1320-4687-C1367C63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1287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1C4FD-A4A9-4ABA-B38A-5C011FCA6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9ADD-9CFD-F94C-3BD4-E15649A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A22E6EEE-11DC-44F3-8567-F3508996C4D6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D539-4B99-E1AD-D8EE-398581E1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118EA-AFF6-1D9C-A064-CCC312C78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21502" y="9253759"/>
            <a:ext cx="533400" cy="169277"/>
          </a:xfrm>
        </p:spPr>
        <p:txBody>
          <a:bodyPr/>
          <a:lstStyle/>
          <a:p>
            <a:fld id="{65DD78D8-BAAB-4AA7-9E67-7B3D99A130F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57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333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HI6050 Capstone: Comprehensive Topic Selection and Supplementary Document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Supervisor: Dr. Farshid Keivanian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Session 6: </a:t>
            </a:r>
            <a:r>
              <a:rPr lang="en-US" sz="3600" dirty="0">
                <a:latin typeface="+mj-lt"/>
              </a:rPr>
              <a:t>Preparation for Group Final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C7EAED-98FD-BF40-F827-981D0902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61DC71-359D-3013-40FF-80E6454C376A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Presentations (Interim) &amp; Meeting 2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F6481E3-A976-2302-8B84-7A861068CE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85F1C9-DD21-35BC-CA6E-6FDA77063E2F}"/>
              </a:ext>
            </a:extLst>
          </p:cNvPr>
          <p:cNvSpPr txBox="1"/>
          <p:nvPr/>
        </p:nvSpPr>
        <p:spPr>
          <a:xfrm>
            <a:off x="533400" y="2362201"/>
            <a:ext cx="111309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+mj-lt"/>
              </a:rPr>
              <a:t>(Meeting window: </a:t>
            </a:r>
            <a:r>
              <a:rPr lang="en-US" sz="2800" i="1" dirty="0" err="1">
                <a:latin typeface="+mj-lt"/>
              </a:rPr>
              <a:t>Wk</a:t>
            </a:r>
            <a:r>
              <a:rPr lang="en-US" sz="2800" i="1" dirty="0">
                <a:latin typeface="+mj-lt"/>
              </a:rPr>
              <a:t> 6–7)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Objectives: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Conduct Meeting 2.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Deliver interim presentation on research progress.</a:t>
            </a:r>
          </a:p>
        </p:txBody>
      </p:sp>
    </p:spTree>
    <p:extLst>
      <p:ext uri="{BB962C8B-B14F-4D97-AF65-F5344CB8AC3E}">
        <p14:creationId xmlns:p14="http://schemas.microsoft.com/office/powerpoint/2010/main" val="365338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5CC9E8-0538-E38A-6CFA-D4353742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B55535-7AF4-15D7-6576-CF24EC2E8D3D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Presentations (Interim) &amp; Meeting 2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A67DDCF-D4E0-4DF9-AF6C-8F6E35022E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DFA3E-AE73-AB9D-29D0-3F0F490F7B98}"/>
              </a:ext>
            </a:extLst>
          </p:cNvPr>
          <p:cNvSpPr txBox="1"/>
          <p:nvPr/>
        </p:nvSpPr>
        <p:spPr>
          <a:xfrm>
            <a:off x="533400" y="2362201"/>
            <a:ext cx="111309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Tasks for Groups:</a:t>
            </a:r>
            <a:endParaRPr lang="en-US" sz="2800" dirty="0">
              <a:latin typeface="+mj-lt"/>
            </a:endParaRPr>
          </a:p>
          <a:p>
            <a:pPr marL="6699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Update literature review.</a:t>
            </a:r>
          </a:p>
          <a:p>
            <a:pPr marL="6699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Present methodology draft &amp; expected outcomes.</a:t>
            </a:r>
          </a:p>
          <a:p>
            <a:pPr marL="6699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Receive peer and supervisor feedback.</a:t>
            </a:r>
          </a:p>
        </p:txBody>
      </p:sp>
    </p:spTree>
    <p:extLst>
      <p:ext uri="{BB962C8B-B14F-4D97-AF65-F5344CB8AC3E}">
        <p14:creationId xmlns:p14="http://schemas.microsoft.com/office/powerpoint/2010/main" val="3192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67A657-32AB-703F-C261-D3A70B41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C16BA3-672D-A266-E7ED-D6BD6B8D9E7F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Presentations (Interim) &amp; Meeting 2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4FA715-928F-6E0E-CC2B-B70D7267F6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0E2A9-D866-03CB-E423-2321364EAC4A}"/>
              </a:ext>
            </a:extLst>
          </p:cNvPr>
          <p:cNvSpPr txBox="1"/>
          <p:nvPr/>
        </p:nvSpPr>
        <p:spPr>
          <a:xfrm>
            <a:off x="533400" y="2362201"/>
            <a:ext cx="111309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6254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8038" algn="l"/>
              </a:tabLst>
            </a:pPr>
            <a:r>
              <a:rPr lang="en-US" sz="2800" dirty="0">
                <a:latin typeface="+mj-lt"/>
              </a:rPr>
              <a:t>Practice presentation beforehand.</a:t>
            </a:r>
          </a:p>
          <a:p>
            <a:pPr marL="625475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8038" algn="l"/>
              </a:tabLst>
            </a:pPr>
            <a:r>
              <a:rPr lang="en-US" sz="2800" dirty="0">
                <a:latin typeface="+mj-lt"/>
              </a:rPr>
              <a:t>Bring evidence of research progress.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6254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read slides verbatim.</a:t>
            </a:r>
          </a:p>
          <a:p>
            <a:pPr marL="6254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overcrowding slides with text.</a:t>
            </a:r>
          </a:p>
        </p:txBody>
      </p:sp>
    </p:spTree>
    <p:extLst>
      <p:ext uri="{BB962C8B-B14F-4D97-AF65-F5344CB8AC3E}">
        <p14:creationId xmlns:p14="http://schemas.microsoft.com/office/powerpoint/2010/main" val="101460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0A0144-0E29-8070-B567-A4C46755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32138A-7F00-3D6C-26C5-5CF99C763C47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Group Presentations (Interim) &amp; Meeting 2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1ED4704-51C9-2FBC-4A33-73E541E93FA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544DB2-E0C9-85ED-1E60-4DF654006E22}"/>
              </a:ext>
            </a:extLst>
          </p:cNvPr>
          <p:cNvSpPr txBox="1"/>
          <p:nvPr/>
        </p:nvSpPr>
        <p:spPr>
          <a:xfrm>
            <a:off x="533400" y="2362201"/>
            <a:ext cx="1113095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Supervisor Check Questions:</a:t>
            </a:r>
            <a:endParaRPr lang="en-US" sz="2800" dirty="0">
              <a:latin typeface="+mj-lt"/>
            </a:endParaRPr>
          </a:p>
          <a:p>
            <a:pPr marL="1082675" lvl="1" indent="-625475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What changes did you make after Meeting 1 feedback?</a:t>
            </a:r>
          </a:p>
          <a:p>
            <a:pPr marL="1082675" lvl="1" indent="-625475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How are you planning to collect and </a:t>
            </a:r>
            <a:r>
              <a:rPr lang="en-US" sz="2800" dirty="0" err="1">
                <a:latin typeface="+mj-lt"/>
              </a:rPr>
              <a:t>analyse</a:t>
            </a:r>
            <a:r>
              <a:rPr lang="en-US" sz="2800" dirty="0">
                <a:latin typeface="+mj-lt"/>
              </a:rPr>
              <a:t> data?</a:t>
            </a:r>
          </a:p>
        </p:txBody>
      </p:sp>
    </p:spTree>
    <p:extLst>
      <p:ext uri="{BB962C8B-B14F-4D97-AF65-F5344CB8AC3E}">
        <p14:creationId xmlns:p14="http://schemas.microsoft.com/office/powerpoint/2010/main" val="397503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38CD78-AD92-0E05-AB91-2EB49E75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C253F1-C0E6-8407-DC32-F6DE747662D0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E898B45-D688-D277-E116-B8B3B88834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00F06-40DB-DBBB-A4B2-6D06FC7C83DB}"/>
              </a:ext>
            </a:extLst>
          </p:cNvPr>
          <p:cNvSpPr txBox="1"/>
          <p:nvPr/>
        </p:nvSpPr>
        <p:spPr>
          <a:xfrm>
            <a:off x="533400" y="2362201"/>
            <a:ext cx="11130950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Word Count:</a:t>
            </a:r>
            <a:r>
              <a:rPr lang="en-US" sz="2800" dirty="0">
                <a:latin typeface="+mj-lt"/>
              </a:rPr>
              <a:t> 2500–3000 words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Format:</a:t>
            </a:r>
            <a:r>
              <a:rPr lang="en-US" sz="2800" dirty="0">
                <a:latin typeface="+mj-lt"/>
              </a:rPr>
              <a:t> Microsoft Word (.docx only) | Holmes Harvard Referencing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Submission Method:</a:t>
            </a:r>
            <a:r>
              <a:rPr lang="en-US" sz="2800" dirty="0">
                <a:latin typeface="+mj-lt"/>
              </a:rPr>
              <a:t> Blackboard (desktop/laptop only)</a:t>
            </a:r>
            <a:br>
              <a:rPr lang="en-US" sz="2800" dirty="0">
                <a:latin typeface="+mj-lt"/>
              </a:rPr>
            </a:br>
            <a:r>
              <a:rPr lang="en-US" sz="2800" b="1" dirty="0">
                <a:latin typeface="+mj-lt"/>
              </a:rPr>
              <a:t>Penalty:</a:t>
            </a:r>
            <a:r>
              <a:rPr lang="en-US" sz="2800" dirty="0">
                <a:latin typeface="+mj-lt"/>
              </a:rPr>
              <a:t> ❌ Students not listed on the cover sheet will receive </a:t>
            </a:r>
            <a:r>
              <a:rPr lang="en-US" sz="2800" b="1" dirty="0">
                <a:latin typeface="+mj-lt"/>
              </a:rPr>
              <a:t>zero marks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28337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9AE84E-3D32-A46A-C0AD-A28B3EDB3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F612F6-1007-11C0-A581-284BFA5AEC91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557BE68-A153-EA16-5C48-72EC2D6C5E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C119DB-C2A2-8643-3997-34AEA59B14F9}"/>
              </a:ext>
            </a:extLst>
          </p:cNvPr>
          <p:cNvSpPr txBox="1"/>
          <p:nvPr/>
        </p:nvSpPr>
        <p:spPr>
          <a:xfrm>
            <a:off x="533400" y="2362201"/>
            <a:ext cx="1113095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Purpose of the Report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The </a:t>
            </a:r>
            <a:r>
              <a:rPr lang="en-US" sz="2800" b="1" dirty="0">
                <a:latin typeface="+mj-lt"/>
              </a:rPr>
              <a:t>Group Final Report</a:t>
            </a:r>
            <a:r>
              <a:rPr lang="en-US" sz="2800" dirty="0">
                <a:latin typeface="+mj-lt"/>
              </a:rPr>
              <a:t> is a cumulative submission representing the </a:t>
            </a:r>
            <a:r>
              <a:rPr lang="en-US" sz="2800" b="1" dirty="0">
                <a:latin typeface="+mj-lt"/>
              </a:rPr>
              <a:t>research work, findings, and implications</a:t>
            </a:r>
            <a:r>
              <a:rPr lang="en-US" sz="2800" dirty="0">
                <a:latin typeface="+mj-lt"/>
              </a:rPr>
              <a:t> from your semester-long investigation. It showcases your ability to: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Frame a research problem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Conduct a literature-based inquiry</a:t>
            </a:r>
          </a:p>
          <a:p>
            <a:pPr marL="7588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Present meaningful findings and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3378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F8350B-8D10-07A2-A3BA-EE16909B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ECA19A-5739-095A-3124-9092ED0D3D6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7B46BA1-8615-8030-F687-F25225661E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C8C6F4-981F-7B98-6273-30C50A9086E3}"/>
              </a:ext>
            </a:extLst>
          </p:cNvPr>
          <p:cNvSpPr txBox="1"/>
          <p:nvPr/>
        </p:nvSpPr>
        <p:spPr>
          <a:xfrm>
            <a:off x="533400" y="2362201"/>
            <a:ext cx="11130950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Weekly Breakdown – Section-by-Section Guide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Research Context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1. Abstract (100–250 words)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</a:t>
            </a:r>
            <a:r>
              <a:rPr lang="en-US" sz="2800" b="1" dirty="0">
                <a:latin typeface="+mj-lt"/>
              </a:rPr>
              <a:t>concise summary</a:t>
            </a:r>
            <a:r>
              <a:rPr lang="en-US" sz="2800" dirty="0">
                <a:latin typeface="+mj-lt"/>
              </a:rPr>
              <a:t> of the whole report.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Include: the research problem, methods, major findings, and implications.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Tip:</a:t>
            </a:r>
            <a:r>
              <a:rPr lang="en-US" sz="2800" dirty="0">
                <a:latin typeface="+mj-lt"/>
              </a:rPr>
              <a:t> Write it last, but place it at the beginning.</a:t>
            </a:r>
          </a:p>
        </p:txBody>
      </p:sp>
    </p:spTree>
    <p:extLst>
      <p:ext uri="{BB962C8B-B14F-4D97-AF65-F5344CB8AC3E}">
        <p14:creationId xmlns:p14="http://schemas.microsoft.com/office/powerpoint/2010/main" val="333979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D939F7-DC0E-ECB5-8D3A-783675FC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A91F8A-C2C1-4F95-1BE9-CDA41571B17A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4EC85C2-6420-0171-13A0-FABB581643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5FFD3E-DEF9-3138-0737-371AC541EECB}"/>
              </a:ext>
            </a:extLst>
          </p:cNvPr>
          <p:cNvSpPr txBox="1"/>
          <p:nvPr/>
        </p:nvSpPr>
        <p:spPr>
          <a:xfrm>
            <a:off x="533400" y="2362201"/>
            <a:ext cx="1113095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2. Introduction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Include the following: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Background to the research area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Clear description of the problem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Significance of the research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Research question(s)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Project scope and limitations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Ethical considerations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Chosen research approach (qualitative – literature review)</a:t>
            </a:r>
          </a:p>
        </p:txBody>
      </p:sp>
    </p:spTree>
    <p:extLst>
      <p:ext uri="{BB962C8B-B14F-4D97-AF65-F5344CB8AC3E}">
        <p14:creationId xmlns:p14="http://schemas.microsoft.com/office/powerpoint/2010/main" val="160467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1FD5FA-2307-1754-F222-51A7CBA1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692CE2E-D1B5-E0D7-F8C7-1241E23E0322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D1741B1-434E-2B81-A8CA-8747D4AE3E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BC6C0E-0315-C55D-0391-A96B867B9281}"/>
              </a:ext>
            </a:extLst>
          </p:cNvPr>
          <p:cNvSpPr txBox="1"/>
          <p:nvPr/>
        </p:nvSpPr>
        <p:spPr>
          <a:xfrm>
            <a:off x="530525" y="2115438"/>
            <a:ext cx="1113095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Research Methods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3. Methodology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a </a:t>
            </a:r>
            <a:r>
              <a:rPr lang="en-US" sz="2800" b="1" dirty="0">
                <a:latin typeface="+mj-lt"/>
              </a:rPr>
              <a:t>qualitative approach</a:t>
            </a:r>
            <a:r>
              <a:rPr lang="en-US" sz="2800" dirty="0">
                <a:latin typeface="+mj-lt"/>
              </a:rPr>
              <a:t> (systematic literature review).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Follow guidance from </a:t>
            </a:r>
            <a:r>
              <a:rPr lang="en-US" sz="2800" b="1" dirty="0">
                <a:latin typeface="+mj-lt"/>
              </a:rPr>
              <a:t>Okoli &amp; </a:t>
            </a:r>
            <a:r>
              <a:rPr lang="en-US" sz="2800" b="1" dirty="0" err="1">
                <a:latin typeface="+mj-lt"/>
              </a:rPr>
              <a:t>Schabram</a:t>
            </a:r>
            <a:r>
              <a:rPr lang="en-US" sz="2800" b="1" dirty="0">
                <a:latin typeface="+mj-lt"/>
              </a:rPr>
              <a:t> (2010)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Clearly describe: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sources were searched?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What keywords or criteria were used?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Why was a literature review selected?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How was bias minimized?</a:t>
            </a:r>
          </a:p>
        </p:txBody>
      </p:sp>
    </p:spTree>
    <p:extLst>
      <p:ext uri="{BB962C8B-B14F-4D97-AF65-F5344CB8AC3E}">
        <p14:creationId xmlns:p14="http://schemas.microsoft.com/office/powerpoint/2010/main" val="424749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807B4E-1D10-FB22-8DD8-E1C86AF6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E79582-8676-F3D3-88E1-00B67A915053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03E3CF7-74EF-383C-9094-AE06D88C59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3A838F-6A36-72E7-08E7-AE50DB4F13FC}"/>
              </a:ext>
            </a:extLst>
          </p:cNvPr>
          <p:cNvSpPr txBox="1"/>
          <p:nvPr/>
        </p:nvSpPr>
        <p:spPr>
          <a:xfrm>
            <a:off x="530525" y="1461621"/>
            <a:ext cx="1113095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Literature Review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Literature Review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 scholarly background to your topic.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relevant, peer-reviewed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sources (journals, white papers, reports).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review should: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Highlight existing gaps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 prior findings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Serve 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evidence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your research direction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Reference: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Okoli &amp;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Schabram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(2010), “A Guide to Conducting a Systematic Literature Review…”</a:t>
            </a:r>
          </a:p>
        </p:txBody>
      </p:sp>
    </p:spTree>
    <p:extLst>
      <p:ext uri="{BB962C8B-B14F-4D97-AF65-F5344CB8AC3E}">
        <p14:creationId xmlns:p14="http://schemas.microsoft.com/office/powerpoint/2010/main" val="65408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64CDAB-9FB2-EC6C-29E8-E1A86F65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DF2E33-F8BB-4455-34AB-AF24091645A9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8FB0F0-7F7C-02D9-0629-6DA73974A3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E0B2FB-DD95-A5CB-6BF4-CB813E82929D}"/>
              </a:ext>
            </a:extLst>
          </p:cNvPr>
          <p:cNvSpPr txBox="1"/>
          <p:nvPr/>
        </p:nvSpPr>
        <p:spPr>
          <a:xfrm>
            <a:off x="530525" y="1461621"/>
            <a:ext cx="1113095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Research Results &amp; Conclusion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5. Results</a:t>
            </a:r>
          </a:p>
          <a:p>
            <a:pPr marL="7937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Objectively present your findings from the literature.</a:t>
            </a:r>
          </a:p>
          <a:p>
            <a:pPr marL="7937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Avoid interpretation or bias</a:t>
            </a:r>
            <a:r>
              <a:rPr lang="en-US" sz="2800" dirty="0">
                <a:latin typeface="+mj-lt"/>
              </a:rPr>
              <a:t> – just present the data/patterns/themes.</a:t>
            </a:r>
          </a:p>
        </p:txBody>
      </p:sp>
    </p:spTree>
    <p:extLst>
      <p:ext uri="{BB962C8B-B14F-4D97-AF65-F5344CB8AC3E}">
        <p14:creationId xmlns:p14="http://schemas.microsoft.com/office/powerpoint/2010/main" val="262837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5D35EA-81EC-95FF-D986-E596EC8A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64AAEE-E4E2-0DB3-CCA2-CECE9A708B74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07AA932-E806-F48F-6262-ECCD693AAA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9D2CA-ED1F-A339-774A-9438D542B3E2}"/>
              </a:ext>
            </a:extLst>
          </p:cNvPr>
          <p:cNvSpPr txBox="1"/>
          <p:nvPr/>
        </p:nvSpPr>
        <p:spPr>
          <a:xfrm>
            <a:off x="530525" y="1461621"/>
            <a:ext cx="1113095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6. Discussion &amp; Conclusion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In this section: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Interpret findings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Reflect on their significance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to existing knowledge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Suggest improvements or policy/industry relevance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Offer future research directions</a:t>
            </a:r>
          </a:p>
        </p:txBody>
      </p:sp>
    </p:spTree>
    <p:extLst>
      <p:ext uri="{BB962C8B-B14F-4D97-AF65-F5344CB8AC3E}">
        <p14:creationId xmlns:p14="http://schemas.microsoft.com/office/powerpoint/2010/main" val="3806934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70FC30-1776-C30A-3383-706CC9E5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27C1E7-4A22-F7C4-98E5-0349D54C702B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AFAE3F1-0ACE-D0E8-05E3-C772ED251B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BFF5A8-C796-DA43-A0FA-7858925A9061}"/>
              </a:ext>
            </a:extLst>
          </p:cNvPr>
          <p:cNvSpPr txBox="1"/>
          <p:nvPr/>
        </p:nvSpPr>
        <p:spPr>
          <a:xfrm>
            <a:off x="530525" y="1461621"/>
            <a:ext cx="1113095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Final Report Submission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7. References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</a:t>
            </a:r>
            <a:r>
              <a:rPr lang="en-US" sz="2800" b="1" dirty="0">
                <a:latin typeface="+mj-lt"/>
              </a:rPr>
              <a:t>Holmes Adapted Harvard Style</a:t>
            </a:r>
            <a:endParaRPr lang="en-US" sz="2800" dirty="0">
              <a:latin typeface="+mj-lt"/>
            </a:endParaRP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Minimum of </a:t>
            </a:r>
            <a:r>
              <a:rPr lang="en-US" sz="2800" b="1" dirty="0">
                <a:latin typeface="+mj-lt"/>
              </a:rPr>
              <a:t>10 scholarly sources</a:t>
            </a:r>
            <a:r>
              <a:rPr lang="en-US" sz="2800" dirty="0">
                <a:latin typeface="+mj-lt"/>
              </a:rPr>
              <a:t> recommended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 in-text citations must match the reference list</a:t>
            </a:r>
          </a:p>
        </p:txBody>
      </p:sp>
    </p:spTree>
    <p:extLst>
      <p:ext uri="{BB962C8B-B14F-4D97-AF65-F5344CB8AC3E}">
        <p14:creationId xmlns:p14="http://schemas.microsoft.com/office/powerpoint/2010/main" val="1990792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CA5EA2-E616-6BFF-132E-8B84BB47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C8DE23-E322-F6C4-1F78-7F7AA15999EC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2732F3A-B3EF-90C0-E901-B225B2700D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F831FF-1224-6C59-6253-34250155712C}"/>
              </a:ext>
            </a:extLst>
          </p:cNvPr>
          <p:cNvSpPr txBox="1"/>
          <p:nvPr/>
        </p:nvSpPr>
        <p:spPr>
          <a:xfrm>
            <a:off x="530525" y="1461621"/>
            <a:ext cx="1113095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Final Document Includes: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Title Page + Cover Sheet (all team members listed)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Abstract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Introduction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Methodology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Literature Review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Results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Discussion &amp; Conclusion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73430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2BD214-9B88-A22C-F595-4B1FC9F6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CF602C-2313-48F1-F396-9342AE8FCCD5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69A44E9-955B-DE25-5230-5408607FAF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ADC75-8E40-C64C-78BE-44B199D9BD05}"/>
              </a:ext>
            </a:extLst>
          </p:cNvPr>
          <p:cNvSpPr txBox="1"/>
          <p:nvPr/>
        </p:nvSpPr>
        <p:spPr>
          <a:xfrm>
            <a:off x="530525" y="1461621"/>
            <a:ext cx="111309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Formatting Requirements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MS Word (.docx) ONLY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Font: </a:t>
            </a:r>
            <a:r>
              <a:rPr lang="en-US" sz="2800" b="1" dirty="0">
                <a:latin typeface="+mj-lt"/>
              </a:rPr>
              <a:t>Calibri</a:t>
            </a:r>
            <a:r>
              <a:rPr lang="en-US" sz="2800" dirty="0">
                <a:latin typeface="+mj-lt"/>
              </a:rPr>
              <a:t>, size </a:t>
            </a:r>
            <a:r>
              <a:rPr lang="en-US" sz="2800" b="1" dirty="0">
                <a:latin typeface="+mj-lt"/>
              </a:rPr>
              <a:t>11pt</a:t>
            </a:r>
            <a:r>
              <a:rPr lang="en-US" sz="2800" dirty="0">
                <a:latin typeface="+mj-lt"/>
              </a:rPr>
              <a:t>, no spacing</a:t>
            </a: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Margins: </a:t>
            </a:r>
            <a:r>
              <a:rPr lang="en-US" sz="2800" b="1" dirty="0">
                <a:latin typeface="+mj-lt"/>
              </a:rPr>
              <a:t>2 cm on all sides</a:t>
            </a:r>
            <a:endParaRPr lang="en-US" sz="2800" dirty="0">
              <a:latin typeface="+mj-lt"/>
            </a:endParaRP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 group members must be listed on the </a:t>
            </a:r>
            <a:r>
              <a:rPr lang="en-US" sz="2800" b="1" dirty="0">
                <a:latin typeface="+mj-lt"/>
              </a:rPr>
              <a:t>cover sheet</a:t>
            </a:r>
            <a:endParaRPr lang="en-US" sz="2800" dirty="0">
              <a:latin typeface="+mj-lt"/>
            </a:endParaRPr>
          </a:p>
          <a:p>
            <a:pPr marL="7413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 from </a:t>
            </a:r>
            <a:r>
              <a:rPr lang="en-US" sz="2800" b="1" dirty="0">
                <a:latin typeface="+mj-lt"/>
              </a:rPr>
              <a:t>desktop/laptop</a:t>
            </a:r>
            <a:r>
              <a:rPr lang="en-US" sz="2800" dirty="0">
                <a:latin typeface="+mj-lt"/>
              </a:rPr>
              <a:t> (no phones/tablets/Blackboard app)</a:t>
            </a:r>
          </a:p>
        </p:txBody>
      </p:sp>
    </p:spTree>
    <p:extLst>
      <p:ext uri="{BB962C8B-B14F-4D97-AF65-F5344CB8AC3E}">
        <p14:creationId xmlns:p14="http://schemas.microsoft.com/office/powerpoint/2010/main" val="3452387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017113-3822-0666-8FFA-62EE9201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7CF84F-DBFF-329C-FC34-A6CEA2DF4445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05F20FF-B097-CFB9-5C40-F3EBCC2A09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5E0285-CDBC-40AD-9B65-E2617739ED85}"/>
              </a:ext>
            </a:extLst>
          </p:cNvPr>
          <p:cNvSpPr txBox="1"/>
          <p:nvPr/>
        </p:nvSpPr>
        <p:spPr>
          <a:xfrm>
            <a:off x="530525" y="1461621"/>
            <a:ext cx="11130950" cy="519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Will Be Rejected (Zero Mark &amp; Academic Misconduct)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❌ No cover sheet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Students not registered in your Blackboard group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PDF, Pages, screenshots, or handwritten answers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Submitting from smartphones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Listing students who did not contribute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AI-generated text without critical editing or citation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❌ Submissions from overseas IPs without permission</a:t>
            </a:r>
          </a:p>
        </p:txBody>
      </p:sp>
    </p:spTree>
    <p:extLst>
      <p:ext uri="{BB962C8B-B14F-4D97-AF65-F5344CB8AC3E}">
        <p14:creationId xmlns:p14="http://schemas.microsoft.com/office/powerpoint/2010/main" val="2955246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E83F40-8EDB-C7C7-3132-C4B2451C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55221A-4D4E-4A22-DC8C-869F80B20EF5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C801ACE-717A-298E-23D8-050FAB168C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60D55-E15D-81F2-6236-3631A066F633}"/>
              </a:ext>
            </a:extLst>
          </p:cNvPr>
          <p:cNvSpPr txBox="1"/>
          <p:nvPr/>
        </p:nvSpPr>
        <p:spPr>
          <a:xfrm>
            <a:off x="530525" y="1461621"/>
            <a:ext cx="11130950" cy="519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Tips for Success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Start Early:</a:t>
            </a:r>
            <a:r>
              <a:rPr lang="en-US" sz="2800" dirty="0">
                <a:latin typeface="+mj-lt"/>
              </a:rPr>
              <a:t> Break down the work into manageable chunks weekly.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Assign Roles:</a:t>
            </a:r>
            <a:r>
              <a:rPr lang="en-US" sz="2800" dirty="0">
                <a:latin typeface="+mj-lt"/>
              </a:rPr>
              <a:t> Research lead, editor, reference checker, Gantt chart creator.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Use a Literature Matrix:</a:t>
            </a:r>
            <a:r>
              <a:rPr lang="en-US" sz="2800" dirty="0">
                <a:latin typeface="+mj-lt"/>
              </a:rPr>
              <a:t> To track your readings.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Use Tools:</a:t>
            </a:r>
            <a:r>
              <a:rPr lang="en-US" sz="2800" dirty="0">
                <a:latin typeface="+mj-lt"/>
              </a:rPr>
              <a:t> Zotero, Mendeley, or EndNote for referencing.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Proofread Carefully:</a:t>
            </a:r>
            <a:r>
              <a:rPr lang="en-US" sz="2800" dirty="0">
                <a:latin typeface="+mj-lt"/>
              </a:rPr>
              <a:t> Spelling, flow, and formatting affect marks.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Book Drop-in Consultations:</a:t>
            </a:r>
            <a:r>
              <a:rPr lang="en-US" sz="2800" dirty="0">
                <a:latin typeface="+mj-lt"/>
              </a:rPr>
              <a:t> For feedback or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803121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6C5A06-56A4-30BF-CBAE-40D36187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1DDD43-6BF8-F7FF-8EB6-430D1EC53291}"/>
              </a:ext>
            </a:extLst>
          </p:cNvPr>
          <p:cNvSpPr txBox="1"/>
          <p:nvPr/>
        </p:nvSpPr>
        <p:spPr>
          <a:xfrm>
            <a:off x="191211" y="213486"/>
            <a:ext cx="10401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latin typeface="+mj-lt"/>
              </a:rPr>
              <a:t>Preparation for Group Final Report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9576A48-C034-7053-A118-4687BA0784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61E7B9-B860-2899-E63F-2FBD3B6A00B9}"/>
              </a:ext>
            </a:extLst>
          </p:cNvPr>
          <p:cNvSpPr txBox="1"/>
          <p:nvPr/>
        </p:nvSpPr>
        <p:spPr>
          <a:xfrm>
            <a:off x="530525" y="1461621"/>
            <a:ext cx="1113095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Submission Checklist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Abstract summarizes full research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Introduction outlines scope, problem, and approach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Methodology uses systematic literature review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Literature review uses 10+ scholarly sources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Results presented objectively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Discussion interprets findings in context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 citations are correct and listed in references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Final .docx submitted via Blackboard from PC/Mac</a:t>
            </a:r>
          </a:p>
          <a:p>
            <a:pPr marL="8461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All team members listed on cover sheet</a:t>
            </a:r>
          </a:p>
        </p:txBody>
      </p:sp>
    </p:spTree>
    <p:extLst>
      <p:ext uri="{BB962C8B-B14F-4D97-AF65-F5344CB8AC3E}">
        <p14:creationId xmlns:p14="http://schemas.microsoft.com/office/powerpoint/2010/main" val="1334436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E0D2-9286-EC6A-FC28-A59187C9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53D8119B-B033-4742-7B01-FE383058F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" y="12941"/>
            <a:ext cx="12192000" cy="105385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Group Progress Presentation – Overview of Progress at least 5 min</a:t>
            </a:r>
            <a:endParaRPr lang="en-US" sz="36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72E6-ECC6-7615-EF56-326EA87C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99" b="23637"/>
          <a:stretch/>
        </p:blipFill>
        <p:spPr>
          <a:xfrm>
            <a:off x="8626" y="1371600"/>
            <a:ext cx="12192000" cy="42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77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962420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Good luck with your capstone journey!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Dr. Farshid Keivanian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Capstone Project Supervisor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911</Words>
  <Application>Microsoft Office PowerPoint</Application>
  <PresentationFormat>Custom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Progress Presentation – Overview of Progress at least 5 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145</cp:revision>
  <dcterms:created xsi:type="dcterms:W3CDTF">2025-04-05T17:32:34Z</dcterms:created>
  <dcterms:modified xsi:type="dcterms:W3CDTF">2025-08-09T21:58:18Z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