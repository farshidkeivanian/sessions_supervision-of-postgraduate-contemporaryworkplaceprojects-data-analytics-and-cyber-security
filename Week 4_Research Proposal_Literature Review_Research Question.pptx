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378" r:id="rId3"/>
    <p:sldId id="406" r:id="rId4"/>
    <p:sldId id="1749" r:id="rId5"/>
    <p:sldId id="1752" r:id="rId6"/>
    <p:sldId id="1750" r:id="rId7"/>
    <p:sldId id="1751" r:id="rId8"/>
    <p:sldId id="438" r:id="rId9"/>
    <p:sldId id="439" r:id="rId10"/>
    <p:sldId id="440" r:id="rId11"/>
    <p:sldId id="441" r:id="rId12"/>
    <p:sldId id="442" r:id="rId13"/>
    <p:sldId id="443" r:id="rId14"/>
    <p:sldId id="444" r:id="rId15"/>
    <p:sldId id="445" r:id="rId16"/>
    <p:sldId id="446" r:id="rId17"/>
    <p:sldId id="1747" r:id="rId18"/>
    <p:sldId id="612" r:id="rId19"/>
  </p:sldIdLst>
  <p:sldSz cx="12192000" cy="10058400"/>
  <p:notesSz cx="121920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15" autoAdjust="0"/>
    <p:restoredTop sz="94660"/>
  </p:normalViewPr>
  <p:slideViewPr>
    <p:cSldViewPr>
      <p:cViewPr varScale="1">
        <p:scale>
          <a:sx n="48" d="100"/>
          <a:sy n="48" d="100"/>
        </p:scale>
        <p:origin x="1968" y="65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9459" y="77723"/>
            <a:ext cx="4029455" cy="14798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055111" y="1967229"/>
            <a:ext cx="4791075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4922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2023" y="42671"/>
            <a:ext cx="1531620" cy="56235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9459" y="77723"/>
            <a:ext cx="4029455" cy="14798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3E6D3-906C-1320-4687-C1367C63EF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301287"/>
            <a:ext cx="9144000" cy="184665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F1C4FD-A4A9-4ABA-B38A-5C011FCA6C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82989"/>
            <a:ext cx="9144000" cy="36933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29ADD-9CFD-F94C-3BD4-E15649AA4B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77940"/>
            <a:ext cx="2804160" cy="276999"/>
          </a:xfrm>
        </p:spPr>
        <p:txBody>
          <a:bodyPr/>
          <a:lstStyle/>
          <a:p>
            <a:fld id="{A22E6EEE-11DC-44F3-8567-F3508996C4D6}" type="datetimeFigureOut">
              <a:rPr lang="en-AU" smtClean="0"/>
              <a:t>10/08/2025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CD539-4B99-E1AD-D8EE-398581E19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45280" y="6377940"/>
            <a:ext cx="3901440" cy="276999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118EA-AFF6-1D9C-A064-CCC312C78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21502" y="9253759"/>
            <a:ext cx="533400" cy="169277"/>
          </a:xfrm>
        </p:spPr>
        <p:txBody>
          <a:bodyPr/>
          <a:lstStyle/>
          <a:p>
            <a:fld id="{65DD78D8-BAAB-4AA7-9E67-7B3D99A130F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8443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-1396"/>
            <a:ext cx="12034520" cy="391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921502" y="9253759"/>
            <a:ext cx="533400" cy="1879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C8CCC5-7719-5429-9C16-F066E03793F0}"/>
              </a:ext>
            </a:extLst>
          </p:cNvPr>
          <p:cNvSpPr txBox="1"/>
          <p:nvPr/>
        </p:nvSpPr>
        <p:spPr>
          <a:xfrm>
            <a:off x="304800" y="1752601"/>
            <a:ext cx="11887199" cy="6654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latin typeface="+mj-lt"/>
              </a:rPr>
              <a:t>HI6050 Capstone: Comprehensive Topic Selection and Supplementary Document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latin typeface="+mj-lt"/>
              </a:rPr>
              <a:t>Supervisor: Dr. Farshid Keivanian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latin typeface="+mj-lt"/>
              </a:rPr>
              <a:t>Session 4: </a:t>
            </a:r>
            <a:r>
              <a:rPr lang="en-US" sz="3600" dirty="0">
                <a:latin typeface="+mj-lt"/>
              </a:rPr>
              <a:t>Preparation for Group Research Proposal: Literature Review, Research Question, Tools, Languages &amp; Early Prototyping: Literature Review, Research Question, Tools, Languages, Early Prototyping, Draft &amp; Submit Research Proposal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1F2FAC8-42AD-DB92-166F-2F42E02C4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747F174-E865-EA2C-9A7B-75ECF3EA7974}"/>
              </a:ext>
            </a:extLst>
          </p:cNvPr>
          <p:cNvSpPr txBox="1"/>
          <p:nvPr/>
        </p:nvSpPr>
        <p:spPr>
          <a:xfrm>
            <a:off x="191211" y="213486"/>
            <a:ext cx="104013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Session 4’s outline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22898743-2B79-D5DF-5AFF-870A1775B58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9C30F892-69B9-E3BA-260C-8084D712A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D26459-E9EB-FA7D-8B8F-E2F5CD70284A}"/>
              </a:ext>
            </a:extLst>
          </p:cNvPr>
          <p:cNvSpPr txBox="1"/>
          <p:nvPr/>
        </p:nvSpPr>
        <p:spPr>
          <a:xfrm>
            <a:off x="342900" y="1447800"/>
            <a:ext cx="11506200" cy="6133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55650" indent="-514350" algn="l">
              <a:lnSpc>
                <a:spcPct val="150000"/>
              </a:lnSpc>
              <a:spcBef>
                <a:spcPts val="100"/>
              </a:spcBef>
              <a:buAutoNum type="arabicPeriod"/>
            </a:pPr>
            <a:r>
              <a:rPr lang="en-US" sz="3300" dirty="0">
                <a:latin typeface="+mj-lt"/>
              </a:rPr>
              <a:t>Preparation for Group Research Proposal: Literature Review, Research Question, Tools, Languages &amp; Early Prototyping: Literature Review, Research Question, Tools, Languages &amp; Early Prototyping</a:t>
            </a:r>
          </a:p>
          <a:p>
            <a:pPr marL="755650" indent="-514350" algn="l">
              <a:lnSpc>
                <a:spcPct val="150000"/>
              </a:lnSpc>
              <a:spcBef>
                <a:spcPts val="100"/>
              </a:spcBef>
              <a:buAutoNum type="arabicPeriod"/>
            </a:pPr>
            <a:r>
              <a:rPr lang="en-US" sz="3300" dirty="0">
                <a:latin typeface="+mj-lt"/>
              </a:rPr>
              <a:t>Preparation for Group Research Proposal: </a:t>
            </a:r>
            <a:r>
              <a:rPr lang="en-US" sz="3300" dirty="0">
                <a:latin typeface="+mj-lt"/>
                <a:cs typeface="Calibri"/>
              </a:rPr>
              <a:t>Draft &amp; Submit Research Proposal</a:t>
            </a:r>
          </a:p>
          <a:p>
            <a:pPr marL="755650" indent="-514350" algn="l">
              <a:lnSpc>
                <a:spcPct val="150000"/>
              </a:lnSpc>
              <a:spcBef>
                <a:spcPts val="100"/>
              </a:spcBef>
              <a:buAutoNum type="arabicPeriod"/>
            </a:pPr>
            <a:r>
              <a:rPr lang="en-US" sz="3300" dirty="0">
                <a:latin typeface="+mj-lt"/>
                <a:cs typeface="Calibri" panose="020F0502020204030204" pitchFamily="34" charset="0"/>
              </a:rPr>
              <a:t>Group Progress Presentation – Overview of Progress at least 2 min</a:t>
            </a:r>
            <a:endParaRPr lang="en-US" sz="3300" dirty="0">
              <a:latin typeface="+mj-lt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84064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D78DFEA-F4AC-9A2B-5B02-28016138B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CB4B6315-4985-B466-EA91-A6573F1EC10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D4F7E6ED-FF50-B707-97F5-31733F3D9869}"/>
              </a:ext>
            </a:extLst>
          </p:cNvPr>
          <p:cNvSpPr txBox="1"/>
          <p:nvPr/>
        </p:nvSpPr>
        <p:spPr>
          <a:xfrm>
            <a:off x="0" y="17253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Group Meeting 1 &amp; Proposal Refinement</a:t>
            </a:r>
            <a:endParaRPr sz="3300" b="1" dirty="0">
              <a:latin typeface="+mj-lt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AAE0E8-7E4D-3BBC-4CCB-4DEA1F400807}"/>
              </a:ext>
            </a:extLst>
          </p:cNvPr>
          <p:cNvSpPr txBox="1"/>
          <p:nvPr/>
        </p:nvSpPr>
        <p:spPr>
          <a:xfrm>
            <a:off x="-1" y="1600200"/>
            <a:ext cx="12191999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Objectives:</a:t>
            </a:r>
            <a:endParaRPr lang="en-US" sz="2800" dirty="0">
              <a:latin typeface="+mj-lt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Conduct Meeting 1 following agenda template.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Present literature review progress to supervisor.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Identify gaps, refine scope, and get feedback.</a:t>
            </a:r>
          </a:p>
        </p:txBody>
      </p:sp>
    </p:spTree>
    <p:extLst>
      <p:ext uri="{BB962C8B-B14F-4D97-AF65-F5344CB8AC3E}">
        <p14:creationId xmlns:p14="http://schemas.microsoft.com/office/powerpoint/2010/main" val="3152655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50C4DBC-8383-6F1E-E9B8-330DAD505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1ACE261A-6FC7-E928-1E4D-6D16A6BAAC0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843A9CB6-6E6D-1F27-F7E8-C2C0042F4E99}"/>
              </a:ext>
            </a:extLst>
          </p:cNvPr>
          <p:cNvSpPr txBox="1"/>
          <p:nvPr/>
        </p:nvSpPr>
        <p:spPr>
          <a:xfrm>
            <a:off x="0" y="17253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Group Meeting 1 &amp; Proposal Refinement</a:t>
            </a:r>
            <a:endParaRPr sz="3300" b="1" dirty="0">
              <a:latin typeface="+mj-lt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482790-5C23-D87F-A7D8-C2BB3C9B7891}"/>
              </a:ext>
            </a:extLst>
          </p:cNvPr>
          <p:cNvSpPr txBox="1"/>
          <p:nvPr/>
        </p:nvSpPr>
        <p:spPr>
          <a:xfrm>
            <a:off x="-1" y="1600200"/>
            <a:ext cx="12191999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Tasks:</a:t>
            </a:r>
            <a:endParaRPr lang="en-US" sz="2800" dirty="0">
              <a:latin typeface="+mj-lt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Bring at least </a:t>
            </a:r>
            <a:r>
              <a:rPr lang="en-US" sz="2800" b="1" dirty="0">
                <a:latin typeface="+mj-lt"/>
              </a:rPr>
              <a:t>8–10 cited sources</a:t>
            </a:r>
            <a:r>
              <a:rPr lang="en-US" sz="2800" dirty="0">
                <a:latin typeface="+mj-lt"/>
              </a:rPr>
              <a:t> in draft form (mix of journals, conferences, industry reports).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Be ready to explain how each source relates to your research question.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Update </a:t>
            </a:r>
            <a:r>
              <a:rPr lang="en-US" sz="2800" b="1" dirty="0">
                <a:latin typeface="+mj-lt"/>
              </a:rPr>
              <a:t>Meeting Minutes</a:t>
            </a:r>
            <a:r>
              <a:rPr lang="en-US" sz="2800" dirty="0">
                <a:latin typeface="+mj-lt"/>
              </a:rPr>
              <a:t> with literature insights and agreed next steps</a:t>
            </a:r>
          </a:p>
        </p:txBody>
      </p:sp>
    </p:spTree>
    <p:extLst>
      <p:ext uri="{BB962C8B-B14F-4D97-AF65-F5344CB8AC3E}">
        <p14:creationId xmlns:p14="http://schemas.microsoft.com/office/powerpoint/2010/main" val="1213605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4CFD3E8-29AF-BD60-E989-23E4CDE3D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BF079948-B7EE-70E5-8397-8C5C6CD2D67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52A16462-EFEE-60B8-545D-176435E60984}"/>
              </a:ext>
            </a:extLst>
          </p:cNvPr>
          <p:cNvSpPr txBox="1"/>
          <p:nvPr/>
        </p:nvSpPr>
        <p:spPr>
          <a:xfrm>
            <a:off x="0" y="17253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Group Meeting 1 &amp; Proposal Refinement</a:t>
            </a:r>
            <a:endParaRPr sz="3300" b="1" dirty="0">
              <a:latin typeface="+mj-lt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DB64FE-2544-9A9B-6805-2E92E22947A7}"/>
              </a:ext>
            </a:extLst>
          </p:cNvPr>
          <p:cNvSpPr txBox="1"/>
          <p:nvPr/>
        </p:nvSpPr>
        <p:spPr>
          <a:xfrm>
            <a:off x="-1" y="1600200"/>
            <a:ext cx="12191999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Literature Review Expectations This Week:</a:t>
            </a:r>
            <a:endParaRPr lang="en-US" sz="2800" dirty="0">
              <a:latin typeface="+mj-lt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Start critically comparing sources, not just </a:t>
            </a:r>
            <a:r>
              <a:rPr lang="en-US" sz="2800" dirty="0" err="1">
                <a:latin typeface="+mj-lt"/>
              </a:rPr>
              <a:t>summarising</a:t>
            </a:r>
            <a:r>
              <a:rPr lang="en-US" sz="2800" dirty="0">
                <a:latin typeface="+mj-lt"/>
              </a:rPr>
              <a:t> them.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Identify common methodologies used in your field.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Use subheadings based on themes, not paper-by-paper summaries.</a:t>
            </a:r>
          </a:p>
        </p:txBody>
      </p:sp>
    </p:spTree>
    <p:extLst>
      <p:ext uri="{BB962C8B-B14F-4D97-AF65-F5344CB8AC3E}">
        <p14:creationId xmlns:p14="http://schemas.microsoft.com/office/powerpoint/2010/main" val="3258811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9661539-5C74-A201-D095-FC4D4E72C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D4593323-CF11-2478-2781-274E55FFB47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10AB6AA3-46D5-9829-7D9A-E95C88E390A0}"/>
              </a:ext>
            </a:extLst>
          </p:cNvPr>
          <p:cNvSpPr txBox="1"/>
          <p:nvPr/>
        </p:nvSpPr>
        <p:spPr>
          <a:xfrm>
            <a:off x="0" y="17253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Group Meeting 1 &amp; Proposal Refinement</a:t>
            </a:r>
            <a:endParaRPr sz="3300" b="1" dirty="0">
              <a:latin typeface="+mj-lt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189676-4F18-3246-416A-747AD97F3C02}"/>
              </a:ext>
            </a:extLst>
          </p:cNvPr>
          <p:cNvSpPr txBox="1"/>
          <p:nvPr/>
        </p:nvSpPr>
        <p:spPr>
          <a:xfrm>
            <a:off x="-1" y="1600200"/>
            <a:ext cx="12191999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Do’s:</a:t>
            </a:r>
            <a:endParaRPr lang="en-US" sz="2800" dirty="0">
              <a:latin typeface="+mj-lt"/>
            </a:endParaRP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Allocate action items with clear due dates.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Include supervisor feedback in next week’s work.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Don’ts:</a:t>
            </a:r>
            <a:endParaRPr lang="en-US" sz="2800" dirty="0">
              <a:latin typeface="+mj-lt"/>
            </a:endParaRP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Don’t attend meeting unprepared.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Don’t skip recording minutes.</a:t>
            </a:r>
          </a:p>
        </p:txBody>
      </p:sp>
    </p:spTree>
    <p:extLst>
      <p:ext uri="{BB962C8B-B14F-4D97-AF65-F5344CB8AC3E}">
        <p14:creationId xmlns:p14="http://schemas.microsoft.com/office/powerpoint/2010/main" val="3866864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72D9CCA-BE22-58F8-B6AE-F3A813C7B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1A38EA05-CA60-B570-570F-894AF4BE8F0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60C0E175-8D6A-FAA6-27B4-8F831600EE6C}"/>
              </a:ext>
            </a:extLst>
          </p:cNvPr>
          <p:cNvSpPr txBox="1"/>
          <p:nvPr/>
        </p:nvSpPr>
        <p:spPr>
          <a:xfrm>
            <a:off x="0" y="17253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Group Meeting 1 &amp; Proposal Refinement</a:t>
            </a:r>
            <a:endParaRPr sz="3300" b="1" dirty="0">
              <a:latin typeface="+mj-lt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F7DF35-86EB-9AD4-44E9-362A59D01815}"/>
              </a:ext>
            </a:extLst>
          </p:cNvPr>
          <p:cNvSpPr txBox="1"/>
          <p:nvPr/>
        </p:nvSpPr>
        <p:spPr>
          <a:xfrm>
            <a:off x="-1" y="1600200"/>
            <a:ext cx="12191999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Supervisor Check Questions:</a:t>
            </a:r>
            <a:endParaRPr lang="en-US" sz="2800" dirty="0">
              <a:latin typeface="+mj-lt"/>
            </a:endParaRPr>
          </a:p>
          <a:p>
            <a:pPr marL="808038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+mj-lt"/>
              </a:rPr>
              <a:t>What gaps have you identified in existing research?</a:t>
            </a:r>
          </a:p>
          <a:p>
            <a:pPr marL="808038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+mj-lt"/>
              </a:rPr>
              <a:t>Are your proposed methods realistic within the trimester?</a:t>
            </a:r>
          </a:p>
        </p:txBody>
      </p:sp>
    </p:spTree>
    <p:extLst>
      <p:ext uri="{BB962C8B-B14F-4D97-AF65-F5344CB8AC3E}">
        <p14:creationId xmlns:p14="http://schemas.microsoft.com/office/powerpoint/2010/main" val="703455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72341E9-E401-F0A1-2219-00749849B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87EF56E5-F5D6-EDAF-B72C-8D01C5B25AF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73E75C3F-0300-0155-2EE2-A268185BA489}"/>
              </a:ext>
            </a:extLst>
          </p:cNvPr>
          <p:cNvSpPr txBox="1"/>
          <p:nvPr/>
        </p:nvSpPr>
        <p:spPr>
          <a:xfrm>
            <a:off x="0" y="17253"/>
            <a:ext cx="10401300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Research Proposal: Literature Review, Research Question, Tools, Languages &amp; Early Prototyping</a:t>
            </a:r>
            <a:endParaRPr sz="3300" b="1" dirty="0">
              <a:latin typeface="+mj-lt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433C3D-577A-843B-8396-460A9AC90665}"/>
              </a:ext>
            </a:extLst>
          </p:cNvPr>
          <p:cNvSpPr txBox="1"/>
          <p:nvPr/>
        </p:nvSpPr>
        <p:spPr>
          <a:xfrm>
            <a:off x="152400" y="2590801"/>
            <a:ext cx="11841192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Literature Review &amp; Research Question (Session 1)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Goals:</a:t>
            </a:r>
          </a:p>
          <a:p>
            <a:pPr marL="9318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Start literature review</a:t>
            </a:r>
          </a:p>
          <a:p>
            <a:pPr marL="9318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Define research problem, objectives, scope</a:t>
            </a:r>
          </a:p>
          <a:p>
            <a:pPr marL="9318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Formulate a research question</a:t>
            </a:r>
          </a:p>
        </p:txBody>
      </p:sp>
    </p:spTree>
    <p:extLst>
      <p:ext uri="{BB962C8B-B14F-4D97-AF65-F5344CB8AC3E}">
        <p14:creationId xmlns:p14="http://schemas.microsoft.com/office/powerpoint/2010/main" val="3621051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0CA2166-B2F2-36DE-4735-23F1EA01B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2CB76BCF-2B21-0BCF-8A51-9995756CA56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EEDCE67D-8E76-0521-0707-4CCCEFCA3B37}"/>
              </a:ext>
            </a:extLst>
          </p:cNvPr>
          <p:cNvSpPr txBox="1"/>
          <p:nvPr/>
        </p:nvSpPr>
        <p:spPr>
          <a:xfrm>
            <a:off x="0" y="17253"/>
            <a:ext cx="10401300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Research Proposal: Literature Review, Research Question, Tools, Languages &amp; Early Prototyping</a:t>
            </a:r>
            <a:endParaRPr sz="3300" b="1" dirty="0">
              <a:latin typeface="+mj-lt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C3CAF8-3DF5-9E31-C205-C9D84814350F}"/>
              </a:ext>
            </a:extLst>
          </p:cNvPr>
          <p:cNvSpPr txBox="1"/>
          <p:nvPr/>
        </p:nvSpPr>
        <p:spPr>
          <a:xfrm>
            <a:off x="175404" y="2431117"/>
            <a:ext cx="11841192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What to Do: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Use the topic selected (e.g., “AI in cybersecurity”) to: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Search academic papers (Google Scholar, ProQuest, IEEE)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Read </a:t>
            </a:r>
            <a:r>
              <a:rPr lang="en-US" sz="2800" b="1" dirty="0">
                <a:latin typeface="+mj-lt"/>
              </a:rPr>
              <a:t>systematic reviews</a:t>
            </a:r>
            <a:r>
              <a:rPr lang="en-US" sz="2800" dirty="0">
                <a:latin typeface="+mj-lt"/>
              </a:rPr>
              <a:t>, </a:t>
            </a:r>
            <a:r>
              <a:rPr lang="en-US" sz="2800" b="1" dirty="0">
                <a:latin typeface="+mj-lt"/>
              </a:rPr>
              <a:t>meta-analyses</a:t>
            </a:r>
            <a:r>
              <a:rPr lang="en-US" sz="2800" dirty="0">
                <a:latin typeface="+mj-lt"/>
              </a:rPr>
              <a:t>, and </a:t>
            </a:r>
            <a:r>
              <a:rPr lang="en-US" sz="2800" b="1" dirty="0">
                <a:latin typeface="+mj-lt"/>
              </a:rPr>
              <a:t>case studies</a:t>
            </a:r>
            <a:endParaRPr lang="en-US" sz="2800" dirty="0">
              <a:latin typeface="+mj-lt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Draft: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3–5 objectives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 well-defined scope (what’s in, what’s out)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 single focused research question</a:t>
            </a:r>
          </a:p>
        </p:txBody>
      </p:sp>
    </p:spTree>
    <p:extLst>
      <p:ext uri="{BB962C8B-B14F-4D97-AF65-F5344CB8AC3E}">
        <p14:creationId xmlns:p14="http://schemas.microsoft.com/office/powerpoint/2010/main" val="11913032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324E7D6-2516-3C70-D45C-70858FD73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8765CE5A-29A6-350F-5872-1FBFC59AFEE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032BEA86-D563-3C97-5012-5FF88041051C}"/>
              </a:ext>
            </a:extLst>
          </p:cNvPr>
          <p:cNvSpPr txBox="1"/>
          <p:nvPr/>
        </p:nvSpPr>
        <p:spPr>
          <a:xfrm>
            <a:off x="0" y="17253"/>
            <a:ext cx="10401300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Research Proposal: Literature Review, Research Question, Tools, Languages &amp; Early Prototyping</a:t>
            </a:r>
            <a:endParaRPr sz="3300" b="1" dirty="0">
              <a:latin typeface="+mj-lt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9B5F4F-75F1-A100-5596-88FFF992B70A}"/>
              </a:ext>
            </a:extLst>
          </p:cNvPr>
          <p:cNvSpPr txBox="1"/>
          <p:nvPr/>
        </p:nvSpPr>
        <p:spPr>
          <a:xfrm>
            <a:off x="175404" y="2431117"/>
            <a:ext cx="11841192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❌ What to Avoid:</a:t>
            </a:r>
          </a:p>
          <a:p>
            <a:pPr marL="8794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Copy-pasting abstracts into your review</a:t>
            </a:r>
          </a:p>
          <a:p>
            <a:pPr marL="8794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Writing a broad/general research question</a:t>
            </a:r>
          </a:p>
          <a:p>
            <a:pPr marL="8794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Ignoring peer-reviewed sources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Tips:</a:t>
            </a:r>
          </a:p>
          <a:p>
            <a:pPr marL="81121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Use a </a:t>
            </a:r>
            <a:r>
              <a:rPr lang="en-US" sz="2800" b="1" dirty="0">
                <a:latin typeface="+mj-lt"/>
              </a:rPr>
              <a:t>literature review matrix</a:t>
            </a:r>
            <a:r>
              <a:rPr lang="en-US" sz="2800" dirty="0">
                <a:latin typeface="+mj-lt"/>
              </a:rPr>
              <a:t> (tool: Excel or Notion)</a:t>
            </a:r>
          </a:p>
          <a:p>
            <a:pPr marL="81121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Ensure the research question aligns with the topic</a:t>
            </a:r>
          </a:p>
          <a:p>
            <a:pPr marL="81121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Use frameworks (e.g., “PICO”, “SMART”) to refine the question</a:t>
            </a:r>
          </a:p>
        </p:txBody>
      </p:sp>
    </p:spTree>
    <p:extLst>
      <p:ext uri="{BB962C8B-B14F-4D97-AF65-F5344CB8AC3E}">
        <p14:creationId xmlns:p14="http://schemas.microsoft.com/office/powerpoint/2010/main" val="3565743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14D7F6A-757C-932F-6E88-B7B722EC9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55D629A5-DF4C-AFD1-DA07-E8F7F4930A7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AB7BA1A0-050A-332A-1D5C-A407561D19D3}"/>
              </a:ext>
            </a:extLst>
          </p:cNvPr>
          <p:cNvSpPr txBox="1"/>
          <p:nvPr/>
        </p:nvSpPr>
        <p:spPr>
          <a:xfrm>
            <a:off x="0" y="17253"/>
            <a:ext cx="10401300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Research Proposal: Literature Review, Research Question, Tools, Languages &amp; Early Prototyping</a:t>
            </a:r>
            <a:endParaRPr sz="3300" b="1" dirty="0">
              <a:latin typeface="+mj-lt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EFBF9F-78B3-82F7-8E09-3005A9B8912A}"/>
              </a:ext>
            </a:extLst>
          </p:cNvPr>
          <p:cNvSpPr txBox="1"/>
          <p:nvPr/>
        </p:nvSpPr>
        <p:spPr>
          <a:xfrm>
            <a:off x="175404" y="2431117"/>
            <a:ext cx="11841192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Tools, Languages &amp; Early Prototyping (Session 2)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Goals:</a:t>
            </a:r>
          </a:p>
          <a:p>
            <a:pPr marL="77628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Select the tools/languages/platforms</a:t>
            </a:r>
          </a:p>
          <a:p>
            <a:pPr marL="77628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Choose any datasets (if applicable)</a:t>
            </a:r>
          </a:p>
          <a:p>
            <a:pPr marL="77628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Begin basic prototyping or system design (if technical)</a:t>
            </a:r>
          </a:p>
        </p:txBody>
      </p:sp>
    </p:spTree>
    <p:extLst>
      <p:ext uri="{BB962C8B-B14F-4D97-AF65-F5344CB8AC3E}">
        <p14:creationId xmlns:p14="http://schemas.microsoft.com/office/powerpoint/2010/main" val="37039872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3189809-069F-9338-91F7-26D3A92E6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E576C77C-34AA-EAA0-51B6-248B04E7406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65B92B80-74B7-F6A0-9D37-0D5D3F7A7CF7}"/>
              </a:ext>
            </a:extLst>
          </p:cNvPr>
          <p:cNvSpPr txBox="1"/>
          <p:nvPr/>
        </p:nvSpPr>
        <p:spPr>
          <a:xfrm>
            <a:off x="0" y="17253"/>
            <a:ext cx="10401300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Research Proposal: Literature Review, Research Question, Tools, Languages &amp; Early Prototyping</a:t>
            </a:r>
            <a:endParaRPr sz="3300" b="1" dirty="0">
              <a:latin typeface="+mj-lt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0FBB7F-7987-D037-68F9-F59E4C2323D8}"/>
              </a:ext>
            </a:extLst>
          </p:cNvPr>
          <p:cNvSpPr txBox="1"/>
          <p:nvPr/>
        </p:nvSpPr>
        <p:spPr>
          <a:xfrm>
            <a:off x="175404" y="2431117"/>
            <a:ext cx="11841192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What to Do: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Identify: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Programming language (e.g., Python, PHP, Java)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Tools (e.g., Power BI, Tableau, HTML/CSS/JS, Firebase)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Dataset source (e.g., Kaggle, government portals)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Create: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UI wireframes or diagrams (Figma, Canva)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Conceptual database schema (ERD, MySQL Workbench)</a:t>
            </a:r>
          </a:p>
        </p:txBody>
      </p:sp>
    </p:spTree>
    <p:extLst>
      <p:ext uri="{BB962C8B-B14F-4D97-AF65-F5344CB8AC3E}">
        <p14:creationId xmlns:p14="http://schemas.microsoft.com/office/powerpoint/2010/main" val="4125774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9A9AA19-0DA3-8FE4-C392-3E87CE03D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634424FA-D43C-E1FB-2863-FF6C95D6C70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F06B904F-C8D5-D404-AB63-5385703AE3BB}"/>
              </a:ext>
            </a:extLst>
          </p:cNvPr>
          <p:cNvSpPr txBox="1"/>
          <p:nvPr/>
        </p:nvSpPr>
        <p:spPr>
          <a:xfrm>
            <a:off x="0" y="17253"/>
            <a:ext cx="10401300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Research Proposal: Literature Review, Research Question, Tools, Languages &amp; Early Prototyping</a:t>
            </a:r>
            <a:endParaRPr sz="3300" b="1" dirty="0">
              <a:latin typeface="+mj-lt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A87E17-01A9-ACCB-3734-90FC730619FB}"/>
              </a:ext>
            </a:extLst>
          </p:cNvPr>
          <p:cNvSpPr txBox="1"/>
          <p:nvPr/>
        </p:nvSpPr>
        <p:spPr>
          <a:xfrm>
            <a:off x="175404" y="2431117"/>
            <a:ext cx="11841192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❌ What to Avoid:</a:t>
            </a:r>
          </a:p>
          <a:p>
            <a:pPr marL="79375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Skipping tool selection thinking it’s “only literature”</a:t>
            </a:r>
          </a:p>
          <a:p>
            <a:pPr marL="79375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Choosing too many technologies</a:t>
            </a:r>
          </a:p>
          <a:p>
            <a:pPr marL="79375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Forgetting to check data licensing and relevance</a:t>
            </a:r>
          </a:p>
        </p:txBody>
      </p:sp>
    </p:spTree>
    <p:extLst>
      <p:ext uri="{BB962C8B-B14F-4D97-AF65-F5344CB8AC3E}">
        <p14:creationId xmlns:p14="http://schemas.microsoft.com/office/powerpoint/2010/main" val="23220044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82999F1-3322-A5B9-3EE1-6D446CDE2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18CC8F3F-DC83-D5C9-2450-8951EBB5422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EAED9038-DF9E-D4E9-88FA-24DEDA529558}"/>
              </a:ext>
            </a:extLst>
          </p:cNvPr>
          <p:cNvSpPr txBox="1"/>
          <p:nvPr/>
        </p:nvSpPr>
        <p:spPr>
          <a:xfrm>
            <a:off x="0" y="17253"/>
            <a:ext cx="10401300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Research Proposal: Literature Review, Research Question, Tools, Languages &amp; Early Prototyping</a:t>
            </a:r>
            <a:endParaRPr sz="3300" b="1" dirty="0">
              <a:latin typeface="+mj-lt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48E14E-BA50-5A5E-9286-5E0FAEEE2022}"/>
              </a:ext>
            </a:extLst>
          </p:cNvPr>
          <p:cNvSpPr txBox="1"/>
          <p:nvPr/>
        </p:nvSpPr>
        <p:spPr>
          <a:xfrm>
            <a:off x="175404" y="2431117"/>
            <a:ext cx="11841192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Tips:</a:t>
            </a:r>
          </a:p>
          <a:p>
            <a:pPr marL="7588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Use existing academic project repositories for reference</a:t>
            </a:r>
          </a:p>
          <a:p>
            <a:pPr marL="7588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Tools should match your </a:t>
            </a:r>
            <a:r>
              <a:rPr lang="en-US" sz="2800" b="1" dirty="0">
                <a:latin typeface="+mj-lt"/>
              </a:rPr>
              <a:t>research question</a:t>
            </a:r>
            <a:r>
              <a:rPr lang="en-US" sz="2800" dirty="0">
                <a:latin typeface="+mj-lt"/>
              </a:rPr>
              <a:t> and </a:t>
            </a:r>
            <a:r>
              <a:rPr lang="en-US" sz="2800" b="1" dirty="0">
                <a:latin typeface="+mj-lt"/>
              </a:rPr>
              <a:t>project scope</a:t>
            </a:r>
            <a:endParaRPr lang="en-US" sz="2800" dirty="0">
              <a:latin typeface="+mj-lt"/>
            </a:endParaRPr>
          </a:p>
          <a:p>
            <a:pPr marL="7588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For non-coding teams, tools can include </a:t>
            </a:r>
            <a:r>
              <a:rPr lang="en-US" sz="2800" b="1" dirty="0">
                <a:latin typeface="+mj-lt"/>
              </a:rPr>
              <a:t>data visualization platforms</a:t>
            </a:r>
            <a:endParaRPr 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762748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0B8D8F1-608E-6F41-AD5A-D3FF2F496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EA632D00-6C33-DE77-981E-F82E1254E6E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7131E4DF-83A4-6BE1-A626-0D0B7B11205E}"/>
              </a:ext>
            </a:extLst>
          </p:cNvPr>
          <p:cNvSpPr txBox="1"/>
          <p:nvPr/>
        </p:nvSpPr>
        <p:spPr>
          <a:xfrm>
            <a:off x="0" y="17253"/>
            <a:ext cx="104013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Research Proposal: Draft &amp; Submit Research Proposal</a:t>
            </a:r>
            <a:endParaRPr sz="3300" b="1" dirty="0">
              <a:latin typeface="+mj-lt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8A58D-DD17-26D9-CD38-A035033FFD4A}"/>
              </a:ext>
            </a:extLst>
          </p:cNvPr>
          <p:cNvSpPr txBox="1"/>
          <p:nvPr/>
        </p:nvSpPr>
        <p:spPr>
          <a:xfrm>
            <a:off x="0" y="1155326"/>
            <a:ext cx="12192000" cy="9032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600" b="1" dirty="0">
                <a:latin typeface="+mj-lt"/>
              </a:rPr>
              <a:t>Goals: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+mj-lt"/>
              </a:rPr>
              <a:t>Finalize all parts of the proposal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+mj-lt"/>
              </a:rPr>
              <a:t>Submit Word (.docx) file with cover sheet</a:t>
            </a:r>
          </a:p>
          <a:p>
            <a:pPr>
              <a:lnSpc>
                <a:spcPct val="150000"/>
              </a:lnSpc>
              <a:buNone/>
            </a:pPr>
            <a:r>
              <a:rPr lang="en-US" sz="2600" b="1" dirty="0">
                <a:latin typeface="+mj-lt"/>
              </a:rPr>
              <a:t>What to Include in Proposal: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600" dirty="0">
                <a:latin typeface="+mj-lt"/>
              </a:rPr>
              <a:t>Title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600" dirty="0">
                <a:latin typeface="+mj-lt"/>
              </a:rPr>
              <a:t>Abstract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600" dirty="0">
                <a:latin typeface="+mj-lt"/>
              </a:rPr>
              <a:t>Introduction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600" dirty="0">
                <a:latin typeface="+mj-lt"/>
              </a:rPr>
              <a:t>Problem Background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600" dirty="0">
                <a:latin typeface="+mj-lt"/>
              </a:rPr>
              <a:t>Research Question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600" dirty="0">
                <a:latin typeface="+mj-lt"/>
              </a:rPr>
              <a:t>Objectives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600" dirty="0">
                <a:latin typeface="+mj-lt"/>
              </a:rPr>
              <a:t>Project Scope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600" dirty="0">
                <a:latin typeface="+mj-lt"/>
              </a:rPr>
              <a:t>Research Methodology (Literature Review)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600" dirty="0">
                <a:latin typeface="+mj-lt"/>
              </a:rPr>
              <a:t>Preliminary Literature Summary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600" dirty="0">
                <a:latin typeface="+mj-lt"/>
              </a:rPr>
              <a:t>Timeline (Gantt chart)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600" dirty="0">
                <a:latin typeface="+mj-lt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163954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2E8E1B2-29CE-032F-5318-B40A54665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A0DDC8A9-22A6-9CCF-B0E8-58769C6353A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9A9C76CB-09D5-0C5C-2086-16B0E798C9FC}"/>
              </a:ext>
            </a:extLst>
          </p:cNvPr>
          <p:cNvSpPr txBox="1"/>
          <p:nvPr/>
        </p:nvSpPr>
        <p:spPr>
          <a:xfrm>
            <a:off x="0" y="17253"/>
            <a:ext cx="104013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Research Proposal: Draft &amp; Submit Research Proposal</a:t>
            </a:r>
            <a:endParaRPr sz="3300" b="1" dirty="0">
              <a:latin typeface="+mj-lt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8CAE9C-59FD-6C63-3ABF-B7432FDD48C2}"/>
              </a:ext>
            </a:extLst>
          </p:cNvPr>
          <p:cNvSpPr txBox="1"/>
          <p:nvPr/>
        </p:nvSpPr>
        <p:spPr>
          <a:xfrm>
            <a:off x="-1" y="1901338"/>
            <a:ext cx="12192000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❌ What to Avoid:</a:t>
            </a:r>
          </a:p>
          <a:p>
            <a:pPr marL="7588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Generic or copied abstract</a:t>
            </a:r>
          </a:p>
          <a:p>
            <a:pPr marL="7588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Not citing references properly (Holmes Harvard style)</a:t>
            </a:r>
          </a:p>
          <a:p>
            <a:pPr marL="7588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Missing group members on cover sheet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Tips:</a:t>
            </a:r>
          </a:p>
          <a:p>
            <a:pPr marL="6905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Draft together in Google Docs for live feedback</a:t>
            </a:r>
          </a:p>
          <a:p>
            <a:pPr marL="6905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Submit only from </a:t>
            </a:r>
            <a:r>
              <a:rPr lang="en-US" sz="2800" b="1" dirty="0">
                <a:latin typeface="+mj-lt"/>
              </a:rPr>
              <a:t>laptop/desktop</a:t>
            </a:r>
            <a:endParaRPr lang="en-US" sz="2800" dirty="0">
              <a:latin typeface="+mj-lt"/>
            </a:endParaRPr>
          </a:p>
          <a:p>
            <a:pPr marL="6905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Use MS Word format (.docx), no PDFs or Pages</a:t>
            </a:r>
          </a:p>
        </p:txBody>
      </p:sp>
    </p:spTree>
    <p:extLst>
      <p:ext uri="{BB962C8B-B14F-4D97-AF65-F5344CB8AC3E}">
        <p14:creationId xmlns:p14="http://schemas.microsoft.com/office/powerpoint/2010/main" val="42862915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8E0D2-9286-EC6A-FC28-A59187C96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2">
            <a:extLst>
              <a:ext uri="{FF2B5EF4-FFF2-40B4-BE49-F238E27FC236}">
                <a16:creationId xmlns:a16="http://schemas.microsoft.com/office/drawing/2014/main" id="{53D8119B-B033-4742-7B01-FE383058F9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26" y="12941"/>
            <a:ext cx="12192000" cy="1053859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Group Progress Presentation – Overview of Progress at least 2 min</a:t>
            </a:r>
            <a:endParaRPr lang="en-US" sz="3600" dirty="0">
              <a:highlight>
                <a:srgbClr val="FFFF00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4872E6-ECC6-7615-EF56-326EA87CDB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199" b="23637"/>
          <a:stretch/>
        </p:blipFill>
        <p:spPr>
          <a:xfrm>
            <a:off x="8626" y="1371600"/>
            <a:ext cx="12192000" cy="4263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8778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8CDC9-A7F0-B9E3-E9E4-516B61978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D91AB5A2-B21D-66A0-4528-C2C55210EBB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EF6D16-E124-24B9-1D4B-698CF1363FA5}"/>
              </a:ext>
            </a:extLst>
          </p:cNvPr>
          <p:cNvSpPr txBox="1"/>
          <p:nvPr/>
        </p:nvSpPr>
        <p:spPr>
          <a:xfrm>
            <a:off x="0" y="0"/>
            <a:ext cx="118871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Thank You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2B71991-9C10-2CDD-0295-065A9579E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5779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550CBBC-F537-AFEC-634C-56C9DAB146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23996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85037F8A-312A-5706-B9D4-BD56C9AD7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56063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163D227C-1D36-DEFE-C2F8-3CA3D97D9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6066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E1BCA2-620C-3559-3A80-9228DA241173}"/>
              </a:ext>
            </a:extLst>
          </p:cNvPr>
          <p:cNvSpPr txBox="1"/>
          <p:nvPr/>
        </p:nvSpPr>
        <p:spPr>
          <a:xfrm>
            <a:off x="609600" y="2441246"/>
            <a:ext cx="9624202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+mj-lt"/>
              </a:rPr>
              <a:t>Need Help? Send an email or ask during the tutorial session.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+mj-lt"/>
              </a:rPr>
              <a:t>Good luck with your capstone journey!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Dr. Farshid Keivanian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Supervisor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FKeivanian@my.holmes.edu.au</a:t>
            </a:r>
          </a:p>
        </p:txBody>
      </p:sp>
    </p:spTree>
    <p:extLst>
      <p:ext uri="{BB962C8B-B14F-4D97-AF65-F5344CB8AC3E}">
        <p14:creationId xmlns:p14="http://schemas.microsoft.com/office/powerpoint/2010/main" val="2583695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385</TotalTime>
  <Words>895</Words>
  <Application>Microsoft Office PowerPoint</Application>
  <PresentationFormat>Custom</PresentationFormat>
  <Paragraphs>112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Group Progress Presentation – Overview of Progress at least 2 min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Farshid Keivanian</dc:creator>
  <cp:lastModifiedBy>Farshid Keivanian</cp:lastModifiedBy>
  <cp:revision>152</cp:revision>
  <dcterms:created xsi:type="dcterms:W3CDTF">2025-04-05T17:32:34Z</dcterms:created>
  <dcterms:modified xsi:type="dcterms:W3CDTF">2025-08-10T04:05:13Z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2024-05-02T00:00:00Z</vt:filetime>
  </property>
  <property fmtid="{D5CDD505-2E9C-101B-9397-08002B2CF9AE}" pid="3" name="Creator">
    <vt:lpwstr>Microsoft® Word for Microsoft 365</vt:lpwstr>
  </property>
  <property fmtid="{D5CDD505-2E9C-101B-9397-08002B2CF9AE}" pid="4" name="LastSaved">
    <vt:filetime>2025-04-05T00:00:00Z</vt:filetime>
  </property>
  <property fmtid="{D5CDD505-2E9C-101B-9397-08002B2CF9AE}" pid="5" name="Producer">
    <vt:lpwstr>Adobe Acrobat Pro (64-bit) 24.2.20687</vt:lpwstr>
  </property>
</Properties>
</file>