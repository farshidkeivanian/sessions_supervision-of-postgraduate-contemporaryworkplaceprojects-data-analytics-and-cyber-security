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78" r:id="rId3"/>
    <p:sldId id="1689" r:id="rId4"/>
    <p:sldId id="1953" r:id="rId5"/>
    <p:sldId id="1954" r:id="rId6"/>
    <p:sldId id="1952" r:id="rId7"/>
    <p:sldId id="1847" r:id="rId8"/>
    <p:sldId id="1848" r:id="rId9"/>
    <p:sldId id="1849" r:id="rId10"/>
    <p:sldId id="1850" r:id="rId11"/>
    <p:sldId id="1851" r:id="rId12"/>
    <p:sldId id="1852" r:id="rId13"/>
    <p:sldId id="1853" r:id="rId14"/>
    <p:sldId id="1854" r:id="rId15"/>
    <p:sldId id="1855" r:id="rId16"/>
    <p:sldId id="1856" r:id="rId17"/>
    <p:sldId id="1857" r:id="rId18"/>
    <p:sldId id="1858" r:id="rId19"/>
    <p:sldId id="1897" r:id="rId20"/>
    <p:sldId id="1898" r:id="rId21"/>
    <p:sldId id="1899" r:id="rId22"/>
    <p:sldId id="1900" r:id="rId23"/>
    <p:sldId id="1901" r:id="rId24"/>
    <p:sldId id="1902" r:id="rId25"/>
    <p:sldId id="1903" r:id="rId26"/>
    <p:sldId id="1904" r:id="rId27"/>
    <p:sldId id="1905" r:id="rId28"/>
    <p:sldId id="1906" r:id="rId29"/>
    <p:sldId id="1907" r:id="rId30"/>
    <p:sldId id="1908" r:id="rId31"/>
    <p:sldId id="1909" r:id="rId32"/>
    <p:sldId id="1910" r:id="rId33"/>
    <p:sldId id="1911" r:id="rId34"/>
    <p:sldId id="1912" r:id="rId35"/>
    <p:sldId id="1913" r:id="rId36"/>
    <p:sldId id="1914" r:id="rId37"/>
    <p:sldId id="1915" r:id="rId38"/>
    <p:sldId id="1916" r:id="rId39"/>
    <p:sldId id="1917" r:id="rId40"/>
    <p:sldId id="1918" r:id="rId41"/>
    <p:sldId id="1919" r:id="rId42"/>
    <p:sldId id="1920" r:id="rId43"/>
    <p:sldId id="1921" r:id="rId44"/>
    <p:sldId id="1922" r:id="rId45"/>
    <p:sldId id="1923" r:id="rId46"/>
    <p:sldId id="1924" r:id="rId47"/>
    <p:sldId id="1925" r:id="rId48"/>
    <p:sldId id="1926" r:id="rId49"/>
    <p:sldId id="1927" r:id="rId50"/>
    <p:sldId id="1928" r:id="rId51"/>
    <p:sldId id="1929" r:id="rId52"/>
    <p:sldId id="1930" r:id="rId53"/>
    <p:sldId id="1931" r:id="rId54"/>
    <p:sldId id="1932" r:id="rId55"/>
    <p:sldId id="1933" r:id="rId56"/>
    <p:sldId id="1934" r:id="rId57"/>
    <p:sldId id="1935" r:id="rId58"/>
    <p:sldId id="1936" r:id="rId59"/>
    <p:sldId id="1937" r:id="rId60"/>
    <p:sldId id="1938" r:id="rId61"/>
    <p:sldId id="1939" r:id="rId62"/>
    <p:sldId id="1940" r:id="rId63"/>
    <p:sldId id="1941" r:id="rId64"/>
    <p:sldId id="1942" r:id="rId65"/>
    <p:sldId id="1943" r:id="rId66"/>
    <p:sldId id="1944" r:id="rId67"/>
    <p:sldId id="1945" r:id="rId68"/>
    <p:sldId id="1946" r:id="rId69"/>
    <p:sldId id="1947" r:id="rId70"/>
    <p:sldId id="1948" r:id="rId71"/>
    <p:sldId id="1949" r:id="rId72"/>
    <p:sldId id="1950" r:id="rId73"/>
    <p:sldId id="1951" r:id="rId74"/>
    <p:sldId id="1747" r:id="rId75"/>
    <p:sldId id="612" r:id="rId76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235" y="5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E6D3-906C-1320-4687-C1367C63E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01287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1C4FD-A4A9-4ABA-B38A-5C011FCA6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82989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29ADD-9CFD-F94C-3BD4-E15649AA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A22E6EEE-11DC-44F3-8567-F3508996C4D6}" type="datetimeFigureOut">
              <a:rPr lang="en-AU" smtClean="0"/>
              <a:t>10/08/2025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CD539-4B99-E1AD-D8EE-398581E19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118EA-AFF6-1D9C-A064-CCC312C78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1502" y="9253759"/>
            <a:ext cx="533400" cy="169277"/>
          </a:xfrm>
        </p:spPr>
        <p:txBody>
          <a:bodyPr/>
          <a:lstStyle/>
          <a:p>
            <a:fld id="{65DD78D8-BAAB-4AA7-9E67-7B3D99A130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1578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miro.com/app/dashboard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304800" y="1752601"/>
            <a:ext cx="11887199" cy="333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HI6050 Capstone: Comprehensive Topic Selection and Supplementary Document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Supervisor: Dr. Farshid Keivanian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Week 8: </a:t>
            </a:r>
            <a:r>
              <a:rPr lang="en-US" sz="3600" dirty="0">
                <a:latin typeface="+mj-lt"/>
              </a:rPr>
              <a:t>Data Collection Progress &amp; Meeting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F2FAC8-42AD-DB92-166F-2F42E02C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47F174-E865-EA2C-9A7B-75ECF3EA7974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Session 8’s outline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2898743-2B79-D5DF-5AFF-870A1775B5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C30F892-69B9-E3BA-260C-8084D712A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26459-E9EB-FA7D-8B8F-E2F5CD70284A}"/>
              </a:ext>
            </a:extLst>
          </p:cNvPr>
          <p:cNvSpPr txBox="1"/>
          <p:nvPr/>
        </p:nvSpPr>
        <p:spPr>
          <a:xfrm>
            <a:off x="190500" y="976461"/>
            <a:ext cx="11810999" cy="8868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8500" indent="-457200" algn="l">
              <a:lnSpc>
                <a:spcPct val="150000"/>
              </a:lnSpc>
              <a:spcBef>
                <a:spcPts val="100"/>
              </a:spcBef>
              <a:buAutoNum type="arabicPeriod"/>
            </a:pPr>
            <a:r>
              <a:rPr lang="en-US" sz="2500" dirty="0">
                <a:latin typeface="+mj-lt"/>
              </a:rPr>
              <a:t>Data Collection Progress &amp; Meeting 3</a:t>
            </a:r>
          </a:p>
          <a:p>
            <a:pPr marL="698500" indent="-457200" algn="l">
              <a:lnSpc>
                <a:spcPct val="150000"/>
              </a:lnSpc>
              <a:spcBef>
                <a:spcPts val="100"/>
              </a:spcBef>
              <a:buAutoNum type="arabicPeriod"/>
            </a:pPr>
            <a:r>
              <a:rPr lang="en-US" sz="2500" dirty="0">
                <a:latin typeface="+mj-lt"/>
              </a:rPr>
              <a:t>Build and Export a Wireframe in Micro</a:t>
            </a:r>
          </a:p>
          <a:p>
            <a:pPr marL="241300" algn="l">
              <a:lnSpc>
                <a:spcPct val="150000"/>
              </a:lnSpc>
              <a:spcBef>
                <a:spcPts val="100"/>
              </a:spcBef>
            </a:pPr>
            <a:r>
              <a:rPr lang="en-US" sz="2500" dirty="0">
                <a:latin typeface="+mj-lt"/>
                <a:cs typeface="Calibri" panose="020F0502020204030204" pitchFamily="34" charset="0"/>
              </a:rPr>
              <a:t>2. Setting Up </a:t>
            </a:r>
            <a:r>
              <a:rPr lang="en-US" sz="2500" dirty="0" err="1">
                <a:latin typeface="+mj-lt"/>
                <a:cs typeface="Calibri" panose="020F0502020204030204" pitchFamily="34" charset="0"/>
              </a:rPr>
              <a:t>InVision</a:t>
            </a:r>
            <a:r>
              <a:rPr lang="en-US" sz="2500" dirty="0">
                <a:latin typeface="+mj-lt"/>
                <a:cs typeface="Calibri" panose="020F0502020204030204" pitchFamily="34" charset="0"/>
              </a:rPr>
              <a:t> Studio 2018 or newer</a:t>
            </a:r>
          </a:p>
          <a:p>
            <a:pPr marL="241300" algn="l">
              <a:lnSpc>
                <a:spcPct val="150000"/>
              </a:lnSpc>
              <a:spcBef>
                <a:spcPts val="100"/>
              </a:spcBef>
            </a:pPr>
            <a:r>
              <a:rPr lang="en-AU" sz="25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3.  Why Track Weekly Progress in IT Projects?</a:t>
            </a:r>
          </a:p>
          <a:p>
            <a:pPr marL="241300" algn="l">
              <a:lnSpc>
                <a:spcPct val="150000"/>
              </a:lnSpc>
              <a:spcBef>
                <a:spcPts val="100"/>
              </a:spcBef>
            </a:pPr>
            <a:r>
              <a:rPr lang="en-AU" sz="25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4. Key Steps in Weekly Progress Tracking</a:t>
            </a:r>
          </a:p>
          <a:p>
            <a:pPr marL="584200" indent="-342900" algn="l">
              <a:lnSpc>
                <a:spcPct val="150000"/>
              </a:lnSpc>
              <a:spcBef>
                <a:spcPts val="100"/>
              </a:spcBef>
              <a:buAutoNum type="arabicPeriod" startAt="5"/>
            </a:pPr>
            <a:r>
              <a:rPr lang="en-AU" sz="25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Tools for Monitoring Progress</a:t>
            </a:r>
          </a:p>
          <a:p>
            <a:pPr marL="584200" indent="-342900" algn="l">
              <a:lnSpc>
                <a:spcPct val="150000"/>
              </a:lnSpc>
              <a:spcBef>
                <a:spcPts val="100"/>
              </a:spcBef>
              <a:buAutoNum type="arabicPeriod" startAt="5"/>
            </a:pPr>
            <a:r>
              <a:rPr lang="en-AU" sz="25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Trello / Asana: Task Management</a:t>
            </a:r>
          </a:p>
          <a:p>
            <a:pPr marL="584200" indent="-342900" algn="l">
              <a:lnSpc>
                <a:spcPct val="150000"/>
              </a:lnSpc>
              <a:spcBef>
                <a:spcPts val="100"/>
              </a:spcBef>
              <a:buAutoNum type="arabicPeriod" startAt="5"/>
            </a:pPr>
            <a:r>
              <a:rPr lang="en-AU" sz="25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Jira: Agile Project Tracking</a:t>
            </a:r>
          </a:p>
          <a:p>
            <a:pPr marL="584200" indent="-342900" algn="l">
              <a:lnSpc>
                <a:spcPct val="150000"/>
              </a:lnSpc>
              <a:spcBef>
                <a:spcPts val="100"/>
              </a:spcBef>
              <a:buAutoNum type="arabicPeriod" startAt="5"/>
            </a:pPr>
            <a:r>
              <a:rPr lang="en-AU" sz="25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Google Sheets: Progress Tracking and Reporting</a:t>
            </a:r>
          </a:p>
          <a:p>
            <a:pPr marL="584200" indent="-342900" algn="l">
              <a:lnSpc>
                <a:spcPct val="150000"/>
              </a:lnSpc>
              <a:spcBef>
                <a:spcPts val="100"/>
              </a:spcBef>
              <a:buAutoNum type="arabicPeriod" startAt="5"/>
            </a:pPr>
            <a:r>
              <a:rPr lang="en-AU" sz="25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Slack / Microsoft Teams: Communication and Quick Updates</a:t>
            </a:r>
          </a:p>
          <a:p>
            <a:pPr marL="584200" indent="-342900" algn="l">
              <a:lnSpc>
                <a:spcPct val="150000"/>
              </a:lnSpc>
              <a:spcBef>
                <a:spcPts val="100"/>
              </a:spcBef>
              <a:buAutoNum type="arabicPeriod" startAt="5"/>
            </a:pPr>
            <a:r>
              <a:rPr lang="en-AU" sz="25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Key Tips for Using These Tools Together</a:t>
            </a:r>
          </a:p>
          <a:p>
            <a:pPr marL="584200" indent="-342900" algn="l">
              <a:lnSpc>
                <a:spcPct val="150000"/>
              </a:lnSpc>
              <a:spcBef>
                <a:spcPts val="100"/>
              </a:spcBef>
              <a:buAutoNum type="arabicPeriod" startAt="5"/>
            </a:pPr>
            <a:r>
              <a:rPr lang="en-AU" sz="25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Additional Tips for You Working on Your Project	</a:t>
            </a:r>
          </a:p>
          <a:p>
            <a:pPr marL="584200" indent="-342900" algn="l">
              <a:lnSpc>
                <a:spcPct val="150000"/>
              </a:lnSpc>
              <a:spcBef>
                <a:spcPts val="100"/>
              </a:spcBef>
              <a:buAutoNum type="arabicPeriod" startAt="5"/>
            </a:pPr>
            <a:r>
              <a:rPr lang="en-AU" sz="25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General Advice for All Projects</a:t>
            </a:r>
          </a:p>
          <a:p>
            <a:pPr marL="584200" indent="-342900" algn="l">
              <a:lnSpc>
                <a:spcPct val="150000"/>
              </a:lnSpc>
              <a:spcBef>
                <a:spcPts val="100"/>
              </a:spcBef>
              <a:buAutoNum type="arabicPeriod" startAt="5"/>
            </a:pPr>
            <a:r>
              <a:rPr lang="en-AU" sz="25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Components of an Effective Weekly Update</a:t>
            </a:r>
          </a:p>
          <a:p>
            <a:pPr marL="584200" indent="-342900" algn="l">
              <a:lnSpc>
                <a:spcPct val="150000"/>
              </a:lnSpc>
              <a:spcBef>
                <a:spcPts val="100"/>
              </a:spcBef>
              <a:buAutoNum type="arabicPeriod" startAt="5"/>
            </a:pPr>
            <a:r>
              <a:rPr lang="en-AU" sz="25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Group Progress Presentation – Overview of Progress at least 2 min</a:t>
            </a:r>
            <a:endParaRPr lang="en-US" sz="2500" dirty="0">
              <a:effectLst/>
              <a:latin typeface="+mj-l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06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E963F-FDEE-EB6E-3542-A12C8612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10488FF1-41BE-124D-CDBF-ADE2459D4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529378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Data Collection Progress &amp; Meeting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E00AE-2FD8-BC57-9C3B-AA62C3E7947D}"/>
              </a:ext>
            </a:extLst>
          </p:cNvPr>
          <p:cNvSpPr txBox="1"/>
          <p:nvPr/>
        </p:nvSpPr>
        <p:spPr>
          <a:xfrm>
            <a:off x="685800" y="2425530"/>
            <a:ext cx="1056132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i="1" dirty="0">
                <a:latin typeface="+mj-lt"/>
              </a:rPr>
              <a:t>(Meeting window: </a:t>
            </a:r>
            <a:r>
              <a:rPr lang="en-US" sz="2800" i="1" dirty="0" err="1">
                <a:latin typeface="+mj-lt"/>
              </a:rPr>
              <a:t>Wk</a:t>
            </a:r>
            <a:r>
              <a:rPr lang="en-US" sz="2800" i="1" dirty="0">
                <a:latin typeface="+mj-lt"/>
              </a:rPr>
              <a:t> 8–9)</a:t>
            </a:r>
            <a:br>
              <a:rPr lang="en-US" sz="2800" dirty="0">
                <a:latin typeface="+mj-lt"/>
              </a:rPr>
            </a:br>
            <a:r>
              <a:rPr lang="en-US" sz="2800" b="1" dirty="0">
                <a:latin typeface="+mj-lt"/>
              </a:rPr>
              <a:t>Objectives: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Conduct Meeting 3.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Share initial data analysis or raw dataset with supervisor.</a:t>
            </a:r>
          </a:p>
        </p:txBody>
      </p:sp>
    </p:spTree>
    <p:extLst>
      <p:ext uri="{BB962C8B-B14F-4D97-AF65-F5344CB8AC3E}">
        <p14:creationId xmlns:p14="http://schemas.microsoft.com/office/powerpoint/2010/main" val="79371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CB13E-3340-078D-9132-AB90F5E9A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FC75920C-0E3F-3827-6301-88242A782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529378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Data Collection Progress &amp; Meeting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0F3F7-CC3E-3E2E-714D-01E4DDDD8266}"/>
              </a:ext>
            </a:extLst>
          </p:cNvPr>
          <p:cNvSpPr txBox="1"/>
          <p:nvPr/>
        </p:nvSpPr>
        <p:spPr>
          <a:xfrm>
            <a:off x="685800" y="2425530"/>
            <a:ext cx="1056132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Tasks for Groups:</a:t>
            </a:r>
            <a:endParaRPr lang="en-US" sz="2800" dirty="0">
              <a:latin typeface="+mj-lt"/>
            </a:endParaRP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Present early findings or summary stats.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Discuss data issues (quality, gaps).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Update literature review if new insights arise.</a:t>
            </a:r>
          </a:p>
        </p:txBody>
      </p:sp>
    </p:spTree>
    <p:extLst>
      <p:ext uri="{BB962C8B-B14F-4D97-AF65-F5344CB8AC3E}">
        <p14:creationId xmlns:p14="http://schemas.microsoft.com/office/powerpoint/2010/main" val="1672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0A676-2765-03AD-89B8-4381992C8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D594C377-A25F-52F7-BBA7-2A3D7FD32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529378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Data Collection Progress &amp; Meeting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D805A-23F6-99B3-6E5C-1E8D343B3B8A}"/>
              </a:ext>
            </a:extLst>
          </p:cNvPr>
          <p:cNvSpPr txBox="1"/>
          <p:nvPr/>
        </p:nvSpPr>
        <p:spPr>
          <a:xfrm>
            <a:off x="685800" y="2425530"/>
            <a:ext cx="1056132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Do’s:</a:t>
            </a:r>
            <a:endParaRPr lang="en-US" sz="2800" dirty="0">
              <a:latin typeface="+mj-lt"/>
            </a:endParaRP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Have visuals ready (graphs/tables).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Ask for advice on analysis techniques.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Don’ts:</a:t>
            </a:r>
            <a:endParaRPr lang="en-US" sz="2800" dirty="0">
              <a:latin typeface="+mj-lt"/>
            </a:endParaRP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ignore anomalies in data.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Avoid continuing flawed 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3148463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BE295-33B1-B0C1-9D7D-67DD2BD35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05680E-BAF3-8B64-EAA2-5F2536293287}"/>
              </a:ext>
            </a:extLst>
          </p:cNvPr>
          <p:cNvSpPr txBox="1"/>
          <p:nvPr/>
        </p:nvSpPr>
        <p:spPr>
          <a:xfrm>
            <a:off x="213756" y="2657106"/>
            <a:ext cx="1150718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Step 1: Access Miro Templates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Navigate to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Miro Dashboard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Click "Show All Templates"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on the main dashboard to explore available templates.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05615EC1-2BB5-FA49-4B43-76D11FC87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529378"/>
          </a:xfrm>
        </p:spPr>
        <p:txBody>
          <a:bodyPr>
            <a:normAutofit fontScale="90000"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How to Build and Export a Wireframe in Miro: A Step-by-Step Guide</a:t>
            </a:r>
          </a:p>
        </p:txBody>
      </p:sp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CC0DA75D-765E-B770-627B-9FADC35100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3" t="14199" r="5617" b="41126"/>
          <a:stretch/>
        </p:blipFill>
        <p:spPr bwMode="auto">
          <a:xfrm>
            <a:off x="1876301" y="5396095"/>
            <a:ext cx="10315699" cy="306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583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6E86F-6E2B-7248-C998-235DAAE5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246B79-EE63-2965-927A-2F21A9AA7936}"/>
              </a:ext>
            </a:extLst>
          </p:cNvPr>
          <p:cNvSpPr txBox="1"/>
          <p:nvPr/>
        </p:nvSpPr>
        <p:spPr>
          <a:xfrm>
            <a:off x="494805" y="1600200"/>
            <a:ext cx="1150718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Step 2: Search for Wireframe Templates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the search bar within the template selection panel and type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"wireframe"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Review the results for various wireframe templates tailored for app, website, or generic sketching needs.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 the template you wish to use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(e.g., "Website Wireframing").</a:t>
            </a:r>
          </a:p>
        </p:txBody>
      </p:sp>
      <p:sp>
        <p:nvSpPr>
          <p:cNvPr id="2" name="AutoShape 2" descr="Uploaded image">
            <a:extLst>
              <a:ext uri="{FF2B5EF4-FFF2-40B4-BE49-F238E27FC236}">
                <a16:creationId xmlns:a16="http://schemas.microsoft.com/office/drawing/2014/main" id="{5EE743B9-A27F-9C79-4F10-20EDD9D1F0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EFE9B0-AE25-1CE5-CF13-F2CCF9B102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49" t="26667" r="21331" b="29264"/>
          <a:stretch/>
        </p:blipFill>
        <p:spPr>
          <a:xfrm>
            <a:off x="5410804" y="5435930"/>
            <a:ext cx="6781197" cy="3022270"/>
          </a:xfrm>
          <a:prstGeom prst="rect">
            <a:avLst/>
          </a:prstGeom>
        </p:spPr>
      </p:pic>
      <p:sp>
        <p:nvSpPr>
          <p:cNvPr id="4" name="Title 22">
            <a:extLst>
              <a:ext uri="{FF2B5EF4-FFF2-40B4-BE49-F238E27FC236}">
                <a16:creationId xmlns:a16="http://schemas.microsoft.com/office/drawing/2014/main" id="{F19ADFB9-344D-A383-0AAE-BAB3AF51B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529378"/>
          </a:xfrm>
        </p:spPr>
        <p:txBody>
          <a:bodyPr>
            <a:normAutofit fontScale="90000"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How to Build and Export a Wireframe in Miro: A Step-by-Step Guide</a:t>
            </a:r>
          </a:p>
        </p:txBody>
      </p:sp>
    </p:spTree>
    <p:extLst>
      <p:ext uri="{BB962C8B-B14F-4D97-AF65-F5344CB8AC3E}">
        <p14:creationId xmlns:p14="http://schemas.microsoft.com/office/powerpoint/2010/main" val="2011786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ABEA1-2A87-B350-C16A-589596BC7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C22CA5-EDC0-66C5-E08E-8E80C60817A0}"/>
              </a:ext>
            </a:extLst>
          </p:cNvPr>
          <p:cNvSpPr txBox="1"/>
          <p:nvPr/>
        </p:nvSpPr>
        <p:spPr>
          <a:xfrm>
            <a:off x="342406" y="2588875"/>
            <a:ext cx="1150718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Step 3: Choose and Apply a Template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Click on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"Use Template"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to start editing the wireframe.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Miro will open the selected template on a new board.</a:t>
            </a:r>
          </a:p>
        </p:txBody>
      </p:sp>
      <p:sp>
        <p:nvSpPr>
          <p:cNvPr id="2" name="AutoShape 2" descr="Uploaded image">
            <a:extLst>
              <a:ext uri="{FF2B5EF4-FFF2-40B4-BE49-F238E27FC236}">
                <a16:creationId xmlns:a16="http://schemas.microsoft.com/office/drawing/2014/main" id="{5B8250B5-9104-A239-97AE-4E78D5F276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BA0468-B6B6-7482-89D5-D79DD81C26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15" t="34797" r="22887" b="29106"/>
          <a:stretch/>
        </p:blipFill>
        <p:spPr>
          <a:xfrm>
            <a:off x="2085278" y="4636546"/>
            <a:ext cx="10106722" cy="3821655"/>
          </a:xfrm>
          <a:prstGeom prst="rect">
            <a:avLst/>
          </a:prstGeom>
        </p:spPr>
      </p:pic>
      <p:sp>
        <p:nvSpPr>
          <p:cNvPr id="4" name="Title 22">
            <a:extLst>
              <a:ext uri="{FF2B5EF4-FFF2-40B4-BE49-F238E27FC236}">
                <a16:creationId xmlns:a16="http://schemas.microsoft.com/office/drawing/2014/main" id="{48944378-37C1-BABD-3FE3-DA68C3000A2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842171" cy="529378"/>
          </a:xfrm>
          <a:prstGeom prst="rect">
            <a:avLst/>
          </a:prstGeom>
        </p:spPr>
        <p:txBody>
          <a:bodyPr wrap="square" lIns="0" tIns="0" rIns="0" bIns="0" anchor="b">
            <a:normAutofit fontScale="90000"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How to Build and Export a Wireframe in Miro: A Step-by-Step Guide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71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54333-97F1-5F1A-7556-254D7902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6B99DE-541D-8D62-DDD9-F7B65322ABDD}"/>
              </a:ext>
            </a:extLst>
          </p:cNvPr>
          <p:cNvSpPr txBox="1"/>
          <p:nvPr/>
        </p:nvSpPr>
        <p:spPr>
          <a:xfrm>
            <a:off x="342406" y="2588875"/>
            <a:ext cx="1150718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Step 4: Create a Shared Board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Upon starting the template, you might see a dialog prompting you to create a shared board.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Click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"Create a Shared Board"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(note: shared boards are accessible to all team members on 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Free Plan).</a:t>
            </a:r>
          </a:p>
        </p:txBody>
      </p:sp>
      <p:sp>
        <p:nvSpPr>
          <p:cNvPr id="2" name="AutoShape 2" descr="Uploaded image">
            <a:extLst>
              <a:ext uri="{FF2B5EF4-FFF2-40B4-BE49-F238E27FC236}">
                <a16:creationId xmlns:a16="http://schemas.microsoft.com/office/drawing/2014/main" id="{9E1A1975-6059-E0A5-94D2-98E3215DE3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764B3-059E-7388-E872-BA67278523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40" t="27155" r="21250" b="30732"/>
          <a:stretch/>
        </p:blipFill>
        <p:spPr>
          <a:xfrm>
            <a:off x="4482790" y="5174177"/>
            <a:ext cx="7709210" cy="3284023"/>
          </a:xfrm>
          <a:prstGeom prst="rect">
            <a:avLst/>
          </a:prstGeom>
        </p:spPr>
      </p:pic>
      <p:sp>
        <p:nvSpPr>
          <p:cNvPr id="4" name="Title 22">
            <a:extLst>
              <a:ext uri="{FF2B5EF4-FFF2-40B4-BE49-F238E27FC236}">
                <a16:creationId xmlns:a16="http://schemas.microsoft.com/office/drawing/2014/main" id="{564871CD-9FFB-BAEA-15C2-1D515917433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842171" cy="529378"/>
          </a:xfrm>
          <a:prstGeom prst="rect">
            <a:avLst/>
          </a:prstGeom>
        </p:spPr>
        <p:txBody>
          <a:bodyPr wrap="square" lIns="0" tIns="0" rIns="0" bIns="0" anchor="b">
            <a:normAutofit fontScale="90000"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How to Build and Export a Wireframe in Miro: A Step-by-Step Guide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799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E7D4E-39B7-D3BA-8165-EE54B2E5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89D833-D296-CAFB-4BB1-9C47C4A9B1DC}"/>
              </a:ext>
            </a:extLst>
          </p:cNvPr>
          <p:cNvSpPr txBox="1"/>
          <p:nvPr/>
        </p:nvSpPr>
        <p:spPr>
          <a:xfrm>
            <a:off x="342406" y="2566574"/>
            <a:ext cx="1150718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Step 5: Navigate and Zoom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the zoom controls on the right or your mouse/trackpad to zoom in and out of the wireframe.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Explore different sections or elements of the wireframe.</a:t>
            </a:r>
          </a:p>
        </p:txBody>
      </p:sp>
      <p:sp>
        <p:nvSpPr>
          <p:cNvPr id="2" name="AutoShape 2" descr="Uploaded image">
            <a:extLst>
              <a:ext uri="{FF2B5EF4-FFF2-40B4-BE49-F238E27FC236}">
                <a16:creationId xmlns:a16="http://schemas.microsoft.com/office/drawing/2014/main" id="{95D80236-C76A-D5BF-DFCD-B266B97173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FB8B50-01DA-7973-01E8-DD61BD1AA2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88" t="30244" r="20335" b="17724"/>
          <a:stretch/>
        </p:blipFill>
        <p:spPr>
          <a:xfrm>
            <a:off x="5258990" y="5029200"/>
            <a:ext cx="6933010" cy="3429000"/>
          </a:xfrm>
          <a:prstGeom prst="rect">
            <a:avLst/>
          </a:prstGeom>
        </p:spPr>
      </p:pic>
      <p:sp>
        <p:nvSpPr>
          <p:cNvPr id="8" name="Title 22">
            <a:extLst>
              <a:ext uri="{FF2B5EF4-FFF2-40B4-BE49-F238E27FC236}">
                <a16:creationId xmlns:a16="http://schemas.microsoft.com/office/drawing/2014/main" id="{0E3F179F-4A5D-9971-D32A-A35705244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529378"/>
          </a:xfrm>
        </p:spPr>
        <p:txBody>
          <a:bodyPr>
            <a:normAutofit fontScale="90000"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How to Build and Export a Wireframe in Miro: A Step-by-Step Guide</a:t>
            </a:r>
          </a:p>
        </p:txBody>
      </p:sp>
    </p:spTree>
    <p:extLst>
      <p:ext uri="{BB962C8B-B14F-4D97-AF65-F5344CB8AC3E}">
        <p14:creationId xmlns:p14="http://schemas.microsoft.com/office/powerpoint/2010/main" val="3282782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C6E48-8776-0FCC-F549-1324C2CD6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006BFA-FF82-52C8-2895-F7AB5A365CBD}"/>
              </a:ext>
            </a:extLst>
          </p:cNvPr>
          <p:cNvSpPr txBox="1"/>
          <p:nvPr/>
        </p:nvSpPr>
        <p:spPr>
          <a:xfrm>
            <a:off x="342406" y="2566573"/>
            <a:ext cx="1150718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Step 6: Work Across Multiple Device Frames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Many templates include pre-made layouts for desktop, tablet, and smartphone.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Identify the section for the desired device frame 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(e.g., the left for desktop, the center for tablet, and 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right for smartphone).</a:t>
            </a:r>
          </a:p>
        </p:txBody>
      </p:sp>
      <p:sp>
        <p:nvSpPr>
          <p:cNvPr id="2" name="AutoShape 2" descr="Uploaded image">
            <a:extLst>
              <a:ext uri="{FF2B5EF4-FFF2-40B4-BE49-F238E27FC236}">
                <a16:creationId xmlns:a16="http://schemas.microsoft.com/office/drawing/2014/main" id="{1EC2724A-B34A-8F0F-43B9-C4305B02AC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9762B-ADFE-7C35-3F8E-8984551C22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2" t="29756" r="38445" b="19675"/>
          <a:stretch/>
        </p:blipFill>
        <p:spPr>
          <a:xfrm>
            <a:off x="8530684" y="3866793"/>
            <a:ext cx="3661317" cy="4591408"/>
          </a:xfrm>
          <a:prstGeom prst="rect">
            <a:avLst/>
          </a:prstGeom>
        </p:spPr>
      </p:pic>
      <p:sp>
        <p:nvSpPr>
          <p:cNvPr id="8" name="Title 22">
            <a:extLst>
              <a:ext uri="{FF2B5EF4-FFF2-40B4-BE49-F238E27FC236}">
                <a16:creationId xmlns:a16="http://schemas.microsoft.com/office/drawing/2014/main" id="{109316A7-6995-E392-6B5D-552B7D912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529378"/>
          </a:xfrm>
        </p:spPr>
        <p:txBody>
          <a:bodyPr>
            <a:normAutofit fontScale="90000"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How to Build and Export a Wireframe in Miro: A Step-by-Step Guide</a:t>
            </a:r>
          </a:p>
        </p:txBody>
      </p:sp>
    </p:spTree>
    <p:extLst>
      <p:ext uri="{BB962C8B-B14F-4D97-AF65-F5344CB8AC3E}">
        <p14:creationId xmlns:p14="http://schemas.microsoft.com/office/powerpoint/2010/main" val="543166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350F6-F85E-EFB2-CC97-7AE086A0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DD09C6-12BB-9E73-7704-C9614566C1A0}"/>
              </a:ext>
            </a:extLst>
          </p:cNvPr>
          <p:cNvSpPr txBox="1"/>
          <p:nvPr/>
        </p:nvSpPr>
        <p:spPr>
          <a:xfrm>
            <a:off x="342406" y="2566573"/>
            <a:ext cx="1150718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Step 7: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Group and Create Frames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all objects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a device layout by dragging a selection box around them.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Click on the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ellipsis menu ("...")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then choose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"Create Frame"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Rename the frame (e.g., </a:t>
            </a:r>
            <a:b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"Desktop") by selecting the </a:t>
            </a:r>
            <a:b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frame and editing its title in</a:t>
            </a:r>
            <a:b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bottom-left panel. </a:t>
            </a:r>
          </a:p>
        </p:txBody>
      </p:sp>
      <p:sp>
        <p:nvSpPr>
          <p:cNvPr id="2" name="AutoShape 2" descr="Uploaded image">
            <a:extLst>
              <a:ext uri="{FF2B5EF4-FFF2-40B4-BE49-F238E27FC236}">
                <a16:creationId xmlns:a16="http://schemas.microsoft.com/office/drawing/2014/main" id="{97BDEB36-94B6-2719-A6DF-E9E24CA33E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9FE0FE-1DF3-7149-D76A-C8C84F61BA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97" t="30244" r="20884" b="23902"/>
          <a:stretch/>
        </p:blipFill>
        <p:spPr>
          <a:xfrm>
            <a:off x="5032918" y="5313556"/>
            <a:ext cx="7159083" cy="3144644"/>
          </a:xfrm>
          <a:prstGeom prst="rect">
            <a:avLst/>
          </a:prstGeom>
        </p:spPr>
      </p:pic>
      <p:sp>
        <p:nvSpPr>
          <p:cNvPr id="7" name="Title 22">
            <a:extLst>
              <a:ext uri="{FF2B5EF4-FFF2-40B4-BE49-F238E27FC236}">
                <a16:creationId xmlns:a16="http://schemas.microsoft.com/office/drawing/2014/main" id="{8D2447BB-0C31-BACD-1A40-A21B0353A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529378"/>
          </a:xfrm>
        </p:spPr>
        <p:txBody>
          <a:bodyPr>
            <a:normAutofit fontScale="90000"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How to Build and Export a Wireframe in Miro: A Step-by-Step Guide</a:t>
            </a:r>
          </a:p>
        </p:txBody>
      </p:sp>
    </p:spTree>
    <p:extLst>
      <p:ext uri="{BB962C8B-B14F-4D97-AF65-F5344CB8AC3E}">
        <p14:creationId xmlns:p14="http://schemas.microsoft.com/office/powerpoint/2010/main" val="2175783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E21F2-2AEA-4820-2A81-8504CD3DC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B73036-B05C-455D-640E-7123A9A59278}"/>
              </a:ext>
            </a:extLst>
          </p:cNvPr>
          <p:cNvSpPr txBox="1"/>
          <p:nvPr/>
        </p:nvSpPr>
        <p:spPr>
          <a:xfrm>
            <a:off x="342406" y="2566574"/>
            <a:ext cx="1150718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Step 8: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Customize Individual Elements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any element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within the frame (e.g., text, buttons, shapes).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 the following: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Move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Drag elements to reposition.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Resize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Drag the corners to adjust the size.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Delete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Select the element and press "Delete" or </a:t>
            </a:r>
            <a:b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Delete option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from the menu.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Edit Text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Insert text, adjust font size, make it bold, </a:t>
            </a:r>
            <a:b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 customize its properties via the text editing toolbar.</a:t>
            </a:r>
          </a:p>
        </p:txBody>
      </p:sp>
      <p:sp>
        <p:nvSpPr>
          <p:cNvPr id="2" name="AutoShape 2" descr="Uploaded image">
            <a:extLst>
              <a:ext uri="{FF2B5EF4-FFF2-40B4-BE49-F238E27FC236}">
                <a16:creationId xmlns:a16="http://schemas.microsoft.com/office/drawing/2014/main" id="{C997557A-D2C3-9364-711D-CE9A28D86E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D9FFAE-2ADD-C970-345A-9FFC3C9AD0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19" t="30894" r="45305" b="22277"/>
          <a:stretch/>
        </p:blipFill>
        <p:spPr>
          <a:xfrm>
            <a:off x="9177920" y="4111768"/>
            <a:ext cx="3014080" cy="4297303"/>
          </a:xfrm>
          <a:prstGeom prst="rect">
            <a:avLst/>
          </a:prstGeom>
        </p:spPr>
      </p:pic>
      <p:sp>
        <p:nvSpPr>
          <p:cNvPr id="8" name="Title 22">
            <a:extLst>
              <a:ext uri="{FF2B5EF4-FFF2-40B4-BE49-F238E27FC236}">
                <a16:creationId xmlns:a16="http://schemas.microsoft.com/office/drawing/2014/main" id="{6B60E717-58F8-F0C6-FF15-A1DE8118B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529378"/>
          </a:xfrm>
        </p:spPr>
        <p:txBody>
          <a:bodyPr>
            <a:normAutofit fontScale="90000"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How to Build and Export a Wireframe in Miro: A Step-by-Step Guide</a:t>
            </a:r>
          </a:p>
        </p:txBody>
      </p:sp>
    </p:spTree>
    <p:extLst>
      <p:ext uri="{BB962C8B-B14F-4D97-AF65-F5344CB8AC3E}">
        <p14:creationId xmlns:p14="http://schemas.microsoft.com/office/powerpoint/2010/main" val="3241426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80C6-DCD1-FC27-8020-F323EDD0B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D6B7AF-B4E0-B573-EDA7-B646C5EDA54F}"/>
              </a:ext>
            </a:extLst>
          </p:cNvPr>
          <p:cNvSpPr txBox="1"/>
          <p:nvPr/>
        </p:nvSpPr>
        <p:spPr>
          <a:xfrm>
            <a:off x="342406" y="2566573"/>
            <a:ext cx="1150718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Step 9: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Fine-Tune and Share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Customize the wireframe by adjusting design elements and aligning them to your goals.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your board with teammates by clicking the </a:t>
            </a:r>
            <a:b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"Share"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button at the top right and configuring </a:t>
            </a:r>
            <a:b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 permissions. </a:t>
            </a:r>
          </a:p>
        </p:txBody>
      </p:sp>
      <p:sp>
        <p:nvSpPr>
          <p:cNvPr id="2" name="AutoShape 2" descr="Uploaded image">
            <a:extLst>
              <a:ext uri="{FF2B5EF4-FFF2-40B4-BE49-F238E27FC236}">
                <a16:creationId xmlns:a16="http://schemas.microsoft.com/office/drawing/2014/main" id="{1423BC75-781E-6279-F4C2-24DAB39EA9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48AF7C-1EED-E6A2-70AC-82E95DF49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28" t="29741" r="43384" b="22764"/>
          <a:stretch/>
        </p:blipFill>
        <p:spPr>
          <a:xfrm>
            <a:off x="8664499" y="3838986"/>
            <a:ext cx="3527502" cy="4599789"/>
          </a:xfrm>
          <a:prstGeom prst="rect">
            <a:avLst/>
          </a:prstGeom>
        </p:spPr>
      </p:pic>
      <p:sp>
        <p:nvSpPr>
          <p:cNvPr id="7" name="Title 22">
            <a:extLst>
              <a:ext uri="{FF2B5EF4-FFF2-40B4-BE49-F238E27FC236}">
                <a16:creationId xmlns:a16="http://schemas.microsoft.com/office/drawing/2014/main" id="{D8AC2195-6351-17E8-4294-D8C784288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529378"/>
          </a:xfrm>
        </p:spPr>
        <p:txBody>
          <a:bodyPr>
            <a:normAutofit fontScale="90000"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How to Build and Export a Wireframe in Miro: A Step-by-Step Guide</a:t>
            </a:r>
          </a:p>
        </p:txBody>
      </p:sp>
    </p:spTree>
    <p:extLst>
      <p:ext uri="{BB962C8B-B14F-4D97-AF65-F5344CB8AC3E}">
        <p14:creationId xmlns:p14="http://schemas.microsoft.com/office/powerpoint/2010/main" val="859054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F1F34-CC57-CC34-AEA8-AB6627840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D8F225-EE5C-BF41-8128-AFD9E047F3E9}"/>
              </a:ext>
            </a:extLst>
          </p:cNvPr>
          <p:cNvSpPr txBox="1"/>
          <p:nvPr/>
        </p:nvSpPr>
        <p:spPr>
          <a:xfrm>
            <a:off x="342406" y="2566573"/>
            <a:ext cx="1150718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Step 10: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Add Components to Your Wireframe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 the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"Wireframes"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on the left-hand side.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desired components such as a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search bar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buttons, text fields, or other UI elements.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Drag and drop the chosen components onto </a:t>
            </a:r>
            <a:b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wireframe.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Customize these components by resizing, </a:t>
            </a:r>
            <a:b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editing text, or repositioning as needed. </a:t>
            </a:r>
          </a:p>
        </p:txBody>
      </p:sp>
      <p:sp>
        <p:nvSpPr>
          <p:cNvPr id="2" name="AutoShape 2" descr="Uploaded image">
            <a:extLst>
              <a:ext uri="{FF2B5EF4-FFF2-40B4-BE49-F238E27FC236}">
                <a16:creationId xmlns:a16="http://schemas.microsoft.com/office/drawing/2014/main" id="{3F7D44CF-8F03-D462-DDAE-50D46D5EF8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586F5B-7FBF-35E9-A567-304BADEC1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54" t="30733" r="41097" b="19564"/>
          <a:stretch/>
        </p:blipFill>
        <p:spPr>
          <a:xfrm>
            <a:off x="7553094" y="5029200"/>
            <a:ext cx="4638907" cy="3408628"/>
          </a:xfrm>
          <a:prstGeom prst="rect">
            <a:avLst/>
          </a:prstGeom>
        </p:spPr>
      </p:pic>
      <p:sp>
        <p:nvSpPr>
          <p:cNvPr id="8" name="Title 22">
            <a:extLst>
              <a:ext uri="{FF2B5EF4-FFF2-40B4-BE49-F238E27FC236}">
                <a16:creationId xmlns:a16="http://schemas.microsoft.com/office/drawing/2014/main" id="{1298CD5E-3EF2-868D-8EAF-9F3DE8B68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529378"/>
          </a:xfrm>
        </p:spPr>
        <p:txBody>
          <a:bodyPr>
            <a:normAutofit fontScale="90000"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How to Build and Export a Wireframe in Miro: A Step-by-Step Guide</a:t>
            </a:r>
          </a:p>
        </p:txBody>
      </p:sp>
    </p:spTree>
    <p:extLst>
      <p:ext uri="{BB962C8B-B14F-4D97-AF65-F5344CB8AC3E}">
        <p14:creationId xmlns:p14="http://schemas.microsoft.com/office/powerpoint/2010/main" val="3944903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6DCEA-D703-83D7-0360-F2024DD1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F2B445-18E0-2632-DDDB-12C3C5AFD0E0}"/>
              </a:ext>
            </a:extLst>
          </p:cNvPr>
          <p:cNvSpPr txBox="1"/>
          <p:nvPr/>
        </p:nvSpPr>
        <p:spPr>
          <a:xfrm>
            <a:off x="342406" y="1969372"/>
            <a:ext cx="11507189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Step 11: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Save and Export Your Wireframe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Once you’ve completed your wireframe, navigate to the top-right corner and click on the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"Share"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or menu options.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Select either: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"Save as Image"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to download the wireframe as a PNG or JPEG file.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"Save as PDF"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to export the wireframe in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PDF format.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Choose the desired option, confirm settings,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and download your file for sharing or further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use.</a:t>
            </a:r>
          </a:p>
        </p:txBody>
      </p:sp>
      <p:sp>
        <p:nvSpPr>
          <p:cNvPr id="2" name="AutoShape 2" descr="Uploaded image">
            <a:extLst>
              <a:ext uri="{FF2B5EF4-FFF2-40B4-BE49-F238E27FC236}">
                <a16:creationId xmlns:a16="http://schemas.microsoft.com/office/drawing/2014/main" id="{6AA9E31E-A6DC-7D2F-71B3-E648F9D7C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93E189-E276-362A-51FE-1115AE80A5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88" t="30243" r="39542" b="27643"/>
          <a:stretch/>
        </p:blipFill>
        <p:spPr>
          <a:xfrm>
            <a:off x="7488251" y="5670395"/>
            <a:ext cx="4703749" cy="2787805"/>
          </a:xfrm>
          <a:prstGeom prst="rect">
            <a:avLst/>
          </a:prstGeom>
        </p:spPr>
      </p:pic>
      <p:sp>
        <p:nvSpPr>
          <p:cNvPr id="4" name="Title 22">
            <a:extLst>
              <a:ext uri="{FF2B5EF4-FFF2-40B4-BE49-F238E27FC236}">
                <a16:creationId xmlns:a16="http://schemas.microsoft.com/office/drawing/2014/main" id="{A89F8DAF-16F5-6CD4-5A99-29CE3F829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529378"/>
          </a:xfrm>
        </p:spPr>
        <p:txBody>
          <a:bodyPr>
            <a:normAutofit fontScale="90000"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How to Build and Export a Wireframe in Miro: A Step-by-Step Guide</a:t>
            </a:r>
          </a:p>
        </p:txBody>
      </p:sp>
    </p:spTree>
    <p:extLst>
      <p:ext uri="{BB962C8B-B14F-4D97-AF65-F5344CB8AC3E}">
        <p14:creationId xmlns:p14="http://schemas.microsoft.com/office/powerpoint/2010/main" val="3122709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E943A-2857-E877-DFE3-409D11FF0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A1019-BFE8-D139-9860-68400E6F46A7}"/>
              </a:ext>
            </a:extLst>
          </p:cNvPr>
          <p:cNvSpPr txBox="1"/>
          <p:nvPr/>
        </p:nvSpPr>
        <p:spPr>
          <a:xfrm>
            <a:off x="342406" y="2593841"/>
            <a:ext cx="1150718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This concludes the process for creating and exporting a wireframe using Miro. If you have any questions or need specific help with a feature, please feel free to ask!</a:t>
            </a:r>
          </a:p>
        </p:txBody>
      </p:sp>
      <p:sp>
        <p:nvSpPr>
          <p:cNvPr id="2" name="AutoShape 2" descr="Uploaded image">
            <a:extLst>
              <a:ext uri="{FF2B5EF4-FFF2-40B4-BE49-F238E27FC236}">
                <a16:creationId xmlns:a16="http://schemas.microsoft.com/office/drawing/2014/main" id="{9F48039C-4BA2-5E17-2CF9-C75A0A261F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54F127DC-799A-D1AA-5804-9F5F3769B7F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842171" cy="529378"/>
          </a:xfrm>
          <a:prstGeom prst="rect">
            <a:avLst/>
          </a:prstGeom>
        </p:spPr>
        <p:txBody>
          <a:bodyPr wrap="square" lIns="0" tIns="0" rIns="0" bIns="0" anchor="b">
            <a:normAutofit fontScale="90000"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How to Build and Export a Wireframe in Miro: A Step-by-Step Guide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835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E963F-FDEE-EB6E-3542-A12C8612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41026-0D98-D822-B09B-350FD687908B}"/>
              </a:ext>
            </a:extLst>
          </p:cNvPr>
          <p:cNvSpPr txBox="1"/>
          <p:nvPr/>
        </p:nvSpPr>
        <p:spPr>
          <a:xfrm>
            <a:off x="213756" y="2657106"/>
            <a:ext cx="1150718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Download and Install: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Ensure </a:t>
            </a:r>
            <a:r>
              <a:rPr lang="en-US" alt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InVision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Studio 2018 or newer is installed on your system.</a:t>
            </a:r>
          </a:p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a New Project: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Start by clicking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"New Project"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setting your artboard dimensions suitable for the intended platform (e.g., mobile, tablet, or desktop).</a:t>
            </a:r>
          </a:p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Understand the Interface: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Familiarize yourself with the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Layers Panel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Inspector Panel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 the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Toolbar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managing components. 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10488FF1-41BE-124D-CDBF-ADE2459D4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7446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Setting Up </a:t>
            </a:r>
            <a:r>
              <a:rPr lang="en-US" sz="3300" dirty="0" err="1">
                <a:latin typeface="Calibri" panose="020F0502020204030204" pitchFamily="34" charset="0"/>
                <a:cs typeface="Calibri" panose="020F0502020204030204" pitchFamily="34" charset="0"/>
              </a:rPr>
              <a:t>InVision</a:t>
            </a:r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 Studio 2018 or newer</a:t>
            </a:r>
          </a:p>
        </p:txBody>
      </p:sp>
    </p:spTree>
    <p:extLst>
      <p:ext uri="{BB962C8B-B14F-4D97-AF65-F5344CB8AC3E}">
        <p14:creationId xmlns:p14="http://schemas.microsoft.com/office/powerpoint/2010/main" val="2099628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6658-4DDE-6434-5CCE-395B783B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4AC27F-917D-9EAF-8323-FF8F2F97F1E4}"/>
              </a:ext>
            </a:extLst>
          </p:cNvPr>
          <p:cNvSpPr txBox="1"/>
          <p:nvPr/>
        </p:nvSpPr>
        <p:spPr>
          <a:xfrm>
            <a:off x="213755" y="2657106"/>
            <a:ext cx="11649694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General Approach for All Projects: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Sketch the Layout: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Define the sections (e.g., navigation, charts, buttons).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Focus on user experience and ease of navigation.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9F8957A1-7D9E-E18C-6037-6AF370B62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Designing the Dashboard Layout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5553E-169E-E8B9-DC6C-84AB7D77A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38" t="28918" r="17792" b="23463"/>
          <a:stretch/>
        </p:blipFill>
        <p:spPr>
          <a:xfrm>
            <a:off x="4283034" y="5192486"/>
            <a:ext cx="7908966" cy="3265715"/>
          </a:xfrm>
          <a:prstGeom prst="rect">
            <a:avLst/>
          </a:prstGeom>
        </p:spPr>
      </p:pic>
      <p:sp>
        <p:nvSpPr>
          <p:cNvPr id="2" name="Title 22">
            <a:extLst>
              <a:ext uri="{FF2B5EF4-FFF2-40B4-BE49-F238E27FC236}">
                <a16:creationId xmlns:a16="http://schemas.microsoft.com/office/drawing/2014/main" id="{95E0380B-428A-C61F-2C25-3955AE5CD86A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827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D5469-F1CF-F175-1333-9DF01738D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3A08F2-3D12-2616-FF39-8A7B01D5CE99}"/>
              </a:ext>
            </a:extLst>
          </p:cNvPr>
          <p:cNvSpPr txBox="1"/>
          <p:nvPr/>
        </p:nvSpPr>
        <p:spPr>
          <a:xfrm>
            <a:off x="213756" y="2657105"/>
            <a:ext cx="1150718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Use Artboards for Structure: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Create multiple artboards for different states/screens (e.g., dashboard, settings page, detail view).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8573EE7-C8A9-B85B-611A-74346A80D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Designing the Dashboard Layout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05B52-DC27-33F3-16D7-BBCEED886A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79" t="27359" r="17500" b="23118"/>
          <a:stretch/>
        </p:blipFill>
        <p:spPr>
          <a:xfrm>
            <a:off x="6800604" y="5078282"/>
            <a:ext cx="5391397" cy="3396343"/>
          </a:xfrm>
          <a:prstGeom prst="rect">
            <a:avLst/>
          </a:prstGeom>
        </p:spPr>
      </p:pic>
      <p:sp>
        <p:nvSpPr>
          <p:cNvPr id="2" name="Title 22">
            <a:extLst>
              <a:ext uri="{FF2B5EF4-FFF2-40B4-BE49-F238E27FC236}">
                <a16:creationId xmlns:a16="http://schemas.microsoft.com/office/drawing/2014/main" id="{AC393F26-3EDC-B5AD-B812-43D40B6A42F7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772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DBBAA-6A43-FE8A-8ED3-E0533967D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3A0317-4782-6DD3-CD9B-794950C1D40F}"/>
              </a:ext>
            </a:extLst>
          </p:cNvPr>
          <p:cNvSpPr txBox="1"/>
          <p:nvPr/>
        </p:nvSpPr>
        <p:spPr>
          <a:xfrm>
            <a:off x="213756" y="2657106"/>
            <a:ext cx="1150718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Design Hierarchical Layers: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Organize elements into groups like headers, buttons, charts, etc.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67A0BEDC-6A3D-7C46-A87C-6EDDAF530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Designing the Dashboard Layout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1E27BC-2962-5B92-AEBE-A1A08E0D09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27" t="30304" r="18864" b="23981"/>
          <a:stretch/>
        </p:blipFill>
        <p:spPr>
          <a:xfrm>
            <a:off x="4461164" y="5323114"/>
            <a:ext cx="7730836" cy="3135086"/>
          </a:xfrm>
          <a:prstGeom prst="rect">
            <a:avLst/>
          </a:prstGeom>
        </p:spPr>
      </p:pic>
      <p:sp>
        <p:nvSpPr>
          <p:cNvPr id="2" name="Title 22">
            <a:extLst>
              <a:ext uri="{FF2B5EF4-FFF2-40B4-BE49-F238E27FC236}">
                <a16:creationId xmlns:a16="http://schemas.microsoft.com/office/drawing/2014/main" id="{272199C4-BD90-D5FB-58E1-B29DC1C56F74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122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9A4C-E0E5-B766-31A8-3C90F1C11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0F5252-7B56-E59C-2391-E07A2EC0C21D}"/>
              </a:ext>
            </a:extLst>
          </p:cNvPr>
          <p:cNvSpPr txBox="1"/>
          <p:nvPr/>
        </p:nvSpPr>
        <p:spPr>
          <a:xfrm>
            <a:off x="213756" y="2657105"/>
            <a:ext cx="1150718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Restaurant Management System: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Add a sidebar for managing tables, orders, and staff.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Create dynamic visualizations for daily sales and occupancy.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CB5BEF0E-02C6-CF68-45FF-F337F84F1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Project-Specific Considerations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799C6-0772-81F0-3188-750C075F8A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2" t="29956" r="17304" b="23637"/>
          <a:stretch/>
        </p:blipFill>
        <p:spPr>
          <a:xfrm>
            <a:off x="4294910" y="5275614"/>
            <a:ext cx="7897091" cy="3182587"/>
          </a:xfrm>
          <a:prstGeom prst="rect">
            <a:avLst/>
          </a:prstGeom>
        </p:spPr>
      </p:pic>
      <p:sp>
        <p:nvSpPr>
          <p:cNvPr id="2" name="Title 22">
            <a:extLst>
              <a:ext uri="{FF2B5EF4-FFF2-40B4-BE49-F238E27FC236}">
                <a16:creationId xmlns:a16="http://schemas.microsoft.com/office/drawing/2014/main" id="{7F264559-FDB7-6B02-3571-7758FA5DC1A2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552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5984E-2D27-74EA-BF2D-CAA638D97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70B8C3-5A1E-0C0C-CE54-40D051F3054C}"/>
              </a:ext>
            </a:extLst>
          </p:cNvPr>
          <p:cNvSpPr txBox="1"/>
          <p:nvPr/>
        </p:nvSpPr>
        <p:spPr>
          <a:xfrm>
            <a:off x="213756" y="2657105"/>
            <a:ext cx="1150718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Fitness Tracker: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Include progress charts for calories burned, goals, and activities.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interactive toggles for switching between different metrics.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7EAF0F0C-C9CE-50C0-EB1B-2D68B8D26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Project-Specific Considerations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87347-95D0-09B1-2D2B-C2212A2B7D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25" t="30476" r="17500" b="23290"/>
          <a:stretch/>
        </p:blipFill>
        <p:spPr>
          <a:xfrm>
            <a:off x="4306784" y="5287488"/>
            <a:ext cx="7885216" cy="3170712"/>
          </a:xfrm>
          <a:prstGeom prst="rect">
            <a:avLst/>
          </a:prstGeom>
        </p:spPr>
      </p:pic>
      <p:sp>
        <p:nvSpPr>
          <p:cNvPr id="2" name="Title 22">
            <a:extLst>
              <a:ext uri="{FF2B5EF4-FFF2-40B4-BE49-F238E27FC236}">
                <a16:creationId xmlns:a16="http://schemas.microsoft.com/office/drawing/2014/main" id="{81DE520D-EF12-5850-BEC3-14AC3914DAB8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466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3588D-D718-5B57-E2D2-D3030AFE8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C81CFB-2BC0-0E5A-06C3-CC52FBA018BA}"/>
              </a:ext>
            </a:extLst>
          </p:cNvPr>
          <p:cNvSpPr txBox="1"/>
          <p:nvPr/>
        </p:nvSpPr>
        <p:spPr>
          <a:xfrm>
            <a:off x="213756" y="2657105"/>
            <a:ext cx="1150718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Study Planner: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Incorporate a task calendar, daily summary, and notification center.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Highlight overdue tasks and upcoming deadlines.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E91B2BF9-06C4-4FFB-4B84-7EAD789A5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Project-Specific Considerations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C267C8-FA27-2CC8-4840-C9A7CE54A8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16" t="32035" r="29384" b="22423"/>
          <a:stretch/>
        </p:blipFill>
        <p:spPr>
          <a:xfrm>
            <a:off x="4524500" y="4716916"/>
            <a:ext cx="7667501" cy="3741285"/>
          </a:xfrm>
          <a:prstGeom prst="rect">
            <a:avLst/>
          </a:prstGeom>
        </p:spPr>
      </p:pic>
      <p:sp>
        <p:nvSpPr>
          <p:cNvPr id="2" name="Title 22">
            <a:extLst>
              <a:ext uri="{FF2B5EF4-FFF2-40B4-BE49-F238E27FC236}">
                <a16:creationId xmlns:a16="http://schemas.microsoft.com/office/drawing/2014/main" id="{8BDF7E01-0E93-4D39-4B32-8FC3EFF903E1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785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2E357-8BDA-6199-0DE7-2019CB853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F315B3-0E86-82D0-4CD0-A5CE239CB35F}"/>
              </a:ext>
            </a:extLst>
          </p:cNvPr>
          <p:cNvSpPr txBox="1"/>
          <p:nvPr/>
        </p:nvSpPr>
        <p:spPr>
          <a:xfrm>
            <a:off x="213756" y="2657105"/>
            <a:ext cx="1150718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Retail Management: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Design a dashboard with product inventory levels, sales insights, and customer feedback.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9A48B43B-DCEF-1E9C-5826-D23B372D8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Project-Specific Considerations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6DCE4-54DC-D7EE-16B4-9B2F7371B5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2" t="29784" r="17890" b="22770"/>
          <a:stretch/>
        </p:blipFill>
        <p:spPr>
          <a:xfrm>
            <a:off x="3637844" y="4901541"/>
            <a:ext cx="8554157" cy="3556660"/>
          </a:xfrm>
          <a:prstGeom prst="rect">
            <a:avLst/>
          </a:prstGeom>
        </p:spPr>
      </p:pic>
      <p:sp>
        <p:nvSpPr>
          <p:cNvPr id="2" name="Title 22">
            <a:extLst>
              <a:ext uri="{FF2B5EF4-FFF2-40B4-BE49-F238E27FC236}">
                <a16:creationId xmlns:a16="http://schemas.microsoft.com/office/drawing/2014/main" id="{BA067945-494F-78CD-CB6A-F97E9CED9A3B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547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7822-B73F-46E6-F215-30DE8EFA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465AF6-8ECE-1206-582F-831ADD0014B4}"/>
              </a:ext>
            </a:extLst>
          </p:cNvPr>
          <p:cNvSpPr txBox="1"/>
          <p:nvPr/>
        </p:nvSpPr>
        <p:spPr>
          <a:xfrm>
            <a:off x="213756" y="2657106"/>
            <a:ext cx="1150718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Typography and Icons: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the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Text Tool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to create headings and labels.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Add icons (e.g., from Material Design or Font Awesome) for user-friendly navigation.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67421CDE-7E8C-8F12-05A7-1D5828AA4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Adding Visual Elements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CA09BC-CE5F-DF22-F98C-A416100F9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76" t="25109" r="43604" b="17230"/>
          <a:stretch/>
        </p:blipFill>
        <p:spPr>
          <a:xfrm>
            <a:off x="10458202" y="4503718"/>
            <a:ext cx="1733798" cy="3954483"/>
          </a:xfrm>
          <a:prstGeom prst="rect">
            <a:avLst/>
          </a:prstGeom>
        </p:spPr>
      </p:pic>
      <p:sp>
        <p:nvSpPr>
          <p:cNvPr id="2" name="Title 22">
            <a:extLst>
              <a:ext uri="{FF2B5EF4-FFF2-40B4-BE49-F238E27FC236}">
                <a16:creationId xmlns:a16="http://schemas.microsoft.com/office/drawing/2014/main" id="{73CF6E76-2439-C424-ACFE-E3E71E466EB7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499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C8FF-AA84-F92C-D7C8-9DEFB54EC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41B478-91F8-7E49-4371-20BB0A4204B6}"/>
              </a:ext>
            </a:extLst>
          </p:cNvPr>
          <p:cNvSpPr txBox="1"/>
          <p:nvPr/>
        </p:nvSpPr>
        <p:spPr>
          <a:xfrm>
            <a:off x="213756" y="2657105"/>
            <a:ext cx="9524011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Shapes and Components: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the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Shape Tool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(rectangle, oval, etc.) to design buttons and charts.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Combine shapes for custom graphics (e.g., pie charts or line graphs).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5B09ADB5-0057-ABFE-FEA8-37CA07556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Adding Visual Elements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3C597-5CCD-5724-8624-65BCB3024B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70" t="25455" r="42533" b="17576"/>
          <a:stretch/>
        </p:blipFill>
        <p:spPr>
          <a:xfrm>
            <a:off x="9737766" y="3290902"/>
            <a:ext cx="2434442" cy="5167298"/>
          </a:xfrm>
          <a:prstGeom prst="rect">
            <a:avLst/>
          </a:prstGeom>
        </p:spPr>
      </p:pic>
      <p:sp>
        <p:nvSpPr>
          <p:cNvPr id="2" name="Title 22">
            <a:extLst>
              <a:ext uri="{FF2B5EF4-FFF2-40B4-BE49-F238E27FC236}">
                <a16:creationId xmlns:a16="http://schemas.microsoft.com/office/drawing/2014/main" id="{65F3E4AC-A3C2-31ED-1B15-A3D348EB8FE1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409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9164B-6C5D-F7D6-8268-279A5040F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26F3C2-D207-E646-3AA9-9773D7358ADC}"/>
              </a:ext>
            </a:extLst>
          </p:cNvPr>
          <p:cNvSpPr txBox="1"/>
          <p:nvPr/>
        </p:nvSpPr>
        <p:spPr>
          <a:xfrm>
            <a:off x="213756" y="2657105"/>
            <a:ext cx="1150718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Color and Style: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consistent colors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for branding.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Apply gradients and shadows for a modern look.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B0205135-84BA-BBAF-D278-E1FFFC1B7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Adding Visual Elements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AD12F8-78F2-6196-3212-2208B9E235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70" t="25455" r="42533" b="17576"/>
          <a:stretch/>
        </p:blipFill>
        <p:spPr>
          <a:xfrm>
            <a:off x="9737766" y="3290902"/>
            <a:ext cx="2434442" cy="5167298"/>
          </a:xfrm>
          <a:prstGeom prst="rect">
            <a:avLst/>
          </a:prstGeom>
        </p:spPr>
      </p:pic>
      <p:sp>
        <p:nvSpPr>
          <p:cNvPr id="4" name="Title 22">
            <a:extLst>
              <a:ext uri="{FF2B5EF4-FFF2-40B4-BE49-F238E27FC236}">
                <a16:creationId xmlns:a16="http://schemas.microsoft.com/office/drawing/2014/main" id="{59A308BC-6B17-EB17-9B81-DB3BD2B5401A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788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67F34-3701-505B-9632-413F4C4B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F3E92A-3DD8-9008-2A80-E8E7DD8807A3}"/>
              </a:ext>
            </a:extLst>
          </p:cNvPr>
          <p:cNvSpPr txBox="1"/>
          <p:nvPr/>
        </p:nvSpPr>
        <p:spPr>
          <a:xfrm>
            <a:off x="213756" y="2657105"/>
            <a:ext cx="9524011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Add Buttons and Actions: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Create buttons for navigation and set interactions (e.g., hover or click).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C06B2CA-E9E3-800F-6B33-8BFBE446B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Creating Interactive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35942-920F-C984-9875-8F41A7CAF6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70" t="25455" r="42533" b="17576"/>
          <a:stretch/>
        </p:blipFill>
        <p:spPr>
          <a:xfrm>
            <a:off x="9737766" y="3290902"/>
            <a:ext cx="2434442" cy="5167298"/>
          </a:xfrm>
          <a:prstGeom prst="rect">
            <a:avLst/>
          </a:prstGeom>
        </p:spPr>
      </p:pic>
      <p:sp>
        <p:nvSpPr>
          <p:cNvPr id="2" name="Title 22">
            <a:extLst>
              <a:ext uri="{FF2B5EF4-FFF2-40B4-BE49-F238E27FC236}">
                <a16:creationId xmlns:a16="http://schemas.microsoft.com/office/drawing/2014/main" id="{ACA3F488-F9EF-77EB-53DD-91B0F60D08EC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214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143A9-3E97-6B30-9C0B-BE13E468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4F80FD-9394-CCAE-90FB-4F99BBDA1154}"/>
              </a:ext>
            </a:extLst>
          </p:cNvPr>
          <p:cNvSpPr txBox="1"/>
          <p:nvPr/>
        </p:nvSpPr>
        <p:spPr>
          <a:xfrm>
            <a:off x="213756" y="2657105"/>
            <a:ext cx="1150718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Animate Transitions: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the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Prototype Mode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to connect artboards.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Add animations (e.g., slide-in menus, fade-in charts).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E735F267-F0CF-7868-2262-26C78D23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Creating Interactive Components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B9547D-F238-E4C8-CBA0-BFA01AAB7B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70" t="25455" r="42533" b="17576"/>
          <a:stretch/>
        </p:blipFill>
        <p:spPr>
          <a:xfrm>
            <a:off x="9737766" y="3290902"/>
            <a:ext cx="2434442" cy="5167298"/>
          </a:xfrm>
          <a:prstGeom prst="rect">
            <a:avLst/>
          </a:prstGeom>
        </p:spPr>
      </p:pic>
      <p:sp>
        <p:nvSpPr>
          <p:cNvPr id="4" name="Title 22">
            <a:extLst>
              <a:ext uri="{FF2B5EF4-FFF2-40B4-BE49-F238E27FC236}">
                <a16:creationId xmlns:a16="http://schemas.microsoft.com/office/drawing/2014/main" id="{22630DF9-A7C7-C38A-3E61-D16A026BAEA9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066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5DE0-9971-84E0-1B76-AC1A1D91D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E90663-1667-9348-6C7F-50EBC9A71126}"/>
              </a:ext>
            </a:extLst>
          </p:cNvPr>
          <p:cNvSpPr txBox="1"/>
          <p:nvPr/>
        </p:nvSpPr>
        <p:spPr>
          <a:xfrm>
            <a:off x="213756" y="2657105"/>
            <a:ext cx="9524011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Dynamic Data Representation: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layered groups for data-driven visuals, like bar or doughnut charts.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Define states to toggle between data sets (e.g., energy, time, money for fitness).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5B7F0341-1800-6990-1906-9909716B4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Creating Interactive Components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339A47-D27C-FBDE-F780-AD3270416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70" t="25455" r="42533" b="17576"/>
          <a:stretch/>
        </p:blipFill>
        <p:spPr>
          <a:xfrm>
            <a:off x="9737766" y="3290902"/>
            <a:ext cx="2434442" cy="5167298"/>
          </a:xfrm>
          <a:prstGeom prst="rect">
            <a:avLst/>
          </a:prstGeom>
        </p:spPr>
      </p:pic>
      <p:sp>
        <p:nvSpPr>
          <p:cNvPr id="4" name="Title 22">
            <a:extLst>
              <a:ext uri="{FF2B5EF4-FFF2-40B4-BE49-F238E27FC236}">
                <a16:creationId xmlns:a16="http://schemas.microsoft.com/office/drawing/2014/main" id="{B3C0EC0E-8235-918F-58C8-71CDDA1FACD4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8599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A370C-A383-A832-7A8D-2BF12BF46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A84816-0D84-388F-2ABA-0A1EEDC62794}"/>
              </a:ext>
            </a:extLst>
          </p:cNvPr>
          <p:cNvSpPr txBox="1"/>
          <p:nvPr/>
        </p:nvSpPr>
        <p:spPr>
          <a:xfrm>
            <a:off x="213756" y="2657105"/>
            <a:ext cx="9524011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 Screens: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 artboards to simulate user flow.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 Responsiveness: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Preview the design on various devices (mobile, tablet, desktop).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5A4BE79-F257-D2FC-39FC-2C1755868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Prototyping and 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987AF7-8A84-58CB-BF15-9C68603533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70" t="25455" r="42533" b="17576"/>
          <a:stretch/>
        </p:blipFill>
        <p:spPr>
          <a:xfrm>
            <a:off x="9737766" y="3290902"/>
            <a:ext cx="2434442" cy="5167298"/>
          </a:xfrm>
          <a:prstGeom prst="rect">
            <a:avLst/>
          </a:prstGeom>
        </p:spPr>
      </p:pic>
      <p:sp>
        <p:nvSpPr>
          <p:cNvPr id="2" name="Title 22">
            <a:extLst>
              <a:ext uri="{FF2B5EF4-FFF2-40B4-BE49-F238E27FC236}">
                <a16:creationId xmlns:a16="http://schemas.microsoft.com/office/drawing/2014/main" id="{22952B3A-59AF-B98D-EE98-6F81D7823AE5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558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2D371-A2F8-59F9-976E-4D1A54040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A55C84-E0C3-5F40-2112-AA445DB3400D}"/>
              </a:ext>
            </a:extLst>
          </p:cNvPr>
          <p:cNvSpPr txBox="1"/>
          <p:nvPr/>
        </p:nvSpPr>
        <p:spPr>
          <a:xfrm>
            <a:off x="213756" y="2657105"/>
            <a:ext cx="9524011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User Feedback: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Share prototypes with stakeholders for feedback using the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Share Link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feature.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B017F78F-ED78-49B5-9AD5-A90AD4C7C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Prototyping and Testing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1032A-0AE0-8F82-3A3F-CA4CB3958F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70" t="25455" r="42533" b="17576"/>
          <a:stretch/>
        </p:blipFill>
        <p:spPr>
          <a:xfrm>
            <a:off x="9737766" y="3290902"/>
            <a:ext cx="2434442" cy="5167298"/>
          </a:xfrm>
          <a:prstGeom prst="rect">
            <a:avLst/>
          </a:prstGeom>
        </p:spPr>
      </p:pic>
      <p:sp>
        <p:nvSpPr>
          <p:cNvPr id="4" name="Title 22">
            <a:extLst>
              <a:ext uri="{FF2B5EF4-FFF2-40B4-BE49-F238E27FC236}">
                <a16:creationId xmlns:a16="http://schemas.microsoft.com/office/drawing/2014/main" id="{A29D2D60-5FD9-EC00-C235-4B981E8A8950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1093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C4F6-BC46-757B-7553-D6471181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E8058-23B5-64B4-F7CA-7D77081E7914}"/>
              </a:ext>
            </a:extLst>
          </p:cNvPr>
          <p:cNvSpPr txBox="1"/>
          <p:nvPr/>
        </p:nvSpPr>
        <p:spPr>
          <a:xfrm>
            <a:off x="213756" y="2657105"/>
            <a:ext cx="9524011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Export Assets: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the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Export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panel to save designs as PNG, SVG, or other formats.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F24B4E49-58D3-756C-9B9C-2C905E129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Exporting and Finalizing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EC4EF6-A611-57D5-1977-B5C842F191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70" t="25455" r="42533" b="17576"/>
          <a:stretch/>
        </p:blipFill>
        <p:spPr>
          <a:xfrm>
            <a:off x="9737766" y="3290902"/>
            <a:ext cx="2434442" cy="5167298"/>
          </a:xfrm>
          <a:prstGeom prst="rect">
            <a:avLst/>
          </a:prstGeom>
        </p:spPr>
      </p:pic>
      <p:sp>
        <p:nvSpPr>
          <p:cNvPr id="4" name="Title 22">
            <a:extLst>
              <a:ext uri="{FF2B5EF4-FFF2-40B4-BE49-F238E27FC236}">
                <a16:creationId xmlns:a16="http://schemas.microsoft.com/office/drawing/2014/main" id="{9D76E827-8698-7E5A-A7D2-EEBE2917D5B0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58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F8C6C-80ED-63F0-8661-5191AE987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81CCF1-6CDE-1FC4-16FB-AE37F16AFEFD}"/>
              </a:ext>
            </a:extLst>
          </p:cNvPr>
          <p:cNvSpPr txBox="1"/>
          <p:nvPr/>
        </p:nvSpPr>
        <p:spPr>
          <a:xfrm>
            <a:off x="213756" y="2657105"/>
            <a:ext cx="1150718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Prepare for Development:</a:t>
            </a:r>
          </a:p>
          <a:p>
            <a:pPr marL="971550" lvl="1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Document interactions and transitions for developers.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Share the project file or a design system for consistency.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E9042DC-D5CF-0810-EF67-6E86E684D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Exporting and Finalizing</a:t>
            </a:r>
          </a:p>
        </p:txBody>
      </p:sp>
      <p:sp>
        <p:nvSpPr>
          <p:cNvPr id="2" name="Title 22">
            <a:extLst>
              <a:ext uri="{FF2B5EF4-FFF2-40B4-BE49-F238E27FC236}">
                <a16:creationId xmlns:a16="http://schemas.microsoft.com/office/drawing/2014/main" id="{7CB729A1-9DD5-BE24-0678-A209D13AD45F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559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F599-C75E-9417-490D-BCD2E048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42271C-3C6A-9B7A-0506-7B6E7B52EE14}"/>
              </a:ext>
            </a:extLst>
          </p:cNvPr>
          <p:cNvSpPr txBox="1"/>
          <p:nvPr/>
        </p:nvSpPr>
        <p:spPr>
          <a:xfrm>
            <a:off x="213756" y="2657105"/>
            <a:ext cx="1150718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Interactive Restaurant Management System: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Display orders dynamically with drag-and-drop features.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Add real-time kitchen status updates.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6F527D99-4097-402B-F4A1-9CC35629D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Examples for Inspiration</a:t>
            </a:r>
          </a:p>
        </p:txBody>
      </p:sp>
      <p:sp>
        <p:nvSpPr>
          <p:cNvPr id="2" name="Title 22">
            <a:extLst>
              <a:ext uri="{FF2B5EF4-FFF2-40B4-BE49-F238E27FC236}">
                <a16:creationId xmlns:a16="http://schemas.microsoft.com/office/drawing/2014/main" id="{78976926-B00A-2880-434A-39DF42F3D6FF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9333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F3CB6-22FA-B360-9E74-1417DC40E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CDD21D-4F09-CBB9-67E2-9A5A43CDC28A}"/>
              </a:ext>
            </a:extLst>
          </p:cNvPr>
          <p:cNvSpPr txBox="1"/>
          <p:nvPr/>
        </p:nvSpPr>
        <p:spPr>
          <a:xfrm>
            <a:off x="213756" y="2657106"/>
            <a:ext cx="1150718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Personalized Fitness Tracker: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Incorporate motivational progress bars and daily goals.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A22557A7-4BDF-9A5A-FF8D-BF5198E67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Examples for Inspiration</a:t>
            </a:r>
          </a:p>
        </p:txBody>
      </p:sp>
      <p:sp>
        <p:nvSpPr>
          <p:cNvPr id="2" name="Title 22">
            <a:extLst>
              <a:ext uri="{FF2B5EF4-FFF2-40B4-BE49-F238E27FC236}">
                <a16:creationId xmlns:a16="http://schemas.microsoft.com/office/drawing/2014/main" id="{ACBC819A-015C-4463-AACF-D9E13BD83281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245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3671D-13F4-82CC-BCD6-AB734524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2DDF14-FD2D-A1C3-BDFD-7452DC227FCA}"/>
              </a:ext>
            </a:extLst>
          </p:cNvPr>
          <p:cNvSpPr txBox="1"/>
          <p:nvPr/>
        </p:nvSpPr>
        <p:spPr>
          <a:xfrm>
            <a:off x="213756" y="2657106"/>
            <a:ext cx="1150718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Study Planner: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Highlight customizable task categories and completion statuses.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E20448E6-790E-38C6-70B6-872853F25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Examples for Inspiration</a:t>
            </a:r>
          </a:p>
        </p:txBody>
      </p:sp>
      <p:sp>
        <p:nvSpPr>
          <p:cNvPr id="2" name="Title 22">
            <a:extLst>
              <a:ext uri="{FF2B5EF4-FFF2-40B4-BE49-F238E27FC236}">
                <a16:creationId xmlns:a16="http://schemas.microsoft.com/office/drawing/2014/main" id="{E6031C84-F266-3B16-C5E7-7F78555E7C6B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0679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20380-BEA8-9228-B405-C06EAED4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275DD5-9590-052D-7442-FA1520794EF4}"/>
              </a:ext>
            </a:extLst>
          </p:cNvPr>
          <p:cNvSpPr txBox="1"/>
          <p:nvPr/>
        </p:nvSpPr>
        <p:spPr>
          <a:xfrm>
            <a:off x="213756" y="2657106"/>
            <a:ext cx="1150718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Interactive Retail Management System: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Create filters for sorting inventory and visual analytics.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6E8484B4-9422-1561-325E-CD0B9D6BE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0020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Examples for Inspiration</a:t>
            </a:r>
          </a:p>
        </p:txBody>
      </p:sp>
      <p:sp>
        <p:nvSpPr>
          <p:cNvPr id="2" name="Title 22">
            <a:extLst>
              <a:ext uri="{FF2B5EF4-FFF2-40B4-BE49-F238E27FC236}">
                <a16:creationId xmlns:a16="http://schemas.microsoft.com/office/drawing/2014/main" id="{6C277FD9-4196-0CB6-9D8E-C40EFE3296DF}"/>
              </a:ext>
            </a:extLst>
          </p:cNvPr>
          <p:cNvSpPr txBox="1">
            <a:spLocks/>
          </p:cNvSpPr>
          <p:nvPr/>
        </p:nvSpPr>
        <p:spPr>
          <a:xfrm>
            <a:off x="0" y="47446"/>
            <a:ext cx="10842171" cy="60024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algn="ctr">
              <a:defRPr sz="60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3300">
                <a:latin typeface="Calibri" panose="020F0502020204030204" pitchFamily="34" charset="0"/>
                <a:cs typeface="Calibri" panose="020F0502020204030204" pitchFamily="34" charset="0"/>
              </a:rPr>
              <a:t>Setting Up InVision Studio 2018 or newer</a:t>
            </a:r>
            <a:endParaRPr lang="en-US"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0783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19EE3-FA22-60D4-9E8D-F648D023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F8E751-1536-4444-8104-D816F8BA9C1F}"/>
              </a:ext>
            </a:extLst>
          </p:cNvPr>
          <p:cNvSpPr txBox="1"/>
          <p:nvPr/>
        </p:nvSpPr>
        <p:spPr>
          <a:xfrm>
            <a:off x="213756" y="2657106"/>
            <a:ext cx="11507189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Tracking weekly progress ensures alignment with project goals, early identification of challenges, and iterative improvements. It fosters accountability and efficient time management.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F7954FFE-F1E7-5FE4-AAF6-AA7D32157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1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Why Track Weekly Progress in IT Projects?</a:t>
            </a:r>
          </a:p>
        </p:txBody>
      </p:sp>
    </p:spTree>
    <p:extLst>
      <p:ext uri="{BB962C8B-B14F-4D97-AF65-F5344CB8AC3E}">
        <p14:creationId xmlns:p14="http://schemas.microsoft.com/office/powerpoint/2010/main" val="27606537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F326-36C6-A903-21DA-64B5342E9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8CD919-AEA1-6FC6-287B-8DDEAC12D869}"/>
              </a:ext>
            </a:extLst>
          </p:cNvPr>
          <p:cNvSpPr txBox="1"/>
          <p:nvPr/>
        </p:nvSpPr>
        <p:spPr>
          <a:xfrm>
            <a:off x="471057" y="2657106"/>
            <a:ext cx="1099258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 clear, measurable goals for the week.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 accomplishments and challenges.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Conduct team meetings to discuss progress.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Adjust plans based on feedback and observations. 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04761679-B78A-EC1C-EBF7-425B83BD2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Key Steps in Weekly Progress Tracking</a:t>
            </a:r>
          </a:p>
        </p:txBody>
      </p:sp>
    </p:spTree>
    <p:extLst>
      <p:ext uri="{BB962C8B-B14F-4D97-AF65-F5344CB8AC3E}">
        <p14:creationId xmlns:p14="http://schemas.microsoft.com/office/powerpoint/2010/main" val="1888715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F280C-6F96-C4E5-6376-3C2D7232F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C75BA7-D9BC-2FF2-1843-C9C462FFC1FE}"/>
              </a:ext>
            </a:extLst>
          </p:cNvPr>
          <p:cNvSpPr txBox="1"/>
          <p:nvPr/>
        </p:nvSpPr>
        <p:spPr>
          <a:xfrm>
            <a:off x="471057" y="2657105"/>
            <a:ext cx="1099258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tools like: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Trello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Asana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 For task management.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Jira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 For agile project tracking.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Google Sheets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 For progress tracking and reporting.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Slack or Microsoft Teams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 For communication and quick updates.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54EBD912-A4FB-8FE3-A956-68694DE45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" y="1294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Tools for Monitoring Progress</a:t>
            </a:r>
          </a:p>
        </p:txBody>
      </p:sp>
    </p:spTree>
    <p:extLst>
      <p:ext uri="{BB962C8B-B14F-4D97-AF65-F5344CB8AC3E}">
        <p14:creationId xmlns:p14="http://schemas.microsoft.com/office/powerpoint/2010/main" val="6410206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0E8B4-7222-AABF-2752-744596093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3ED145-9B99-16DE-4109-62F7AE4E7E71}"/>
              </a:ext>
            </a:extLst>
          </p:cNvPr>
          <p:cNvSpPr txBox="1"/>
          <p:nvPr/>
        </p:nvSpPr>
        <p:spPr>
          <a:xfrm>
            <a:off x="471057" y="2657105"/>
            <a:ext cx="1099258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Trello: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Create a Board: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Start with a blank board and name it (e.g., "Project Dashboard Design").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Create Lists: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Add lists for task stages like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To Do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 Progress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Completed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90ADFAFC-2850-99CC-709C-FD5B4DD49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55" y="1294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Trello / Asana: Task Management</a:t>
            </a:r>
          </a:p>
        </p:txBody>
      </p:sp>
    </p:spTree>
    <p:extLst>
      <p:ext uri="{BB962C8B-B14F-4D97-AF65-F5344CB8AC3E}">
        <p14:creationId xmlns:p14="http://schemas.microsoft.com/office/powerpoint/2010/main" val="3899311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F4D0-8BB0-0B79-9D82-9CD1CCB61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5A0DCD-8F9A-2633-09A4-593E3DBFFF4A}"/>
              </a:ext>
            </a:extLst>
          </p:cNvPr>
          <p:cNvSpPr txBox="1"/>
          <p:nvPr/>
        </p:nvSpPr>
        <p:spPr>
          <a:xfrm>
            <a:off x="471057" y="2657105"/>
            <a:ext cx="10992586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 Cards: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Break down tasks into cards (e.g., "Design wireframes", "Prototype animations").</a:t>
            </a:r>
          </a:p>
          <a:p>
            <a:pPr marL="971550" lvl="1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 and Set Deadlines: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Assign members, add checklists, and set due dates.</a:t>
            </a:r>
          </a:p>
          <a:p>
            <a:pPr marL="971550" lvl="1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Power-Ups: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Integrate tools like Google Drive or Slack for added functionality. 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D603A037-723E-59B8-A085-7CAAEA9FD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06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Trello / Asana: Task Management</a:t>
            </a:r>
          </a:p>
        </p:txBody>
      </p:sp>
    </p:spTree>
    <p:extLst>
      <p:ext uri="{BB962C8B-B14F-4D97-AF65-F5344CB8AC3E}">
        <p14:creationId xmlns:p14="http://schemas.microsoft.com/office/powerpoint/2010/main" val="42232376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C74BB-3C7C-0382-AC74-C532EE8CE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1B2E65-A92D-39A0-84FF-ADDA65EDFEF0}"/>
              </a:ext>
            </a:extLst>
          </p:cNvPr>
          <p:cNvSpPr txBox="1"/>
          <p:nvPr/>
        </p:nvSpPr>
        <p:spPr>
          <a:xfrm>
            <a:off x="471057" y="2657106"/>
            <a:ext cx="1099258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Asana: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Create a Project: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Choose a board, timeline, or list view for tasks.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Add Tasks: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Enter tasks and subtasks, assign them to team members, and set due dates.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0731B65A-08B9-1178-E55C-09F32FBCD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1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Trello / Asana: Task Management</a:t>
            </a:r>
          </a:p>
        </p:txBody>
      </p:sp>
    </p:spTree>
    <p:extLst>
      <p:ext uri="{BB962C8B-B14F-4D97-AF65-F5344CB8AC3E}">
        <p14:creationId xmlns:p14="http://schemas.microsoft.com/office/powerpoint/2010/main" val="19985515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BC347-28DC-E17A-B3C6-E3A01E53C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AAC58A-52D3-42E0-D0C8-C07B3013BE52}"/>
              </a:ext>
            </a:extLst>
          </p:cNvPr>
          <p:cNvSpPr txBox="1"/>
          <p:nvPr/>
        </p:nvSpPr>
        <p:spPr>
          <a:xfrm>
            <a:off x="471057" y="2657105"/>
            <a:ext cx="1099258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 Progress: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Use the timeline view for scheduling or the calendar view for deadlines.</a:t>
            </a:r>
          </a:p>
          <a:p>
            <a:pPr marL="971550" lvl="1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 Fields: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Use custom fields to track priorities or task types. 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2272032-423B-7AAE-082A-FF4B52698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94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Trello / Asana: Task Management</a:t>
            </a:r>
          </a:p>
        </p:txBody>
      </p:sp>
    </p:spTree>
    <p:extLst>
      <p:ext uri="{BB962C8B-B14F-4D97-AF65-F5344CB8AC3E}">
        <p14:creationId xmlns:p14="http://schemas.microsoft.com/office/powerpoint/2010/main" val="24070050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1F178-B504-12F5-21F9-DECBE85B2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B6AE0A-8256-8326-EA5B-734865E6B903}"/>
              </a:ext>
            </a:extLst>
          </p:cNvPr>
          <p:cNvSpPr txBox="1"/>
          <p:nvPr/>
        </p:nvSpPr>
        <p:spPr>
          <a:xfrm>
            <a:off x="471057" y="2657105"/>
            <a:ext cx="1099258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a New Project: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Choose an Agile template (e.g., Scrum or Kanban).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 Up the Backlog: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 epics and stories (e.g., "User Login Feature" or "Design Dashboard Charts").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E78EEB4B-6D24-FBCE-3941-809553549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9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Jira: Agile Project Tracking</a:t>
            </a:r>
          </a:p>
        </p:txBody>
      </p:sp>
    </p:spTree>
    <p:extLst>
      <p:ext uri="{BB962C8B-B14F-4D97-AF65-F5344CB8AC3E}">
        <p14:creationId xmlns:p14="http://schemas.microsoft.com/office/powerpoint/2010/main" val="37008458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0892F-6DC4-8E99-8101-1A7FA2417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BDF900-F133-3AB3-4B7F-482969DF3E48}"/>
              </a:ext>
            </a:extLst>
          </p:cNvPr>
          <p:cNvSpPr txBox="1"/>
          <p:nvPr/>
        </p:nvSpPr>
        <p:spPr>
          <a:xfrm>
            <a:off x="471057" y="2657106"/>
            <a:ext cx="10992586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Sprint Planning (Scrum):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Drag backlog items into the sprint to be worked on.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 story points and team members.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4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 Work: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Kanban Board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Active Sprint Board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track task progress (e.g., To Do, In Progress, Done).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73EEBE8E-B830-3EDC-7C7F-F5D99E0E4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Jira: Agile Project Tracking</a:t>
            </a:r>
          </a:p>
        </p:txBody>
      </p:sp>
    </p:spTree>
    <p:extLst>
      <p:ext uri="{BB962C8B-B14F-4D97-AF65-F5344CB8AC3E}">
        <p14:creationId xmlns:p14="http://schemas.microsoft.com/office/powerpoint/2010/main" val="16809520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01DF6-0CDC-D10F-B42F-DE2CB1BCC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3705E9-2FE0-626C-0ACE-72613422E416}"/>
              </a:ext>
            </a:extLst>
          </p:cNvPr>
          <p:cNvSpPr txBox="1"/>
          <p:nvPr/>
        </p:nvSpPr>
        <p:spPr>
          <a:xfrm>
            <a:off x="471057" y="2657105"/>
            <a:ext cx="1099258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Reporting:</a:t>
            </a:r>
          </a:p>
          <a:p>
            <a:pPr marL="971550" lvl="1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burndown charts, velocity charts, and issue types for tracking sprint success.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0C5802B5-8D70-A2B0-B8D0-5783E569D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128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Jira: Agile Project Tracking</a:t>
            </a:r>
          </a:p>
        </p:txBody>
      </p:sp>
    </p:spTree>
    <p:extLst>
      <p:ext uri="{BB962C8B-B14F-4D97-AF65-F5344CB8AC3E}">
        <p14:creationId xmlns:p14="http://schemas.microsoft.com/office/powerpoint/2010/main" val="5381808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F964-8FD5-D05A-8D99-EC480702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30279C-8208-637D-8B38-987D7B931FA7}"/>
              </a:ext>
            </a:extLst>
          </p:cNvPr>
          <p:cNvSpPr txBox="1"/>
          <p:nvPr/>
        </p:nvSpPr>
        <p:spPr>
          <a:xfrm>
            <a:off x="471057" y="2657105"/>
            <a:ext cx="1099258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Set Up a Sheet: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Create columns like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Assigned To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Start Date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Due Date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Comments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7B0F65D0-C7F7-119A-8C55-19A163E23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Google Sheets: Progress Tracking and Reporting</a:t>
            </a:r>
          </a:p>
        </p:txBody>
      </p:sp>
    </p:spTree>
    <p:extLst>
      <p:ext uri="{BB962C8B-B14F-4D97-AF65-F5344CB8AC3E}">
        <p14:creationId xmlns:p14="http://schemas.microsoft.com/office/powerpoint/2010/main" val="32828418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ED30E-3676-1BB2-1855-DE21E447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86B514-7713-A51A-28F7-300EED36FDD0}"/>
              </a:ext>
            </a:extLst>
          </p:cNvPr>
          <p:cNvSpPr txBox="1"/>
          <p:nvPr/>
        </p:nvSpPr>
        <p:spPr>
          <a:xfrm>
            <a:off x="471057" y="2657105"/>
            <a:ext cx="1099258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Color Coding: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conditional formatting to highlight task statuses (e.g., green for complete, yellow for in progress).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7F27D427-D49C-1D77-D3F0-A17DA5A3E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5" y="23004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Google Sheets: Progress Tracking and Reporting</a:t>
            </a:r>
          </a:p>
        </p:txBody>
      </p:sp>
    </p:spTree>
    <p:extLst>
      <p:ext uri="{BB962C8B-B14F-4D97-AF65-F5344CB8AC3E}">
        <p14:creationId xmlns:p14="http://schemas.microsoft.com/office/powerpoint/2010/main" val="21309435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2BFA9-2DFA-EBFF-8A0E-409530AA3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1AD755-A7FB-5D52-108B-B31495FE086D}"/>
              </a:ext>
            </a:extLst>
          </p:cNvPr>
          <p:cNvSpPr txBox="1"/>
          <p:nvPr/>
        </p:nvSpPr>
        <p:spPr>
          <a:xfrm>
            <a:off x="471057" y="2657106"/>
            <a:ext cx="10992586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Track Progress: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Update task status regularly and monitor deadlines using filters.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E0F28AD7-6E47-27F7-7044-802B1048D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Google Sheets: Progress Tracking and Reporting</a:t>
            </a:r>
          </a:p>
        </p:txBody>
      </p:sp>
    </p:spTree>
    <p:extLst>
      <p:ext uri="{BB962C8B-B14F-4D97-AF65-F5344CB8AC3E}">
        <p14:creationId xmlns:p14="http://schemas.microsoft.com/office/powerpoint/2010/main" val="32842547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B59D6-380D-9C39-1B8A-E5E4E9F5D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477AAF-4FCC-D3ED-6F9F-6DE15E352E01}"/>
              </a:ext>
            </a:extLst>
          </p:cNvPr>
          <p:cNvSpPr txBox="1"/>
          <p:nvPr/>
        </p:nvSpPr>
        <p:spPr>
          <a:xfrm>
            <a:off x="471057" y="2657105"/>
            <a:ext cx="1099258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Generate Reports: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pivot tables or graphs for visualizing task completion and team productivity.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179B000E-EB6E-4147-7CB1-0C3872CE6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Google Sheets: Progress Tracking and Reporting</a:t>
            </a:r>
          </a:p>
        </p:txBody>
      </p:sp>
    </p:spTree>
    <p:extLst>
      <p:ext uri="{BB962C8B-B14F-4D97-AF65-F5344CB8AC3E}">
        <p14:creationId xmlns:p14="http://schemas.microsoft.com/office/powerpoint/2010/main" val="25906177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F2497-58C8-D758-0C70-D48C7410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FD1E73-6917-4A4A-8228-2DBFDD8F1056}"/>
              </a:ext>
            </a:extLst>
          </p:cNvPr>
          <p:cNvSpPr txBox="1"/>
          <p:nvPr/>
        </p:nvSpPr>
        <p:spPr>
          <a:xfrm>
            <a:off x="471057" y="2657106"/>
            <a:ext cx="10992586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Share and Collaborate: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Share the sheet with team members and enable commenting.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774607F6-585C-732E-129F-BD8ACD68A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53" y="1294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Google Sheets: Progress Tracking and Reporting</a:t>
            </a:r>
          </a:p>
        </p:txBody>
      </p:sp>
    </p:spTree>
    <p:extLst>
      <p:ext uri="{BB962C8B-B14F-4D97-AF65-F5344CB8AC3E}">
        <p14:creationId xmlns:p14="http://schemas.microsoft.com/office/powerpoint/2010/main" val="7290659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D6D2-0154-E62F-0D64-1EE94FC6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4E7224-8456-760D-C5FD-0E8B2E7EB8B8}"/>
              </a:ext>
            </a:extLst>
          </p:cNvPr>
          <p:cNvSpPr txBox="1"/>
          <p:nvPr/>
        </p:nvSpPr>
        <p:spPr>
          <a:xfrm>
            <a:off x="471057" y="2657106"/>
            <a:ext cx="10992586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Slack: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Create Channels: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Create channels for specific topics (e.g., #design-team, #project-updates).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Integrations: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Connect apps like Trello, Jira, or Google Drive for instant updates.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2D99EF2F-8FFD-91EE-17C6-2E9E56FA0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Slack / Microsoft Teams: Communication and Quick Updates</a:t>
            </a:r>
          </a:p>
        </p:txBody>
      </p:sp>
    </p:spTree>
    <p:extLst>
      <p:ext uri="{BB962C8B-B14F-4D97-AF65-F5344CB8AC3E}">
        <p14:creationId xmlns:p14="http://schemas.microsoft.com/office/powerpoint/2010/main" val="13769841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C5D1-8ED5-89EE-F446-8194001B6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4C16BD-9340-1F3D-1A37-5959C4280212}"/>
              </a:ext>
            </a:extLst>
          </p:cNvPr>
          <p:cNvSpPr txBox="1"/>
          <p:nvPr/>
        </p:nvSpPr>
        <p:spPr>
          <a:xfrm>
            <a:off x="471057" y="2657106"/>
            <a:ext cx="1099258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 Messaging: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600" lvl="2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private or group messaging for quick communication.</a:t>
            </a:r>
          </a:p>
          <a:p>
            <a:pPr marL="971550" lvl="1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Pinned Messages and Files: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600" lvl="2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Pin important messages or files for easy reference.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85A06F45-7E63-4323-8254-815607E57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06" y="3738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Slack / Microsoft Teams: Communication and Quick Updates</a:t>
            </a:r>
          </a:p>
        </p:txBody>
      </p:sp>
    </p:spTree>
    <p:extLst>
      <p:ext uri="{BB962C8B-B14F-4D97-AF65-F5344CB8AC3E}">
        <p14:creationId xmlns:p14="http://schemas.microsoft.com/office/powerpoint/2010/main" val="1936956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EA4A-B49D-5F45-A402-64EE7FC1D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440FDB-C97F-0493-4D3F-3E46F2CE5E1D}"/>
              </a:ext>
            </a:extLst>
          </p:cNvPr>
          <p:cNvSpPr txBox="1"/>
          <p:nvPr/>
        </p:nvSpPr>
        <p:spPr>
          <a:xfrm>
            <a:off x="471057" y="2657106"/>
            <a:ext cx="1099258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Microsoft Teams: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Create Teams and Channels: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Set up a Team and channels for different aspects of the project (e.g., Design, Development).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2D267940-A36C-1092-440A-543A21575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3" y="-35943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Slack / Microsoft Teams: Communication and Quick Updates</a:t>
            </a:r>
          </a:p>
        </p:txBody>
      </p:sp>
    </p:spTree>
    <p:extLst>
      <p:ext uri="{BB962C8B-B14F-4D97-AF65-F5344CB8AC3E}">
        <p14:creationId xmlns:p14="http://schemas.microsoft.com/office/powerpoint/2010/main" val="19683568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82A7-9578-6945-72EF-63556AF63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4E586A-045C-8152-6D1A-E263978E5196}"/>
              </a:ext>
            </a:extLst>
          </p:cNvPr>
          <p:cNvSpPr txBox="1"/>
          <p:nvPr/>
        </p:nvSpPr>
        <p:spPr>
          <a:xfrm>
            <a:off x="471057" y="2657105"/>
            <a:ext cx="1099258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 Files: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Upload documents directly into channels for collaboration.</a:t>
            </a:r>
          </a:p>
          <a:p>
            <a:pPr marL="514350" indent="-5143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Meetings and Updates: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Calendar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schedule meetings and the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Posts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tab for updates.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77FF4382-50D4-5B9E-D012-4B3F1A3B0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Slack / Microsoft Teams: Communication and Quick Updates</a:t>
            </a:r>
          </a:p>
        </p:txBody>
      </p:sp>
    </p:spTree>
    <p:extLst>
      <p:ext uri="{BB962C8B-B14F-4D97-AF65-F5344CB8AC3E}">
        <p14:creationId xmlns:p14="http://schemas.microsoft.com/office/powerpoint/2010/main" val="1193027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8AC25-807D-E220-2769-F2C6B670B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DB6EAC-4E31-30CF-3E5A-99FE4ACD6F8C}"/>
              </a:ext>
            </a:extLst>
          </p:cNvPr>
          <p:cNvSpPr txBox="1"/>
          <p:nvPr/>
        </p:nvSpPr>
        <p:spPr>
          <a:xfrm>
            <a:off x="471057" y="2657106"/>
            <a:ext cx="10992586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Integrations: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Add tools like Planner or integrate apps like Jira or Trello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3545076E-F395-F573-EF10-C9015379E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0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Slack / Microsoft Teams: Communication and Quick Updates</a:t>
            </a:r>
          </a:p>
        </p:txBody>
      </p:sp>
    </p:spTree>
    <p:extLst>
      <p:ext uri="{BB962C8B-B14F-4D97-AF65-F5344CB8AC3E}">
        <p14:creationId xmlns:p14="http://schemas.microsoft.com/office/powerpoint/2010/main" val="1505209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B9CEC-B8EC-EBE6-B2A0-098F0C53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D087E2-4D1E-FCB8-0205-0394378933F2}"/>
              </a:ext>
            </a:extLst>
          </p:cNvPr>
          <p:cNvSpPr txBox="1"/>
          <p:nvPr/>
        </p:nvSpPr>
        <p:spPr>
          <a:xfrm>
            <a:off x="471057" y="2657105"/>
            <a:ext cx="1099258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Centralized Communication: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Use Slack or Teams for announcements and quick updates.</a:t>
            </a:r>
          </a:p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 Assignment: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Use Trello/Asana for assigning and managing tasks. 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9687E037-D55D-6954-C5E4-6E4357EBC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Key Tips for Using These Tools Together</a:t>
            </a:r>
          </a:p>
        </p:txBody>
      </p:sp>
    </p:spTree>
    <p:extLst>
      <p:ext uri="{BB962C8B-B14F-4D97-AF65-F5344CB8AC3E}">
        <p14:creationId xmlns:p14="http://schemas.microsoft.com/office/powerpoint/2010/main" val="2205930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A0F3A-BD37-00E0-711B-E933BAF49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8C06FD-DD44-29C9-5570-A40198EEB960}"/>
              </a:ext>
            </a:extLst>
          </p:cNvPr>
          <p:cNvSpPr txBox="1"/>
          <p:nvPr/>
        </p:nvSpPr>
        <p:spPr>
          <a:xfrm>
            <a:off x="471057" y="2657105"/>
            <a:ext cx="1099258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Progress Reporting: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Track progress in Google Sheets and share reports weekly.</a:t>
            </a:r>
          </a:p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Agile Planning: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Use Jira for sprints and detailed task tracking. 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F29BE967-123F-63EC-1654-3C332F9E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92" y="575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Key Tips for Using These Tools Together</a:t>
            </a:r>
          </a:p>
        </p:txBody>
      </p:sp>
    </p:spTree>
    <p:extLst>
      <p:ext uri="{BB962C8B-B14F-4D97-AF65-F5344CB8AC3E}">
        <p14:creationId xmlns:p14="http://schemas.microsoft.com/office/powerpoint/2010/main" val="23327314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96D1-9C17-E300-6356-3D1F89E3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CFF8B6-18F0-2B38-C3AA-D7F834F9196F}"/>
              </a:ext>
            </a:extLst>
          </p:cNvPr>
          <p:cNvSpPr txBox="1"/>
          <p:nvPr/>
        </p:nvSpPr>
        <p:spPr>
          <a:xfrm>
            <a:off x="471057" y="2657105"/>
            <a:ext cx="1099258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1. Interactive Restaurant Management System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Trello/Asana: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Use a dedicated list for each aspect of the system (e.g., Menu Management, Order Tracking, Table Reservations).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Jira: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Track development of specific features like real-time order updates or staff assignments in sprints.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5FFC6328-27C9-BF0B-8001-F2D1E638B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79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Additional Tips for You Working on Your Project</a:t>
            </a:r>
          </a:p>
        </p:txBody>
      </p:sp>
    </p:spTree>
    <p:extLst>
      <p:ext uri="{BB962C8B-B14F-4D97-AF65-F5344CB8AC3E}">
        <p14:creationId xmlns:p14="http://schemas.microsoft.com/office/powerpoint/2010/main" val="38764225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C955-171C-3AED-B356-623BD914E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1EA0ED-3647-B226-389B-4DB0662D5BCE}"/>
              </a:ext>
            </a:extLst>
          </p:cNvPr>
          <p:cNvSpPr txBox="1"/>
          <p:nvPr/>
        </p:nvSpPr>
        <p:spPr>
          <a:xfrm>
            <a:off x="471057" y="2657106"/>
            <a:ext cx="1099258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Google Sheets: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Maintain a mock "order log" or "sales tracker" to simulate real-time reporting for the system.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Slack/Teams: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Use for quick updates on menu design or integration with point-of-sale systems. 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6EB09B9A-3F5D-746F-9A7E-3668B8E7C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77" y="15815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Additional Tips for You Working on Your Project</a:t>
            </a:r>
          </a:p>
        </p:txBody>
      </p:sp>
    </p:spTree>
    <p:extLst>
      <p:ext uri="{BB962C8B-B14F-4D97-AF65-F5344CB8AC3E}">
        <p14:creationId xmlns:p14="http://schemas.microsoft.com/office/powerpoint/2010/main" val="16123700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7E240-3140-AAE2-204F-8B40FD8D7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9E79E4-5B1D-0E92-ABB4-54FD363D3199}"/>
              </a:ext>
            </a:extLst>
          </p:cNvPr>
          <p:cNvSpPr txBox="1"/>
          <p:nvPr/>
        </p:nvSpPr>
        <p:spPr>
          <a:xfrm>
            <a:off x="471057" y="2657105"/>
            <a:ext cx="1099258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Personalized Fitness Tracker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Trello/Asana: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Break down tasks into modules like Activity Logging, Goal Tracking, and Progress Reports.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Jira: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Use epics for user interface design, API integration, and real-time data tracking.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0652545E-B316-3853-2525-46CDBC251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3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Additional Tips for You Working on Your Project</a:t>
            </a:r>
          </a:p>
        </p:txBody>
      </p:sp>
    </p:spTree>
    <p:extLst>
      <p:ext uri="{BB962C8B-B14F-4D97-AF65-F5344CB8AC3E}">
        <p14:creationId xmlns:p14="http://schemas.microsoft.com/office/powerpoint/2010/main" val="32448901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996DA-8B1D-B6EA-1A14-15CD5C144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D816D0-0282-235C-3DEA-7401F3ACCFF9}"/>
              </a:ext>
            </a:extLst>
          </p:cNvPr>
          <p:cNvSpPr txBox="1"/>
          <p:nvPr/>
        </p:nvSpPr>
        <p:spPr>
          <a:xfrm>
            <a:off x="471057" y="2657106"/>
            <a:ext cx="1099258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Google Sheets: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Simulate data input (e.g., daily calories, steps) and visualize user progress through charts.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Slack/Teams: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Discuss real-time user feedback or updates on integrating wearable devices (e.g., Fitbit, Apple Watch). 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D3F8B0F8-C455-B1C7-DE84-16E02AACD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0192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Additional Tips for You Working on Your Project</a:t>
            </a:r>
          </a:p>
        </p:txBody>
      </p:sp>
    </p:spTree>
    <p:extLst>
      <p:ext uri="{BB962C8B-B14F-4D97-AF65-F5344CB8AC3E}">
        <p14:creationId xmlns:p14="http://schemas.microsoft.com/office/powerpoint/2010/main" val="20452251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BB7D4-A69C-A550-DDBE-E7ECDB1D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30029E-384C-35ED-92AC-9F87E3731BBC}"/>
              </a:ext>
            </a:extLst>
          </p:cNvPr>
          <p:cNvSpPr txBox="1"/>
          <p:nvPr/>
        </p:nvSpPr>
        <p:spPr>
          <a:xfrm>
            <a:off x="471057" y="2657105"/>
            <a:ext cx="1099258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3. Student Study Planner and Task Organizer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Trello/Asana: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Create lists for daily, weekly, and monthly tasks, adding deadlines and priorities.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Jira: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Plan user-friendly features like reminders, calendar integrations, and task categorization in sprints.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A323CAE8-77F6-3C01-68CA-AE5FF090F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17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Additional Tips for You Working on Your Project</a:t>
            </a:r>
          </a:p>
        </p:txBody>
      </p:sp>
    </p:spTree>
    <p:extLst>
      <p:ext uri="{BB962C8B-B14F-4D97-AF65-F5344CB8AC3E}">
        <p14:creationId xmlns:p14="http://schemas.microsoft.com/office/powerpoint/2010/main" val="33749460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9BED-4C94-18F4-EB27-FEAECBD4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B22207-4C2C-A0A2-7CC8-92185BDF71AE}"/>
              </a:ext>
            </a:extLst>
          </p:cNvPr>
          <p:cNvSpPr txBox="1"/>
          <p:nvPr/>
        </p:nvSpPr>
        <p:spPr>
          <a:xfrm>
            <a:off x="471057" y="2657106"/>
            <a:ext cx="1099258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Google Sheets: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Develop a progress tracker to calculate task completion rates or overdue assignments.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Slack/Teams: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Use notifications to brainstorm about UI/UX improvements and test scheduling algorithms. 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57A7FF6-E9A6-13FD-6EC3-C22EB9816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5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Additional Tips for You Working on Your Project</a:t>
            </a:r>
          </a:p>
        </p:txBody>
      </p:sp>
    </p:spTree>
    <p:extLst>
      <p:ext uri="{BB962C8B-B14F-4D97-AF65-F5344CB8AC3E}">
        <p14:creationId xmlns:p14="http://schemas.microsoft.com/office/powerpoint/2010/main" val="13330524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AEBC3-6D2D-3A35-8541-DB608D659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597D1D-4359-0A25-FA2B-A3C7C760EA2F}"/>
              </a:ext>
            </a:extLst>
          </p:cNvPr>
          <p:cNvSpPr txBox="1"/>
          <p:nvPr/>
        </p:nvSpPr>
        <p:spPr>
          <a:xfrm>
            <a:off x="471057" y="2657105"/>
            <a:ext cx="1099258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4. Interactive Retail Management System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Trello/Asana: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Manage categories like Inventory, Sales Tracking, and Customer Engagement.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Jira: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Focus on agile development for features like inventory alerts or customer order history.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1EC98F8C-9AE1-AEE3-DEEF-D3B588880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Additional Tips for You Working on Your Project</a:t>
            </a:r>
          </a:p>
        </p:txBody>
      </p:sp>
    </p:spTree>
    <p:extLst>
      <p:ext uri="{BB962C8B-B14F-4D97-AF65-F5344CB8AC3E}">
        <p14:creationId xmlns:p14="http://schemas.microsoft.com/office/powerpoint/2010/main" val="22255570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90383-701B-06B9-9D3F-EEF1EE5B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6D33BC-D6A1-EFA1-AFAD-5B4471B4B37A}"/>
              </a:ext>
            </a:extLst>
          </p:cNvPr>
          <p:cNvSpPr txBox="1"/>
          <p:nvPr/>
        </p:nvSpPr>
        <p:spPr>
          <a:xfrm>
            <a:off x="471057" y="2657106"/>
            <a:ext cx="1099258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Google Sheets: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Simulate inventory data and visualize sales trends with pivot tables and charts.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Slack/Teams: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Collaborate on designing dashboards for store managers or real-time sales analytics. 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6660ED2B-42CD-9D28-1F26-4A10B115E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8691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Additional Tips for You Working on Your Project</a:t>
            </a:r>
          </a:p>
        </p:txBody>
      </p:sp>
    </p:spTree>
    <p:extLst>
      <p:ext uri="{BB962C8B-B14F-4D97-AF65-F5344CB8AC3E}">
        <p14:creationId xmlns:p14="http://schemas.microsoft.com/office/powerpoint/2010/main" val="5002849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F10D6-ACFE-CAAC-76C4-717F45FC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1517D6-162D-1837-431C-B057DE237ECD}"/>
              </a:ext>
            </a:extLst>
          </p:cNvPr>
          <p:cNvSpPr txBox="1"/>
          <p:nvPr/>
        </p:nvSpPr>
        <p:spPr>
          <a:xfrm>
            <a:off x="471057" y="2657106"/>
            <a:ext cx="1099258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Iterate with Feedback: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Share your prototypes with peers, tutors, or industry professionals for feedback.</a:t>
            </a:r>
          </a:p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Focus on User Experience: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Prioritize clean design and intuitive navigation for dashboards and user interfaces. 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865EBF56-DC73-AAD4-511A-3114C98A4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General Advice for All Projects</a:t>
            </a:r>
          </a:p>
        </p:txBody>
      </p:sp>
    </p:spTree>
    <p:extLst>
      <p:ext uri="{BB962C8B-B14F-4D97-AF65-F5344CB8AC3E}">
        <p14:creationId xmlns:p14="http://schemas.microsoft.com/office/powerpoint/2010/main" val="32944194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47F9D-7327-7D2E-2148-B859C6855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1610E7-EA1C-9B77-4E91-B2C27F1167E0}"/>
              </a:ext>
            </a:extLst>
          </p:cNvPr>
          <p:cNvSpPr txBox="1"/>
          <p:nvPr/>
        </p:nvSpPr>
        <p:spPr>
          <a:xfrm>
            <a:off x="471057" y="2657106"/>
            <a:ext cx="10992586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 the Process: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Maintain clear documentation of your progress, including tool usage and feature development.</a:t>
            </a:r>
          </a:p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Integrate Tools: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Leverage integrations (e.g., Trello with Slack, Google Sheets with Jira) for a smoother workflow. 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BF1D4F23-E01E-8C58-CB24-EEEA4A0FD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General Advice for All Projects</a:t>
            </a:r>
          </a:p>
        </p:txBody>
      </p:sp>
    </p:spTree>
    <p:extLst>
      <p:ext uri="{BB962C8B-B14F-4D97-AF65-F5344CB8AC3E}">
        <p14:creationId xmlns:p14="http://schemas.microsoft.com/office/powerpoint/2010/main" val="9424138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05CD1-C0B1-3C70-4F93-351964276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E6608F-A2F7-FF2C-A5C7-E375736AD67D}"/>
              </a:ext>
            </a:extLst>
          </p:cNvPr>
          <p:cNvSpPr txBox="1"/>
          <p:nvPr/>
        </p:nvSpPr>
        <p:spPr>
          <a:xfrm>
            <a:off x="471057" y="2657106"/>
            <a:ext cx="10992586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Remember, the goal is not just to complete the project but to create a functional, user-friendly system that aligns with real-world requirements. Best of luck!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03B19B11-0D09-90CC-51E1-4AD5500C7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1502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General Advice for All Projects</a:t>
            </a:r>
          </a:p>
        </p:txBody>
      </p:sp>
    </p:spTree>
    <p:extLst>
      <p:ext uri="{BB962C8B-B14F-4D97-AF65-F5344CB8AC3E}">
        <p14:creationId xmlns:p14="http://schemas.microsoft.com/office/powerpoint/2010/main" val="32250071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3D15A-C30A-AF9A-A1C2-8FE67B69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99E270-3FC8-E2F0-06C5-01BD3D0A6160}"/>
              </a:ext>
            </a:extLst>
          </p:cNvPr>
          <p:cNvSpPr txBox="1"/>
          <p:nvPr/>
        </p:nvSpPr>
        <p:spPr>
          <a:xfrm>
            <a:off x="471057" y="2657105"/>
            <a:ext cx="1099258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update should include: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Completed tasks.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Ongoing activities.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Challenges faced and solutions proposed.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Plans for the upcoming week.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A2282484-3451-0D7B-9DB9-847C90796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0" y="23004"/>
            <a:ext cx="10842171" cy="600241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Components of an Effective Weekly Update</a:t>
            </a:r>
          </a:p>
        </p:txBody>
      </p:sp>
    </p:spTree>
    <p:extLst>
      <p:ext uri="{BB962C8B-B14F-4D97-AF65-F5344CB8AC3E}">
        <p14:creationId xmlns:p14="http://schemas.microsoft.com/office/powerpoint/2010/main" val="19768042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8E0D2-9286-EC6A-FC28-A59187C9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53D8119B-B033-4742-7B01-FE383058F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6" y="12941"/>
            <a:ext cx="12192000" cy="105385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Group Progress Presentation – Overview of Progress at least 5 min</a:t>
            </a:r>
            <a:endParaRPr lang="en-US" sz="3600" dirty="0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872E6-ECC6-7615-EF56-326EA87C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99" b="23637"/>
          <a:stretch/>
        </p:blipFill>
        <p:spPr>
          <a:xfrm>
            <a:off x="8626" y="1371600"/>
            <a:ext cx="12192000" cy="426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778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CDC9-A7F0-B9E3-E9E4-516B6197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91AB5A2-B21D-66A0-4528-C2C55210EB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F6D16-E124-24B9-1D4B-698CF1363FA5}"/>
              </a:ext>
            </a:extLst>
          </p:cNvPr>
          <p:cNvSpPr txBox="1"/>
          <p:nvPr/>
        </p:nvSpPr>
        <p:spPr>
          <a:xfrm>
            <a:off x="0" y="0"/>
            <a:ext cx="11887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Thank You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B71991-9C10-2CDD-0295-065A9579E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77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50CBBC-F537-AFEC-634C-56C9DAB1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39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5037F8A-312A-5706-B9D4-BD56C9AD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606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63D227C-1D36-DEFE-C2F8-3CA3D97D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BCA2-620C-3559-3A80-9228DA241173}"/>
              </a:ext>
            </a:extLst>
          </p:cNvPr>
          <p:cNvSpPr txBox="1"/>
          <p:nvPr/>
        </p:nvSpPr>
        <p:spPr>
          <a:xfrm>
            <a:off x="609600" y="2441246"/>
            <a:ext cx="962420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Need Help? Send an email or ask during the tutorial session.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Good luck with your capstone journey!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Dr. Farshid Keivanian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Capstone Project Supervisor</a:t>
            </a:r>
            <a:br>
              <a:rPr lang="en-US" sz="2800">
                <a:latin typeface="+mj-lt"/>
              </a:rPr>
            </a:br>
            <a:r>
              <a:rPr lang="en-US" sz="2800">
                <a:latin typeface="+mj-lt"/>
              </a:rPr>
              <a:t>FKeivanian@my.holmes</a:t>
            </a:r>
            <a:r>
              <a:rPr lang="en-US" sz="2800" dirty="0">
                <a:latin typeface="+mj-lt"/>
              </a:rPr>
              <a:t>.edu.au</a:t>
            </a:r>
          </a:p>
        </p:txBody>
      </p:sp>
    </p:spTree>
    <p:extLst>
      <p:ext uri="{BB962C8B-B14F-4D97-AF65-F5344CB8AC3E}">
        <p14:creationId xmlns:p14="http://schemas.microsoft.com/office/powerpoint/2010/main" val="258369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</TotalTime>
  <Words>3157</Words>
  <Application>Microsoft Office PowerPoint</Application>
  <PresentationFormat>Custom</PresentationFormat>
  <Paragraphs>327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9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Data Collection Progress &amp; Meeting 3</vt:lpstr>
      <vt:lpstr>Data Collection Progress &amp; Meeting 3</vt:lpstr>
      <vt:lpstr>Data Collection Progress &amp; Meeting 3</vt:lpstr>
      <vt:lpstr>How to Build and Export a Wireframe in Miro: A Step-by-Step Guide</vt:lpstr>
      <vt:lpstr>How to Build and Export a Wireframe in Miro: A Step-by-Step Guide</vt:lpstr>
      <vt:lpstr>PowerPoint Presentation</vt:lpstr>
      <vt:lpstr>PowerPoint Presentation</vt:lpstr>
      <vt:lpstr>How to Build and Export a Wireframe in Miro: A Step-by-Step Guide</vt:lpstr>
      <vt:lpstr>How to Build and Export a Wireframe in Miro: A Step-by-Step Guide</vt:lpstr>
      <vt:lpstr>How to Build and Export a Wireframe in Miro: A Step-by-Step Guide</vt:lpstr>
      <vt:lpstr>How to Build and Export a Wireframe in Miro: A Step-by-Step Guide</vt:lpstr>
      <vt:lpstr>How to Build and Export a Wireframe in Miro: A Step-by-Step Guide</vt:lpstr>
      <vt:lpstr>How to Build and Export a Wireframe in Miro: A Step-by-Step Guide</vt:lpstr>
      <vt:lpstr>How to Build and Export a Wireframe in Miro: A Step-by-Step Guide</vt:lpstr>
      <vt:lpstr>PowerPoint Presentation</vt:lpstr>
      <vt:lpstr>Setting Up InVision Studio 2018 or newer</vt:lpstr>
      <vt:lpstr>Designing the Dashboard Layout</vt:lpstr>
      <vt:lpstr>Designing the Dashboard Layout</vt:lpstr>
      <vt:lpstr>Designing the Dashboard Layout</vt:lpstr>
      <vt:lpstr>Project-Specific Considerations</vt:lpstr>
      <vt:lpstr>Project-Specific Considerations</vt:lpstr>
      <vt:lpstr>Project-Specific Considerations</vt:lpstr>
      <vt:lpstr>Project-Specific Considerations</vt:lpstr>
      <vt:lpstr>Adding Visual Elements</vt:lpstr>
      <vt:lpstr>Adding Visual Elements</vt:lpstr>
      <vt:lpstr>Adding Visual Elements</vt:lpstr>
      <vt:lpstr>Creating Interactive Components</vt:lpstr>
      <vt:lpstr>Creating Interactive Components</vt:lpstr>
      <vt:lpstr>Creating Interactive Components</vt:lpstr>
      <vt:lpstr>Prototyping and Testing</vt:lpstr>
      <vt:lpstr>Prototyping and Testing</vt:lpstr>
      <vt:lpstr>Exporting and Finalizing</vt:lpstr>
      <vt:lpstr>Exporting and Finalizing</vt:lpstr>
      <vt:lpstr>Examples for Inspiration</vt:lpstr>
      <vt:lpstr>Examples for Inspiration</vt:lpstr>
      <vt:lpstr>Examples for Inspiration</vt:lpstr>
      <vt:lpstr>Examples for Inspiration</vt:lpstr>
      <vt:lpstr>Why Track Weekly Progress in IT Projects?</vt:lpstr>
      <vt:lpstr>Key Steps in Weekly Progress Tracking</vt:lpstr>
      <vt:lpstr>Tools for Monitoring Progress</vt:lpstr>
      <vt:lpstr>Trello / Asana: Task Management</vt:lpstr>
      <vt:lpstr>Trello / Asana: Task Management</vt:lpstr>
      <vt:lpstr>Trello / Asana: Task Management</vt:lpstr>
      <vt:lpstr>Trello / Asana: Task Management</vt:lpstr>
      <vt:lpstr>Jira: Agile Project Tracking</vt:lpstr>
      <vt:lpstr>Jira: Agile Project Tracking</vt:lpstr>
      <vt:lpstr>Jira: Agile Project Tracking</vt:lpstr>
      <vt:lpstr>Google Sheets: Progress Tracking and Reporting</vt:lpstr>
      <vt:lpstr>Google Sheets: Progress Tracking and Reporting</vt:lpstr>
      <vt:lpstr>Google Sheets: Progress Tracking and Reporting</vt:lpstr>
      <vt:lpstr>Google Sheets: Progress Tracking and Reporting</vt:lpstr>
      <vt:lpstr>Google Sheets: Progress Tracking and Reporting</vt:lpstr>
      <vt:lpstr>Slack / Microsoft Teams: Communication and Quick Updates</vt:lpstr>
      <vt:lpstr>Slack / Microsoft Teams: Communication and Quick Updates</vt:lpstr>
      <vt:lpstr>Slack / Microsoft Teams: Communication and Quick Updates</vt:lpstr>
      <vt:lpstr>Slack / Microsoft Teams: Communication and Quick Updates</vt:lpstr>
      <vt:lpstr>Slack / Microsoft Teams: Communication and Quick Updates</vt:lpstr>
      <vt:lpstr>Key Tips for Using These Tools Together</vt:lpstr>
      <vt:lpstr>Key Tips for Using These Tools Together</vt:lpstr>
      <vt:lpstr>Additional Tips for You Working on Your Project</vt:lpstr>
      <vt:lpstr>Additional Tips for You Working on Your Project</vt:lpstr>
      <vt:lpstr>Additional Tips for You Working on Your Project</vt:lpstr>
      <vt:lpstr>Additional Tips for You Working on Your Project</vt:lpstr>
      <vt:lpstr>Additional Tips for You Working on Your Project</vt:lpstr>
      <vt:lpstr>Additional Tips for You Working on Your Project</vt:lpstr>
      <vt:lpstr>Additional Tips for You Working on Your Project</vt:lpstr>
      <vt:lpstr>Additional Tips for You Working on Your Project</vt:lpstr>
      <vt:lpstr>General Advice for All Projects</vt:lpstr>
      <vt:lpstr>General Advice for All Projects</vt:lpstr>
      <vt:lpstr>General Advice for All Projects</vt:lpstr>
      <vt:lpstr>Components of an Effective Weekly Update</vt:lpstr>
      <vt:lpstr>Group Progress Presentation – Overview of Progress at least 5 min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156</cp:revision>
  <dcterms:created xsi:type="dcterms:W3CDTF">2025-04-05T17:32:34Z</dcterms:created>
  <dcterms:modified xsi:type="dcterms:W3CDTF">2025-08-10T03:39:39Z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