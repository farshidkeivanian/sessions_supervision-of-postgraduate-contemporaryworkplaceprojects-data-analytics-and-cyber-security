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84" r:id="rId3"/>
    <p:sldId id="1760" r:id="rId4"/>
    <p:sldId id="1762" r:id="rId5"/>
    <p:sldId id="1761" r:id="rId6"/>
    <p:sldId id="1748" r:id="rId7"/>
    <p:sldId id="1750" r:id="rId8"/>
    <p:sldId id="1751" r:id="rId9"/>
    <p:sldId id="1752" r:id="rId10"/>
    <p:sldId id="1753" r:id="rId11"/>
    <p:sldId id="1754" r:id="rId12"/>
    <p:sldId id="1755" r:id="rId13"/>
    <p:sldId id="1756" r:id="rId14"/>
    <p:sldId id="1757" r:id="rId15"/>
    <p:sldId id="1758" r:id="rId16"/>
    <p:sldId id="1759" r:id="rId17"/>
    <p:sldId id="1747" r:id="rId18"/>
    <p:sldId id="612" r:id="rId19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235" y="8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E6D3-906C-1320-4687-C1367C63E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1287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1C4FD-A4A9-4ABA-B38A-5C011FCA6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2989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29ADD-9CFD-F94C-3BD4-E15649AA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A22E6EEE-11DC-44F3-8567-F3508996C4D6}" type="datetimeFigureOut">
              <a:rPr lang="en-AU" smtClean="0"/>
              <a:t>10/08/2025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D539-4B99-E1AD-D8EE-398581E19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118EA-AFF6-1D9C-A064-CCC312C7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1502" y="9253759"/>
            <a:ext cx="533400" cy="169277"/>
          </a:xfrm>
        </p:spPr>
        <p:txBody>
          <a:bodyPr/>
          <a:lstStyle/>
          <a:p>
            <a:fld id="{65DD78D8-BAAB-4AA7-9E67-7B3D99A130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157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41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HI6050 Capstone: Comprehensive Topic Selection and Supplementary Document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Supervisor: Dr. Farshid Keivanian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Session 7: </a:t>
            </a:r>
            <a:r>
              <a:rPr lang="en-US" sz="3600" dirty="0">
                <a:latin typeface="+mj-lt"/>
              </a:rPr>
              <a:t>Preparation for Group Presentation and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CA857E-2760-5DC2-2EA8-E21001AF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4F9D36-6170-5FAE-E944-677E44AACC66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Objectives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8BEF1FE-A6BA-759A-6F91-3232480C08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682438-5D24-2797-06E6-7C71C785D783}"/>
              </a:ext>
            </a:extLst>
          </p:cNvPr>
          <p:cNvSpPr txBox="1"/>
          <p:nvPr/>
        </p:nvSpPr>
        <p:spPr>
          <a:xfrm>
            <a:off x="191211" y="2115439"/>
            <a:ext cx="1180957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Complete literature review draft and </a:t>
            </a:r>
            <a:r>
              <a:rPr lang="en-US" sz="2800" dirty="0" err="1">
                <a:latin typeface="+mj-lt"/>
              </a:rPr>
              <a:t>finalise</a:t>
            </a:r>
            <a:r>
              <a:rPr lang="en-US" sz="2800" dirty="0">
                <a:latin typeface="+mj-lt"/>
              </a:rPr>
              <a:t> methods.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 ethical considerations.</a:t>
            </a:r>
          </a:p>
        </p:txBody>
      </p:sp>
    </p:spTree>
    <p:extLst>
      <p:ext uri="{BB962C8B-B14F-4D97-AF65-F5344CB8AC3E}">
        <p14:creationId xmlns:p14="http://schemas.microsoft.com/office/powerpoint/2010/main" val="75441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80875F-FC66-1AF7-DC2A-C6DFD36A1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D5576C4-5574-A7A4-F079-C2D4F8FE1149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  <a:cs typeface="Calibri"/>
              </a:rPr>
              <a:t>Tips for Groups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2D64FE5-1824-EE79-25CA-C21D9DBFD8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81242A-604C-C4A1-2504-77BAF7D141F2}"/>
              </a:ext>
            </a:extLst>
          </p:cNvPr>
          <p:cNvSpPr txBox="1"/>
          <p:nvPr/>
        </p:nvSpPr>
        <p:spPr>
          <a:xfrm>
            <a:off x="191211" y="2115439"/>
            <a:ext cx="1180957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Submit full literature review section for internal peer review.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Check referencing against Adapted Harvard style.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Develop survey/interview questions OR data extraction plan.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Seek supervisor approval before starting data collection.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Update Gantt chart.</a:t>
            </a:r>
          </a:p>
        </p:txBody>
      </p:sp>
    </p:spTree>
    <p:extLst>
      <p:ext uri="{BB962C8B-B14F-4D97-AF65-F5344CB8AC3E}">
        <p14:creationId xmlns:p14="http://schemas.microsoft.com/office/powerpoint/2010/main" val="330510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BFDD28-9F7B-E956-39FA-215AFFE5F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794830-40E0-B614-3F2B-D8129B622C2A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  <a:cs typeface="Calibri"/>
              </a:rPr>
              <a:t>Literature Review Final Touches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AE44086-F241-7E61-E3A7-2421919EF2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92120D-8433-C223-9399-A55F60F1B6ED}"/>
              </a:ext>
            </a:extLst>
          </p:cNvPr>
          <p:cNvSpPr txBox="1"/>
          <p:nvPr/>
        </p:nvSpPr>
        <p:spPr>
          <a:xfrm>
            <a:off x="191211" y="2115439"/>
            <a:ext cx="1180957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Ensure flow from literature review → research gap → methodology.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Add recent (last 12 months) publications where relevant.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9F50EA-0DFD-E9E0-747B-15FF38F64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42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FCAC59-9586-B4B9-C965-61CA3027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D4FC17-59FB-B572-A424-E921AC7B6403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  <a:cs typeface="Calibri"/>
              </a:rPr>
              <a:t>Tips for Groups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D54CAF4-ED9B-0B91-D513-BA22E4F48A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D407BF-3E18-AE28-F46E-E0B6B138E9B8}"/>
              </a:ext>
            </a:extLst>
          </p:cNvPr>
          <p:cNvSpPr txBox="1"/>
          <p:nvPr/>
        </p:nvSpPr>
        <p:spPr>
          <a:xfrm>
            <a:off x="191211" y="2115439"/>
            <a:ext cx="1180957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Keep data secure.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Document every step for methodology section.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collect data without supervisor consent.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vague methodology descriptions.</a:t>
            </a:r>
          </a:p>
        </p:txBody>
      </p:sp>
    </p:spTree>
    <p:extLst>
      <p:ext uri="{BB962C8B-B14F-4D97-AF65-F5344CB8AC3E}">
        <p14:creationId xmlns:p14="http://schemas.microsoft.com/office/powerpoint/2010/main" val="327736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6C6478-25BB-5382-CE07-47143CC7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38FC55-39EE-FE33-0FBE-B80F05351E08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4C48FA6-A733-80E2-E842-98B93665EA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6D1678-0204-C957-D78C-4928913F2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6"/>
          <a:stretch/>
        </p:blipFill>
        <p:spPr>
          <a:xfrm>
            <a:off x="0" y="16002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7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D670A5-F6A1-DED7-BF81-E2A1856D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D81CB7-DA06-4C60-BC32-1C52B0EDFB18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8B659C2-C838-C050-04AF-39AAB79EBE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78F883-B78B-AC3F-8F0C-41AC8207320F}"/>
              </a:ext>
            </a:extLst>
          </p:cNvPr>
          <p:cNvSpPr txBox="1"/>
          <p:nvPr/>
        </p:nvSpPr>
        <p:spPr>
          <a:xfrm>
            <a:off x="457200" y="1901952"/>
            <a:ext cx="112833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Group Presentation &amp; Demonstration – Final Assessment Guide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Presentation Time:</a:t>
            </a:r>
            <a:r>
              <a:rPr lang="en-US" sz="2800" dirty="0">
                <a:latin typeface="+mj-lt"/>
              </a:rPr>
              <a:t> In-class (as scheduled)</a:t>
            </a:r>
            <a:br>
              <a:rPr lang="en-US" sz="2800" dirty="0">
                <a:latin typeface="+mj-lt"/>
              </a:rPr>
            </a:br>
            <a:r>
              <a:rPr lang="en-US" sz="2800" b="1" dirty="0">
                <a:latin typeface="+mj-lt"/>
              </a:rPr>
              <a:t>Submission Format:</a:t>
            </a:r>
            <a:r>
              <a:rPr lang="en-US" sz="2800" dirty="0">
                <a:latin typeface="+mj-lt"/>
              </a:rPr>
              <a:t> Microsoft PowerPoint (.pptx) or YouTube link (if &gt;5MB) + Cover Sheet</a:t>
            </a:r>
            <a:br>
              <a:rPr lang="en-US" sz="2800" dirty="0">
                <a:latin typeface="+mj-lt"/>
              </a:rPr>
            </a:br>
            <a:r>
              <a:rPr lang="en-US" sz="2800" b="1" dirty="0">
                <a:latin typeface="+mj-lt"/>
              </a:rPr>
              <a:t>Mandatory:</a:t>
            </a:r>
            <a:r>
              <a:rPr lang="en-US" sz="2800" dirty="0">
                <a:latin typeface="+mj-lt"/>
              </a:rPr>
              <a:t> </a:t>
            </a:r>
            <a:r>
              <a:rPr lang="en-US" sz="2800" b="1" dirty="0">
                <a:latin typeface="+mj-lt"/>
              </a:rPr>
              <a:t>All group members must present.</a:t>
            </a:r>
            <a:r>
              <a:rPr lang="en-US" sz="2800" dirty="0">
                <a:latin typeface="+mj-lt"/>
              </a:rPr>
              <a:t> Students not presenting = </a:t>
            </a:r>
            <a:r>
              <a:rPr lang="en-US" sz="2800" b="1" dirty="0">
                <a:latin typeface="+mj-lt"/>
              </a:rPr>
              <a:t>zero marks</a:t>
            </a:r>
            <a:r>
              <a:rPr lang="en-US" sz="2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239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273D6D-AF15-A88B-5663-73EE37957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859907-696F-6E68-4901-7BDD6E2D21CD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77DEAD8-B4A9-E19D-479C-ABD956A985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01CDE9-BEFC-F946-2A0F-674F60FAEA3F}"/>
              </a:ext>
            </a:extLst>
          </p:cNvPr>
          <p:cNvSpPr txBox="1"/>
          <p:nvPr/>
        </p:nvSpPr>
        <p:spPr>
          <a:xfrm>
            <a:off x="457200" y="1901952"/>
            <a:ext cx="112833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Purpose of This Task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To evaluate your team’s ability to: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Clearly communicate research findings (for </a:t>
            </a:r>
            <a:r>
              <a:rPr lang="en-US" sz="2800" b="1" dirty="0">
                <a:latin typeface="+mj-lt"/>
              </a:rPr>
              <a:t>research projects</a:t>
            </a:r>
            <a:r>
              <a:rPr lang="en-US" sz="2800" dirty="0">
                <a:latin typeface="+mj-lt"/>
              </a:rPr>
              <a:t>), OR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Demonstrate system functionality (for </a:t>
            </a:r>
            <a:r>
              <a:rPr lang="en-US" sz="2800" b="1" dirty="0">
                <a:latin typeface="+mj-lt"/>
              </a:rPr>
              <a:t>IS/prototype-based projects</a:t>
            </a:r>
            <a:r>
              <a:rPr lang="en-US" sz="2800" dirty="0">
                <a:latin typeface="+mj-lt"/>
              </a:rPr>
              <a:t>)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It assesses </a:t>
            </a:r>
            <a:r>
              <a:rPr lang="en-US" sz="2800" b="1" dirty="0">
                <a:latin typeface="+mj-lt"/>
              </a:rPr>
              <a:t>technical understanding</a:t>
            </a:r>
            <a:r>
              <a:rPr lang="en-US" sz="2800" dirty="0">
                <a:latin typeface="+mj-lt"/>
              </a:rPr>
              <a:t>, </a:t>
            </a:r>
            <a:r>
              <a:rPr lang="en-US" sz="2800" b="1" dirty="0">
                <a:latin typeface="+mj-lt"/>
              </a:rPr>
              <a:t>communication skills</a:t>
            </a:r>
            <a:r>
              <a:rPr lang="en-US" sz="2800" dirty="0">
                <a:latin typeface="+mj-lt"/>
              </a:rPr>
              <a:t>, and </a:t>
            </a:r>
            <a:r>
              <a:rPr lang="en-US" sz="2800" b="1" dirty="0">
                <a:latin typeface="+mj-lt"/>
              </a:rPr>
              <a:t>teamwork</a:t>
            </a:r>
            <a:r>
              <a:rPr lang="en-US" sz="2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67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3490D3-3BC8-DC21-8879-D32512B1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CE5070-55F5-3378-0177-8C100360094C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152AB7A-BD59-7E0D-47C9-E750C7AE49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52983D-FCC0-27A8-5EE7-517E38DF1D2F}"/>
              </a:ext>
            </a:extLst>
          </p:cNvPr>
          <p:cNvSpPr txBox="1"/>
          <p:nvPr/>
        </p:nvSpPr>
        <p:spPr>
          <a:xfrm>
            <a:off x="457200" y="1901952"/>
            <a:ext cx="1128335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You Must Do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Step-by-Step Instructions: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Before Presentation (Preparation Phase)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Complete your project</a:t>
            </a:r>
            <a:r>
              <a:rPr lang="en-US" sz="2800" dirty="0">
                <a:latin typeface="+mj-lt"/>
              </a:rPr>
              <a:t> (IS prototype or research findings).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Design your presentation</a:t>
            </a:r>
            <a:r>
              <a:rPr lang="en-US" sz="2800" dirty="0">
                <a:latin typeface="+mj-lt"/>
              </a:rPr>
              <a:t> based on your project type: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+mj-lt"/>
              </a:rPr>
              <a:t>Research Project</a:t>
            </a:r>
            <a:r>
              <a:rPr lang="en-US" sz="2800" dirty="0">
                <a:latin typeface="+mj-lt"/>
              </a:rPr>
              <a:t>: Present research aim, method, key findings, significance.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+mj-lt"/>
              </a:rPr>
              <a:t>IS Project</a:t>
            </a:r>
            <a:r>
              <a:rPr lang="en-US" sz="2800" dirty="0">
                <a:latin typeface="+mj-lt"/>
              </a:rPr>
              <a:t>: Demo interface, features, database integration, workflows.</a:t>
            </a:r>
          </a:p>
        </p:txBody>
      </p:sp>
    </p:spTree>
    <p:extLst>
      <p:ext uri="{BB962C8B-B14F-4D97-AF65-F5344CB8AC3E}">
        <p14:creationId xmlns:p14="http://schemas.microsoft.com/office/powerpoint/2010/main" val="2493419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C6227F-76E5-B057-9060-026E8A55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2238E5-AD44-95D8-B07C-EEF6BCC058F0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6F9BBE5-DF0D-96ED-2386-494A8C5839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B48320-7026-0733-5D72-929F5A6412BC}"/>
              </a:ext>
            </a:extLst>
          </p:cNvPr>
          <p:cNvSpPr txBox="1"/>
          <p:nvPr/>
        </p:nvSpPr>
        <p:spPr>
          <a:xfrm>
            <a:off x="457200" y="1901952"/>
            <a:ext cx="1128335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Use:</a:t>
            </a:r>
          </a:p>
          <a:p>
            <a:pPr marL="70802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PowerPoint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(preferred) or YouTube (if &gt;5MB).</a:t>
            </a:r>
          </a:p>
          <a:p>
            <a:pPr marL="70802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Professional design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Consistent fonts, clear graphs, minimal text.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Rehearse as a group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70802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Time limit: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15 minutes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0802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Practice transitions and answering audience questions.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List only the students who presented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on the cover sheet.</a:t>
            </a:r>
          </a:p>
        </p:txBody>
      </p:sp>
    </p:spTree>
    <p:extLst>
      <p:ext uri="{BB962C8B-B14F-4D97-AF65-F5344CB8AC3E}">
        <p14:creationId xmlns:p14="http://schemas.microsoft.com/office/powerpoint/2010/main" val="408946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15629D-F72B-AB10-E181-5E8E655E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55DD23-CA2D-E2A3-2C5D-23EE878DBEB4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EFB063C-CD99-E63A-315D-F1E7674F3CD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9E78A6-95A7-52C1-59FE-26EDB9ED3345}"/>
              </a:ext>
            </a:extLst>
          </p:cNvPr>
          <p:cNvSpPr txBox="1"/>
          <p:nvPr/>
        </p:nvSpPr>
        <p:spPr>
          <a:xfrm>
            <a:off x="457200" y="1901952"/>
            <a:ext cx="1128335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On Presentation Day</a:t>
            </a:r>
          </a:p>
          <a:p>
            <a:pPr marL="6905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Be present </a:t>
            </a:r>
            <a:r>
              <a:rPr lang="en-US" sz="2800" b="1" dirty="0">
                <a:latin typeface="+mj-lt"/>
              </a:rPr>
              <a:t>in class</a:t>
            </a:r>
            <a:r>
              <a:rPr lang="en-US" sz="2800" dirty="0">
                <a:latin typeface="+mj-lt"/>
              </a:rPr>
              <a:t> – </a:t>
            </a:r>
            <a:r>
              <a:rPr lang="en-US" sz="2800" i="1" dirty="0">
                <a:latin typeface="+mj-lt"/>
              </a:rPr>
              <a:t>no remote presentation accepted</a:t>
            </a:r>
            <a:r>
              <a:rPr lang="en-US" sz="2800" dirty="0">
                <a:latin typeface="+mj-lt"/>
              </a:rPr>
              <a:t> unless pre-approved.</a:t>
            </a:r>
          </a:p>
          <a:p>
            <a:pPr marL="6905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Bring a </a:t>
            </a:r>
            <a:r>
              <a:rPr lang="en-US" sz="2800" b="1" dirty="0">
                <a:latin typeface="+mj-lt"/>
              </a:rPr>
              <a:t>working version of your demo</a:t>
            </a:r>
            <a:r>
              <a:rPr lang="en-US" sz="2800" dirty="0">
                <a:latin typeface="+mj-lt"/>
              </a:rPr>
              <a:t> or slides on a USB or shared link.</a:t>
            </a:r>
          </a:p>
          <a:p>
            <a:pPr marL="6905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Be prepared for </a:t>
            </a:r>
            <a:r>
              <a:rPr lang="en-US" sz="2800" b="1" dirty="0">
                <a:latin typeface="+mj-lt"/>
              </a:rPr>
              <a:t>live questions</a:t>
            </a:r>
            <a:r>
              <a:rPr lang="en-US" sz="2800" dirty="0">
                <a:latin typeface="+mj-lt"/>
              </a:rPr>
              <a:t> from lecturers/panel.</a:t>
            </a:r>
          </a:p>
        </p:txBody>
      </p:sp>
    </p:spTree>
    <p:extLst>
      <p:ext uri="{BB962C8B-B14F-4D97-AF65-F5344CB8AC3E}">
        <p14:creationId xmlns:p14="http://schemas.microsoft.com/office/powerpoint/2010/main" val="3280545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61581A-D580-E8FC-385D-D6CEF989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0D30CF-03D1-8313-1087-0680EAF54E31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62541A5-5C33-0C61-E9CA-9721DCB99B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64F46F-948E-4B6B-BF81-317CC5955625}"/>
              </a:ext>
            </a:extLst>
          </p:cNvPr>
          <p:cNvSpPr txBox="1"/>
          <p:nvPr/>
        </p:nvSpPr>
        <p:spPr>
          <a:xfrm>
            <a:off x="457200" y="1901952"/>
            <a:ext cx="112833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After Presentation (Submission Phase)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Upload: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PowerPoint file </a:t>
            </a:r>
            <a:r>
              <a:rPr lang="en-US" sz="2800" b="1" dirty="0">
                <a:latin typeface="+mj-lt"/>
              </a:rPr>
              <a:t>OR</a:t>
            </a:r>
            <a:r>
              <a:rPr lang="en-US" sz="2800" dirty="0">
                <a:latin typeface="+mj-lt"/>
              </a:rPr>
              <a:t> YouTube link in a Word file.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Completed </a:t>
            </a:r>
            <a:r>
              <a:rPr lang="en-US" sz="2800" b="1" dirty="0">
                <a:latin typeface="+mj-lt"/>
              </a:rPr>
              <a:t>cover sheet</a:t>
            </a:r>
            <a:r>
              <a:rPr lang="en-US" sz="2800" dirty="0">
                <a:latin typeface="+mj-lt"/>
              </a:rPr>
              <a:t> with names of those who presented.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Submit via </a:t>
            </a:r>
            <a:r>
              <a:rPr lang="en-US" sz="2800" b="1" dirty="0">
                <a:latin typeface="+mj-lt"/>
              </a:rPr>
              <a:t>Blackboard</a:t>
            </a:r>
            <a:r>
              <a:rPr lang="en-US" sz="2800" dirty="0">
                <a:latin typeface="+mj-lt"/>
              </a:rPr>
              <a:t> (desktop only, not from a phone/tablet).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Ensure </a:t>
            </a:r>
            <a:r>
              <a:rPr lang="en-US" sz="2800" b="1" dirty="0">
                <a:latin typeface="+mj-lt"/>
              </a:rPr>
              <a:t>YouTube links are public &amp; working</a:t>
            </a:r>
            <a:r>
              <a:rPr lang="en-US" sz="2800" dirty="0">
                <a:latin typeface="+mj-lt"/>
              </a:rPr>
              <a:t> before uploading.</a:t>
            </a:r>
          </a:p>
        </p:txBody>
      </p:sp>
    </p:spTree>
    <p:extLst>
      <p:ext uri="{BB962C8B-B14F-4D97-AF65-F5344CB8AC3E}">
        <p14:creationId xmlns:p14="http://schemas.microsoft.com/office/powerpoint/2010/main" val="1559855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6B5D551-B5D8-2EF8-E35E-258455E6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3CE879-D3F5-F6E3-684A-A324562A85E5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5F16693-B25D-3C66-BFD9-CFE8F2AC91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C35BA6-052C-3EEE-C8E0-C87B848C7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446598"/>
              </p:ext>
            </p:extLst>
          </p:nvPr>
        </p:nvGraphicFramePr>
        <p:xfrm>
          <a:off x="609600" y="2284498"/>
          <a:ext cx="10972800" cy="6577711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67754827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3277981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Mistake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Consequence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406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❌ Not presenting in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/>
                        <a:t>Zero marks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7964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❌ Using a PDF or Google Slides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Not accepted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16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❌ Submitting from a phone or tablet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Submission may not be received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766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❌ Listing non-presenting members on cover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Academic misconduct + </a:t>
                      </a:r>
                      <a:r>
                        <a:rPr lang="en-US" sz="2800" b="1"/>
                        <a:t>no marks</a:t>
                      </a:r>
                      <a:endParaRPr 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09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❌ Unformatted cover sheet or missing names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Those students won’t receive 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838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❌ YouTube links not working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File treated as missing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97403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7379586-81C6-B559-3441-5E1C61A73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47792"/>
            <a:ext cx="29129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❌ What to Avoid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289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1F5E47-08EE-7F36-6E9C-7D545076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EE168A-BDE8-22BD-3100-E136AB3574A6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41E2E3A-8979-DB42-547E-62152540B1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B852DEF-EA2B-A948-0844-09B10D6CD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64" y="1534852"/>
            <a:ext cx="11983535" cy="7781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Tips for Success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Content Tips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For </a:t>
            </a:r>
            <a:r>
              <a:rPr lang="en-US" sz="2800" b="1" dirty="0">
                <a:latin typeface="+mj-lt"/>
              </a:rPr>
              <a:t>Research Project</a:t>
            </a:r>
            <a:r>
              <a:rPr lang="en-US" sz="2800" dirty="0">
                <a:latin typeface="+mj-lt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clear structure: </a:t>
            </a:r>
            <a:r>
              <a:rPr lang="en-US" sz="2800" i="1" dirty="0">
                <a:latin typeface="+mj-lt"/>
              </a:rPr>
              <a:t>Background → Methodology → Key Findings → Conclusion</a:t>
            </a:r>
            <a:endParaRPr lang="en-US" sz="2800" dirty="0">
              <a:latin typeface="+mj-lt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tables, citations, and charts.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End with 1–2 slides: </a:t>
            </a:r>
            <a:r>
              <a:rPr lang="en-US" sz="2800" i="1" dirty="0">
                <a:latin typeface="+mj-lt"/>
              </a:rPr>
              <a:t>What next? Recommendations?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For </a:t>
            </a:r>
            <a:r>
              <a:rPr lang="en-US" sz="2800" b="1" dirty="0">
                <a:latin typeface="+mj-lt"/>
              </a:rPr>
              <a:t>IS/IT Projects</a:t>
            </a:r>
            <a:r>
              <a:rPr lang="en-US" sz="2800" dirty="0">
                <a:latin typeface="+mj-lt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Demo real functionality: logins, records, automation.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Have sample data in your system.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Ensure smooth navigation between modules.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Back up your source files before the day.</a:t>
            </a:r>
          </a:p>
        </p:txBody>
      </p:sp>
    </p:spTree>
    <p:extLst>
      <p:ext uri="{BB962C8B-B14F-4D97-AF65-F5344CB8AC3E}">
        <p14:creationId xmlns:p14="http://schemas.microsoft.com/office/powerpoint/2010/main" val="684191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73DAD2-128B-530A-34DB-356999D11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C35A21-2B02-DBCA-EDF8-53113D67DA68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1E3D371-2463-DAC8-1928-DF622152B6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B3CA01C-3E0A-7C2C-CC3A-32F95A53B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32" y="2754282"/>
            <a:ext cx="11983535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Presentation Tips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b="1" dirty="0">
                <a:latin typeface="+mj-lt"/>
              </a:rPr>
              <a:t>cue cards</a:t>
            </a:r>
            <a:r>
              <a:rPr lang="en-US" sz="2800" dirty="0">
                <a:latin typeface="+mj-lt"/>
              </a:rPr>
              <a:t> or </a:t>
            </a:r>
            <a:r>
              <a:rPr lang="en-US" sz="2800" b="1" dirty="0">
                <a:latin typeface="+mj-lt"/>
              </a:rPr>
              <a:t>speaker notes</a:t>
            </a:r>
            <a:r>
              <a:rPr lang="en-US" sz="2800" dirty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Stick to your part. Speak confidently but briefly.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b="1" dirty="0">
                <a:latin typeface="+mj-lt"/>
              </a:rPr>
              <a:t>transitions</a:t>
            </a:r>
            <a:r>
              <a:rPr lang="en-US" sz="2800" dirty="0">
                <a:latin typeface="+mj-lt"/>
              </a:rPr>
              <a:t> and let everyone speak ~2–3 mins each.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Expect questions</a:t>
            </a:r>
            <a:r>
              <a:rPr lang="en-US" sz="2800" dirty="0">
                <a:latin typeface="+mj-lt"/>
              </a:rPr>
              <a:t> like: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“How did your system solve the problem?”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“What was your biggest technical challenge?”</a:t>
            </a:r>
          </a:p>
        </p:txBody>
      </p:sp>
    </p:spTree>
    <p:extLst>
      <p:ext uri="{BB962C8B-B14F-4D97-AF65-F5344CB8AC3E}">
        <p14:creationId xmlns:p14="http://schemas.microsoft.com/office/powerpoint/2010/main" val="156703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D9F517-4A4F-9287-3107-088E121A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C16FFE-24A5-51D6-67A1-B7F069AAA5FB}"/>
              </a:ext>
            </a:extLst>
          </p:cNvPr>
          <p:cNvSpPr txBox="1"/>
          <p:nvPr/>
        </p:nvSpPr>
        <p:spPr>
          <a:xfrm>
            <a:off x="191211" y="213486"/>
            <a:ext cx="10401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Presentation and Demonstration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C63C1C-5DD4-E4DC-D9AC-4AC0E434C4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143888A-F64D-325C-5B86-540721449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32" y="3077448"/>
            <a:ext cx="11983535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Final Submission Checklist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PowerPoint file OR YouTube link in Word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Microsoft Word Cover Sheet with names of actual presenters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File format = .pptx or .docx only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File &lt;5MB OR YouTube link submitted properly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Submitted from a desktop or laptop (not mobile)</a:t>
            </a:r>
          </a:p>
        </p:txBody>
      </p:sp>
    </p:spTree>
    <p:extLst>
      <p:ext uri="{BB962C8B-B14F-4D97-AF65-F5344CB8AC3E}">
        <p14:creationId xmlns:p14="http://schemas.microsoft.com/office/powerpoint/2010/main" val="910967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E0D2-9286-EC6A-FC28-A59187C9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53D8119B-B033-4742-7B01-FE383058F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6" y="12941"/>
            <a:ext cx="12192000" cy="105385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Group Progress Presentation – Overview of Progress at least 5 min</a:t>
            </a:r>
            <a:endParaRPr lang="en-US" sz="360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872E6-ECC6-7615-EF56-326EA87C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99" b="23637"/>
          <a:stretch/>
        </p:blipFill>
        <p:spPr>
          <a:xfrm>
            <a:off x="8626" y="1371600"/>
            <a:ext cx="12192000" cy="42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77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962420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Good luck with your capstone journey!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Dr. Farshid Keivanian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Project Supervisor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</TotalTime>
  <Words>791</Words>
  <Application>Microsoft Office PowerPoint</Application>
  <PresentationFormat>Custom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 Progress Presentation – Overview of Progress at least 5 min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148</cp:revision>
  <dcterms:created xsi:type="dcterms:W3CDTF">2025-04-05T17:32:34Z</dcterms:created>
  <dcterms:modified xsi:type="dcterms:W3CDTF">2025-08-10T04:09:41Z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