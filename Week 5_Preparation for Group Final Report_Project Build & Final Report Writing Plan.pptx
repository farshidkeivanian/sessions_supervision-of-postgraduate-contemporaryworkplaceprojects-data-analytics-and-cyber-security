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84" r:id="rId3"/>
    <p:sldId id="1756" r:id="rId4"/>
    <p:sldId id="1758" r:id="rId5"/>
    <p:sldId id="1757" r:id="rId6"/>
    <p:sldId id="1755" r:id="rId7"/>
    <p:sldId id="437" r:id="rId8"/>
    <p:sldId id="1749" r:id="rId9"/>
    <p:sldId id="1750" r:id="rId10"/>
    <p:sldId id="1751" r:id="rId11"/>
    <p:sldId id="1752" r:id="rId12"/>
    <p:sldId id="1753" r:id="rId13"/>
    <p:sldId id="1754" r:id="rId14"/>
    <p:sldId id="1747" r:id="rId15"/>
    <p:sldId id="612" r:id="rId16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E6D3-906C-1320-4687-C1367C63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1287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C4FD-A4A9-4ABA-B38A-5C011FCA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9ADD-9CFD-F94C-3BD4-E15649A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A22E6EEE-11DC-44F3-8567-F3508996C4D6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D539-4B99-E1AD-D8EE-398581E1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18EA-AFF6-1D9C-A064-CCC312C7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1502" y="9253759"/>
            <a:ext cx="533400" cy="169277"/>
          </a:xfrm>
        </p:spPr>
        <p:txBody>
          <a:bodyPr/>
          <a:lstStyle/>
          <a:p>
            <a:fld id="{65DD78D8-BAAB-4AA7-9E67-7B3D99A13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57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4992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HI6050 Capstone: Comprehensive Topic Selection and Supplementary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Supervisor: Dr. Farshid Keivanian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Session 5: </a:t>
            </a:r>
            <a:r>
              <a:rPr lang="en-US" sz="3600" dirty="0">
                <a:latin typeface="+mj-lt"/>
              </a:rPr>
              <a:t>Preparation for Group Final Report: Project Build &amp; Final Report Writing Plan: Project Build &amp; Final Report Writing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A857E-2760-5DC2-2EA8-E21001AF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4F9D36-6170-5FAE-E944-677E44AACC66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Proposal </a:t>
            </a:r>
            <a:r>
              <a:rPr lang="en-US" sz="3600" b="1" dirty="0" err="1">
                <a:latin typeface="+mj-lt"/>
              </a:rPr>
              <a:t>Finalisation</a:t>
            </a:r>
            <a:r>
              <a:rPr lang="en-US" sz="3600" b="1" dirty="0">
                <a:latin typeface="+mj-lt"/>
              </a:rPr>
              <a:t> &amp; Early Methodology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BEF1FE-A6BA-759A-6F91-3232480C08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64D815-B32A-8972-6E1F-949DC80CDCDA}"/>
              </a:ext>
            </a:extLst>
          </p:cNvPr>
          <p:cNvSpPr txBox="1"/>
          <p:nvPr/>
        </p:nvSpPr>
        <p:spPr>
          <a:xfrm>
            <a:off x="304800" y="2233691"/>
            <a:ext cx="1158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Objectives: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Integrate supervisor feedback into proposal.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Draft initial methodology and data collection plan.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Expand literature review to 12–15 quality sources.</a:t>
            </a:r>
          </a:p>
        </p:txBody>
      </p:sp>
    </p:spTree>
    <p:extLst>
      <p:ext uri="{BB962C8B-B14F-4D97-AF65-F5344CB8AC3E}">
        <p14:creationId xmlns:p14="http://schemas.microsoft.com/office/powerpoint/2010/main" val="75441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56AC54-D34F-AF58-D9BC-480E6108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F391D0-A118-7093-F3BF-8A0FECE0DF99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Proposal </a:t>
            </a:r>
            <a:r>
              <a:rPr lang="en-US" sz="3600" b="1" dirty="0" err="1">
                <a:latin typeface="+mj-lt"/>
              </a:rPr>
              <a:t>Finalisation</a:t>
            </a:r>
            <a:r>
              <a:rPr lang="en-US" sz="3600" b="1" dirty="0">
                <a:latin typeface="+mj-lt"/>
              </a:rPr>
              <a:t> &amp; Early Methodology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65CE722-2FA1-1558-940F-2ECE8B2721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C1DA62-D4DB-4653-E7CE-68E061261A83}"/>
              </a:ext>
            </a:extLst>
          </p:cNvPr>
          <p:cNvSpPr txBox="1"/>
          <p:nvPr/>
        </p:nvSpPr>
        <p:spPr>
          <a:xfrm>
            <a:off x="304800" y="2233691"/>
            <a:ext cx="115824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Tasks for Groups:</a:t>
            </a:r>
            <a:endParaRPr lang="en-US" sz="2800" dirty="0">
              <a:latin typeface="+mj-lt"/>
            </a:endParaRP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Finalize research aim, objectives, and research questions.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Draft literature review section in connected paragraphs, showing trends and contradictions in past work.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Continue building literature review.</a:t>
            </a:r>
          </a:p>
        </p:txBody>
      </p:sp>
    </p:spTree>
    <p:extLst>
      <p:ext uri="{BB962C8B-B14F-4D97-AF65-F5344CB8AC3E}">
        <p14:creationId xmlns:p14="http://schemas.microsoft.com/office/powerpoint/2010/main" val="354033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8CEAE0-3012-7323-19DF-BBA943C5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CBC0C6-B01F-5F17-1B72-C048635B7DC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Proposal </a:t>
            </a:r>
            <a:r>
              <a:rPr lang="en-US" sz="3600" b="1" dirty="0" err="1">
                <a:latin typeface="+mj-lt"/>
              </a:rPr>
              <a:t>Finalisation</a:t>
            </a:r>
            <a:r>
              <a:rPr lang="en-US" sz="3600" b="1" dirty="0">
                <a:latin typeface="+mj-lt"/>
              </a:rPr>
              <a:t> &amp; Early Methodology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9563E62-AC69-BC9E-59B3-5AE46B9B39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853CB7-A925-7D33-1211-D4674823D3EC}"/>
              </a:ext>
            </a:extLst>
          </p:cNvPr>
          <p:cNvSpPr txBox="1"/>
          <p:nvPr/>
        </p:nvSpPr>
        <p:spPr>
          <a:xfrm>
            <a:off x="304800" y="2233691"/>
            <a:ext cx="11582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Literature Review Focus This Week: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Add </a:t>
            </a:r>
            <a:r>
              <a:rPr lang="en-US" sz="2800" b="1" dirty="0">
                <a:latin typeface="+mj-lt"/>
              </a:rPr>
              <a:t>regional or industry-specific studies</a:t>
            </a:r>
            <a:r>
              <a:rPr lang="en-US" sz="2800" dirty="0">
                <a:latin typeface="+mj-lt"/>
              </a:rPr>
              <a:t> (e.g., Australia, Asia-Pacific).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at least one </a:t>
            </a:r>
            <a:r>
              <a:rPr lang="en-US" sz="2800" b="1" dirty="0">
                <a:latin typeface="+mj-lt"/>
              </a:rPr>
              <a:t>framework/model</a:t>
            </a:r>
            <a:r>
              <a:rPr lang="en-US" sz="2800" dirty="0">
                <a:latin typeface="+mj-lt"/>
              </a:rPr>
              <a:t> relevant to your topic.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strengths and weaknesses of different approaches.</a:t>
            </a:r>
          </a:p>
        </p:txBody>
      </p:sp>
    </p:spTree>
    <p:extLst>
      <p:ext uri="{BB962C8B-B14F-4D97-AF65-F5344CB8AC3E}">
        <p14:creationId xmlns:p14="http://schemas.microsoft.com/office/powerpoint/2010/main" val="232317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F865CE-EE40-D004-48C0-7CB82851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F410FF-0F63-A200-7706-D4DFEC3EDE51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Proposal </a:t>
            </a:r>
            <a:r>
              <a:rPr lang="en-US" sz="3600" b="1" dirty="0" err="1">
                <a:latin typeface="+mj-lt"/>
              </a:rPr>
              <a:t>Finalisation</a:t>
            </a:r>
            <a:r>
              <a:rPr lang="en-US" sz="3600" b="1" dirty="0">
                <a:latin typeface="+mj-lt"/>
              </a:rPr>
              <a:t> &amp; Early Methodology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0C75A1C-A6FC-F43A-A128-F00A4331B9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7BACB4-069E-4612-2C3E-CAE20D8597BA}"/>
              </a:ext>
            </a:extLst>
          </p:cNvPr>
          <p:cNvSpPr txBox="1"/>
          <p:nvPr/>
        </p:nvSpPr>
        <p:spPr>
          <a:xfrm>
            <a:off x="304800" y="2233691"/>
            <a:ext cx="115824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 all in-text citations follow Adapted Harvard style.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Cross-check with assessment instructions.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last-minute rush before proposal submission.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forget to link methodology to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260591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D142B8-AB35-AE15-3704-7D3596C0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BDE357-08CE-2B8B-D86A-78F9AC5E1140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366D101-F3F5-66B5-EAEF-DAEFA33E10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E5B848-3200-5482-B562-9B518D195B70}"/>
              </a:ext>
            </a:extLst>
          </p:cNvPr>
          <p:cNvSpPr/>
          <p:nvPr/>
        </p:nvSpPr>
        <p:spPr>
          <a:xfrm>
            <a:off x="1600200" y="5410200"/>
            <a:ext cx="1524000" cy="3810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D3AC79-BAB5-036A-9351-286F3B2CB2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01" t="13333" r="21874" b="20000"/>
          <a:stretch>
            <a:fillRect/>
          </a:stretch>
        </p:blipFill>
        <p:spPr>
          <a:xfrm>
            <a:off x="1524000" y="2115438"/>
            <a:ext cx="9067800" cy="61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9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C7EAED-98FD-BF40-F827-981D0902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61DC71-359D-3013-40FF-80E6454C376A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F6481E3-A976-2302-8B84-7A861068CE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85F1C9-DD21-35BC-CA6E-6FDA77063E2F}"/>
              </a:ext>
            </a:extLst>
          </p:cNvPr>
          <p:cNvSpPr txBox="1"/>
          <p:nvPr/>
        </p:nvSpPr>
        <p:spPr>
          <a:xfrm>
            <a:off x="533400" y="2362201"/>
            <a:ext cx="1113095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Project Build + Report Drafting (Independent Work + Weekly Check-ins)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Goals: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Begin technical work (e.g., coding, modeling, dashboarding)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Write the main report sections: Introduction, Methodology, Literature Review, Results, Discussion</a:t>
            </a:r>
          </a:p>
        </p:txBody>
      </p:sp>
    </p:spTree>
    <p:extLst>
      <p:ext uri="{BB962C8B-B14F-4D97-AF65-F5344CB8AC3E}">
        <p14:creationId xmlns:p14="http://schemas.microsoft.com/office/powerpoint/2010/main" val="365338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F6D138-F26B-8BC7-FBD9-6E28F43D3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410721-AC5D-8E87-DE1F-BAAF6E381F98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3453A8A-8C04-FD65-8C4F-E004707740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70B1E7-7346-F294-8EF6-DF8134921257}"/>
              </a:ext>
            </a:extLst>
          </p:cNvPr>
          <p:cNvSpPr txBox="1"/>
          <p:nvPr/>
        </p:nvSpPr>
        <p:spPr>
          <a:xfrm>
            <a:off x="533400" y="2362201"/>
            <a:ext cx="111309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to Do:</a:t>
            </a:r>
          </a:p>
          <a:p>
            <a:pPr marL="7080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Allocate roles: coder, document writer, reviewer</a:t>
            </a:r>
          </a:p>
          <a:p>
            <a:pPr marL="7080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Agile-style standups (15 mins): what did we do, what’s next?</a:t>
            </a:r>
          </a:p>
          <a:p>
            <a:pPr marL="7080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GitHub/Google Drive for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19164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DAB6F2-6701-8CD2-5DD5-9AFC2FAC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F20599-0D64-4E4A-3D97-BE2BA5E7E94C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B2372E5-C840-10CE-076C-FA5BD293C8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79F375-0BEB-00E8-DA07-54B3FFAAF5E3}"/>
              </a:ext>
            </a:extLst>
          </p:cNvPr>
          <p:cNvSpPr txBox="1"/>
          <p:nvPr/>
        </p:nvSpPr>
        <p:spPr>
          <a:xfrm>
            <a:off x="533400" y="2362201"/>
            <a:ext cx="111309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❌ What to Avoid:</a:t>
            </a:r>
          </a:p>
          <a:p>
            <a:pPr marL="9826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Ignoring version control for report/code</a:t>
            </a:r>
          </a:p>
          <a:p>
            <a:pPr marL="9826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Working last minute on results or analysis</a:t>
            </a:r>
          </a:p>
          <a:p>
            <a:pPr marL="9826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Skipping documentation during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146046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D894D8-5296-500C-6760-0A979B3A5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C2B2DB-2C7E-D59D-8AD7-2966788ED368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44343B4-EDED-4450-A9A5-EB59358BDA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7F7397-217D-C76D-F58E-519661BEE732}"/>
              </a:ext>
            </a:extLst>
          </p:cNvPr>
          <p:cNvSpPr txBox="1"/>
          <p:nvPr/>
        </p:nvSpPr>
        <p:spPr>
          <a:xfrm>
            <a:off x="533400" y="2362201"/>
            <a:ext cx="111309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Tips:</a:t>
            </a:r>
          </a:p>
          <a:p>
            <a:pPr marL="9493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Start the report early – one section/week</a:t>
            </a:r>
          </a:p>
          <a:p>
            <a:pPr marL="9493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Backup files regularly</a:t>
            </a:r>
          </a:p>
          <a:p>
            <a:pPr marL="9493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Document failed attempts and what was learned</a:t>
            </a:r>
          </a:p>
        </p:txBody>
      </p:sp>
    </p:spTree>
    <p:extLst>
      <p:ext uri="{BB962C8B-B14F-4D97-AF65-F5344CB8AC3E}">
        <p14:creationId xmlns:p14="http://schemas.microsoft.com/office/powerpoint/2010/main" val="427068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306579-8FD7-A208-77AF-21080E86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EB260E-FE59-8FA2-0CF3-85CC437C36D6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437CB2C-602D-8FA3-5754-DFA4CD6E9F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2D045F-E6E0-1CA4-29E1-31FA8257B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489621"/>
              </p:ext>
            </p:extLst>
          </p:nvPr>
        </p:nvGraphicFramePr>
        <p:xfrm>
          <a:off x="163894" y="2626794"/>
          <a:ext cx="11963400" cy="64312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731706">
                  <a:extLst>
                    <a:ext uri="{9D8B030D-6E8A-4147-A177-3AD203B41FA5}">
                      <a16:colId xmlns:a16="http://schemas.microsoft.com/office/drawing/2014/main" val="3592837481"/>
                    </a:ext>
                  </a:extLst>
                </a:gridCol>
                <a:gridCol w="3211894">
                  <a:extLst>
                    <a:ext uri="{9D8B030D-6E8A-4147-A177-3AD203B41FA5}">
                      <a16:colId xmlns:a16="http://schemas.microsoft.com/office/drawing/2014/main" val="27870860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6818317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73266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Topic Example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Key Focus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Tools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Output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0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AI in Healthcare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Review use cases,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Python, Scikit-learn, PubMed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Research Q: How effective is AI in early disease prediction?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33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/>
                        <a:t>Data Privacy Laws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Review global frameworks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Data scraping, legal archives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Research Q: How GDPR impacts corporate analytics?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345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/>
                        <a:t>Cybersecurity in E-commerce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Analyze breach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OWASP, PHP,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Research Q: What methods mitigate SQL injection attacks?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930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/>
                        <a:t>Data Analytics in Finance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Review fraud detection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Python, 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Research Q: Can ML detect real-time transaction fraud?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522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208F519-5D5E-D202-9662-85F1225E4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18940"/>
            <a:ext cx="54120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 Guidance Based on Topics</a:t>
            </a:r>
          </a:p>
        </p:txBody>
      </p:sp>
    </p:spTree>
    <p:extLst>
      <p:ext uri="{BB962C8B-B14F-4D97-AF65-F5344CB8AC3E}">
        <p14:creationId xmlns:p14="http://schemas.microsoft.com/office/powerpoint/2010/main" val="78499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9A68BE-E935-CAB3-73AC-A1FB4EAD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FC3B6B7-0EB6-C476-BD52-15F8A20A44C5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32DBEB8-F302-E8DA-8382-258BD4D8ED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8F7CB2B-BB0F-AA26-83BF-2C6CBB323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49" y="1674958"/>
            <a:ext cx="7532831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Resources to Provide Students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Literature Review Matrix Template (Excel)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Holmes Harvard Referencing Guide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Sample Proposal (Word)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Gantt Chart Template (Excel or PowerPoint)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Sample Abstracts and Research Questions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Session Slides (if you'd like, I can draft these)</a:t>
            </a:r>
          </a:p>
        </p:txBody>
      </p:sp>
    </p:spTree>
    <p:extLst>
      <p:ext uri="{BB962C8B-B14F-4D97-AF65-F5344CB8AC3E}">
        <p14:creationId xmlns:p14="http://schemas.microsoft.com/office/powerpoint/2010/main" val="326818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B01582-3669-1DA9-BF74-799528EC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7C92A6-4521-2BAB-02E1-7E8B4A37E338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Report: Project Build &amp; Final Report Writing Plan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A8D8B6B-5127-1980-EEB0-E538A182C2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92FE286-1CA0-AC97-F9A0-DC42D0DB3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49" y="1998123"/>
            <a:ext cx="7409401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Resources to Provide Students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Literature Review Matrix Template (Excel)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Holmes Harvard Referencing Guide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Sample Proposal (Word)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Gantt Chart Template (Excel or PowerPoint)</a:t>
            </a:r>
          </a:p>
          <a:p>
            <a:pPr marL="8286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Sample Abstracts and </a:t>
            </a:r>
            <a:r>
              <a:rPr lang="en-US" sz="2800">
                <a:latin typeface="+mj-lt"/>
              </a:rPr>
              <a:t>Research Questions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8608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0D2-9286-EC6A-FC28-A59187C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53D8119B-B033-4742-7B01-FE383058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" y="12941"/>
            <a:ext cx="12192000" cy="105385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Group Progress Presentation – Overview of Progress at least 5 min</a:t>
            </a:r>
            <a:endParaRPr lang="en-US" sz="36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72E6-ECC6-7615-EF56-326EA87C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9" b="23637"/>
          <a:stretch/>
        </p:blipFill>
        <p:spPr>
          <a:xfrm>
            <a:off x="8626" y="1371600"/>
            <a:ext cx="12192000" cy="42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962420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Good luck with your capstone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Dr. Farshid Keivanian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Capstone Project Supervisor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</TotalTime>
  <Words>647</Words>
  <Application>Microsoft Office PowerPoint</Application>
  <PresentationFormat>Custom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Progress Presentation – Overview of Progress at least 5 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151</cp:revision>
  <dcterms:created xsi:type="dcterms:W3CDTF">2025-04-05T17:32:34Z</dcterms:created>
  <dcterms:modified xsi:type="dcterms:W3CDTF">2025-08-10T04:06:37Z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