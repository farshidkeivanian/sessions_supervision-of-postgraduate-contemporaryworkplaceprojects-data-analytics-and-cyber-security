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384" r:id="rId3"/>
    <p:sldId id="1756" r:id="rId4"/>
    <p:sldId id="1757" r:id="rId5"/>
    <p:sldId id="1755" r:id="rId6"/>
    <p:sldId id="437" r:id="rId7"/>
    <p:sldId id="1749" r:id="rId8"/>
    <p:sldId id="1750" r:id="rId9"/>
    <p:sldId id="1751" r:id="rId10"/>
    <p:sldId id="1752" r:id="rId11"/>
    <p:sldId id="1753" r:id="rId12"/>
    <p:sldId id="1754" r:id="rId13"/>
    <p:sldId id="1747" r:id="rId14"/>
    <p:sldId id="612" r:id="rId15"/>
  </p:sldIdLst>
  <p:sldSz cx="12192000" cy="10058400"/>
  <p:notesSz cx="121920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15" autoAdjust="0"/>
    <p:restoredTop sz="94660"/>
  </p:normalViewPr>
  <p:slideViewPr>
    <p:cSldViewPr>
      <p:cViewPr varScale="1">
        <p:scale>
          <a:sx n="48" d="100"/>
          <a:sy n="48" d="100"/>
        </p:scale>
        <p:origin x="1235" y="55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055111" y="1967229"/>
            <a:ext cx="4791075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49224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2023" y="42671"/>
            <a:ext cx="1531620" cy="56235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3E6D3-906C-1320-4687-C1367C63E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301287"/>
            <a:ext cx="9144000" cy="1846659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F1C4FD-A4A9-4ABA-B38A-5C011FCA6C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82989"/>
            <a:ext cx="9144000" cy="36933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929ADD-9CFD-F94C-3BD4-E15649AA4B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77940"/>
            <a:ext cx="2804160" cy="276999"/>
          </a:xfrm>
        </p:spPr>
        <p:txBody>
          <a:bodyPr/>
          <a:lstStyle/>
          <a:p>
            <a:fld id="{A22E6EEE-11DC-44F3-8567-F3508996C4D6}" type="datetimeFigureOut">
              <a:rPr lang="en-AU" smtClean="0"/>
              <a:t>10/08/2025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CD539-4B99-E1AD-D8EE-398581E19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45280" y="6377940"/>
            <a:ext cx="3901440" cy="276999"/>
          </a:xfrm>
        </p:spPr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118EA-AFF6-1D9C-A064-CCC312C78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21502" y="9253759"/>
            <a:ext cx="533400" cy="169277"/>
          </a:xfrm>
        </p:spPr>
        <p:txBody>
          <a:bodyPr/>
          <a:lstStyle/>
          <a:p>
            <a:fld id="{65DD78D8-BAAB-4AA7-9E67-7B3D99A130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1578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8739" y="-1396"/>
            <a:ext cx="12034520" cy="391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921502" y="9253759"/>
            <a:ext cx="533400" cy="1879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C8CCC5-7719-5429-9C16-F066E03793F0}"/>
              </a:ext>
            </a:extLst>
          </p:cNvPr>
          <p:cNvSpPr txBox="1"/>
          <p:nvPr/>
        </p:nvSpPr>
        <p:spPr>
          <a:xfrm>
            <a:off x="304800" y="1752601"/>
            <a:ext cx="11887199" cy="4992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HI6050 Capstone: Comprehensive Topic Selection and Supplementary Document</a:t>
            </a:r>
          </a:p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Supervisor: Dr. Farshid Keivanian</a:t>
            </a:r>
          </a:p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Session 5: </a:t>
            </a:r>
            <a:r>
              <a:rPr lang="en-US" sz="3600" dirty="0">
                <a:latin typeface="+mj-lt"/>
              </a:rPr>
              <a:t>Preparation for Group Final Report: Project Build &amp; Final Report Writing Plan: Project Build &amp; Final Report Writing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4CA857E-2760-5DC2-2EA8-E21001AF6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94F9D36-6170-5FAE-E944-677E44AACC66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Proposal </a:t>
            </a:r>
            <a:r>
              <a:rPr lang="en-US" sz="3600" b="1" dirty="0" err="1">
                <a:latin typeface="+mj-lt"/>
              </a:rPr>
              <a:t>Finalisation</a:t>
            </a:r>
            <a:r>
              <a:rPr lang="en-US" sz="3600" b="1" dirty="0">
                <a:latin typeface="+mj-lt"/>
              </a:rPr>
              <a:t> &amp; Early Methodology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18BEF1FE-A6BA-759A-6F91-3232480C081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64D815-B32A-8972-6E1F-949DC80CDCDA}"/>
              </a:ext>
            </a:extLst>
          </p:cNvPr>
          <p:cNvSpPr txBox="1"/>
          <p:nvPr/>
        </p:nvSpPr>
        <p:spPr>
          <a:xfrm>
            <a:off x="304800" y="2233691"/>
            <a:ext cx="115824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Objectives:</a:t>
            </a:r>
            <a:endParaRPr lang="en-US" sz="28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Integrate supervisor feedback into proposal.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Draft initial methodology and data collection plan.</a:t>
            </a:r>
          </a:p>
        </p:txBody>
      </p:sp>
    </p:spTree>
    <p:extLst>
      <p:ext uri="{BB962C8B-B14F-4D97-AF65-F5344CB8AC3E}">
        <p14:creationId xmlns:p14="http://schemas.microsoft.com/office/powerpoint/2010/main" val="754411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E56AC54-D34F-AF58-D9BC-480E6108F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6F391D0-A118-7093-F3BF-8A0FECE0DF99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Proposal </a:t>
            </a:r>
            <a:r>
              <a:rPr lang="en-US" sz="3600" b="1" dirty="0" err="1">
                <a:latin typeface="+mj-lt"/>
              </a:rPr>
              <a:t>Finalisation</a:t>
            </a:r>
            <a:r>
              <a:rPr lang="en-US" sz="3600" b="1" dirty="0">
                <a:latin typeface="+mj-lt"/>
              </a:rPr>
              <a:t> &amp; Early Methodology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965CE722-2FA1-1558-940F-2ECE8B2721D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C1DA62-D4DB-4653-E7CE-68E061261A83}"/>
              </a:ext>
            </a:extLst>
          </p:cNvPr>
          <p:cNvSpPr txBox="1"/>
          <p:nvPr/>
        </p:nvSpPr>
        <p:spPr>
          <a:xfrm>
            <a:off x="304800" y="2233691"/>
            <a:ext cx="115824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Tasks for Groups:</a:t>
            </a:r>
            <a:endParaRPr lang="en-US" sz="2800" dirty="0">
              <a:latin typeface="+mj-lt"/>
            </a:endParaRP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Finalize research aim, objectives, and research questions.</a:t>
            </a: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Prepare draft proposal for peer review.</a:t>
            </a: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Continue building literature review.</a:t>
            </a:r>
          </a:p>
        </p:txBody>
      </p:sp>
    </p:spTree>
    <p:extLst>
      <p:ext uri="{BB962C8B-B14F-4D97-AF65-F5344CB8AC3E}">
        <p14:creationId xmlns:p14="http://schemas.microsoft.com/office/powerpoint/2010/main" val="3540336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6F865CE-EE40-D004-48C0-7CB828515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CF410FF-0F63-A200-7706-D4DFEC3EDE51}"/>
              </a:ext>
            </a:extLst>
          </p:cNvPr>
          <p:cNvSpPr txBox="1"/>
          <p:nvPr/>
        </p:nvSpPr>
        <p:spPr>
          <a:xfrm>
            <a:off x="191211" y="213486"/>
            <a:ext cx="104013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Proposal </a:t>
            </a:r>
            <a:r>
              <a:rPr lang="en-US" sz="3600" b="1" dirty="0" err="1">
                <a:latin typeface="+mj-lt"/>
              </a:rPr>
              <a:t>Finalisation</a:t>
            </a:r>
            <a:r>
              <a:rPr lang="en-US" sz="3600" b="1" dirty="0">
                <a:latin typeface="+mj-lt"/>
              </a:rPr>
              <a:t> &amp; Early Methodology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20C75A1C-A6FC-F43A-A128-F00A4331B93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7BACB4-069E-4612-2C3E-CAE20D8597BA}"/>
              </a:ext>
            </a:extLst>
          </p:cNvPr>
          <p:cNvSpPr txBox="1"/>
          <p:nvPr/>
        </p:nvSpPr>
        <p:spPr>
          <a:xfrm>
            <a:off x="304800" y="2233691"/>
            <a:ext cx="115824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Do’s:</a:t>
            </a:r>
            <a:endParaRPr lang="en-US" sz="2800" dirty="0">
              <a:latin typeface="+mj-lt"/>
            </a:endParaRP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Ensure all in-text citations follow Adapted Harvard style.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Cross-check with assessment instructions.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Don’ts:</a:t>
            </a:r>
            <a:endParaRPr lang="en-US" sz="2800" dirty="0">
              <a:latin typeface="+mj-lt"/>
            </a:endParaRP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Avoid last-minute rush before proposal submission.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Don’t forget to link methodology to research question.</a:t>
            </a:r>
          </a:p>
        </p:txBody>
      </p:sp>
    </p:spTree>
    <p:extLst>
      <p:ext uri="{BB962C8B-B14F-4D97-AF65-F5344CB8AC3E}">
        <p14:creationId xmlns:p14="http://schemas.microsoft.com/office/powerpoint/2010/main" val="2605913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5D142B8-AB35-AE15-3704-7D3596C0C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ABDE357-08CE-2B8B-D86A-78F9AC5E1140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Report: Project Build &amp; Final Report Writing Plan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2366D101-F3F5-66B5-EAEF-DAEFA33E105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2E5B848-3200-5482-B562-9B518D195B70}"/>
              </a:ext>
            </a:extLst>
          </p:cNvPr>
          <p:cNvSpPr/>
          <p:nvPr/>
        </p:nvSpPr>
        <p:spPr>
          <a:xfrm>
            <a:off x="1600200" y="5410200"/>
            <a:ext cx="1524000" cy="381000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D3AC79-BAB5-036A-9351-286F3B2CB2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501" t="13333" r="21874" b="20000"/>
          <a:stretch>
            <a:fillRect/>
          </a:stretch>
        </p:blipFill>
        <p:spPr>
          <a:xfrm>
            <a:off x="1524000" y="2115438"/>
            <a:ext cx="9067800" cy="611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2985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0C7EAED-98FD-BF40-F827-981D09025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961DC71-359D-3013-40FF-80E6454C376A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Report: Project Build &amp; Final Report Writing Plan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FF6481E3-A976-2302-8B84-7A861068CEE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685F1C9-DD21-35BC-CA6E-6FDA77063E2F}"/>
              </a:ext>
            </a:extLst>
          </p:cNvPr>
          <p:cNvSpPr txBox="1"/>
          <p:nvPr/>
        </p:nvSpPr>
        <p:spPr>
          <a:xfrm>
            <a:off x="533400" y="2362201"/>
            <a:ext cx="1113095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Project Build + Report Drafting (Independent Work + Weekly Check-ins)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Goals: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Begin technical work (e.g., coding, modeling, dashboarding)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Write the main report sections: Introduction, Methodology, Literature Review, Results, Discussion</a:t>
            </a:r>
          </a:p>
        </p:txBody>
      </p:sp>
    </p:spTree>
    <p:extLst>
      <p:ext uri="{BB962C8B-B14F-4D97-AF65-F5344CB8AC3E}">
        <p14:creationId xmlns:p14="http://schemas.microsoft.com/office/powerpoint/2010/main" val="3653383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9F6D138-F26B-8BC7-FBD9-6E28F43D3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2410721-AC5D-8E87-DE1F-BAAF6E381F98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Report: Project Build &amp; Final Report Writing Plan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C3453A8A-8C04-FD65-8C4F-E0047077407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70B1E7-7346-F294-8EF6-DF8134921257}"/>
              </a:ext>
            </a:extLst>
          </p:cNvPr>
          <p:cNvSpPr txBox="1"/>
          <p:nvPr/>
        </p:nvSpPr>
        <p:spPr>
          <a:xfrm>
            <a:off x="533400" y="2362201"/>
            <a:ext cx="1113095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What to Do:</a:t>
            </a:r>
          </a:p>
          <a:p>
            <a:pPr marL="7080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Allocate roles: coder, document writer, reviewer</a:t>
            </a:r>
          </a:p>
          <a:p>
            <a:pPr marL="7080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Agile-style standups (15 mins): what did we do, what’s next?</a:t>
            </a:r>
          </a:p>
          <a:p>
            <a:pPr marL="7080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GitHub/Google Drive for collaboration</a:t>
            </a:r>
          </a:p>
        </p:txBody>
      </p:sp>
    </p:spTree>
    <p:extLst>
      <p:ext uri="{BB962C8B-B14F-4D97-AF65-F5344CB8AC3E}">
        <p14:creationId xmlns:p14="http://schemas.microsoft.com/office/powerpoint/2010/main" val="3191648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5DAB6F2-6701-8CD2-5DD5-9AFC2FACB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CF20599-0D64-4E4A-3D97-BE2BA5E7E94C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Report: Project Build &amp; Final Report Writing Plan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8B2372E5-C840-10CE-076C-FA5BD293C81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79F375-0BEB-00E8-DA07-54B3FFAAF5E3}"/>
              </a:ext>
            </a:extLst>
          </p:cNvPr>
          <p:cNvSpPr txBox="1"/>
          <p:nvPr/>
        </p:nvSpPr>
        <p:spPr>
          <a:xfrm>
            <a:off x="533400" y="2362201"/>
            <a:ext cx="1113095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❌ What to Avoid:</a:t>
            </a:r>
          </a:p>
          <a:p>
            <a:pPr marL="9826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Ignoring version control for report/code</a:t>
            </a:r>
          </a:p>
          <a:p>
            <a:pPr marL="9826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Working last minute on results or analysis</a:t>
            </a:r>
          </a:p>
          <a:p>
            <a:pPr marL="9826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Skipping documentation during development</a:t>
            </a:r>
          </a:p>
        </p:txBody>
      </p:sp>
    </p:spTree>
    <p:extLst>
      <p:ext uri="{BB962C8B-B14F-4D97-AF65-F5344CB8AC3E}">
        <p14:creationId xmlns:p14="http://schemas.microsoft.com/office/powerpoint/2010/main" val="14604604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1D894D8-5296-500C-6760-0A979B3A5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CC2B2DB-2C7E-D59D-8AD7-2966788ED368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Report: Project Build &amp; Final Report Writing Plan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C44343B4-EDED-4450-A9A5-EB59358BDAF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27F7397-217D-C76D-F58E-519661BEE732}"/>
              </a:ext>
            </a:extLst>
          </p:cNvPr>
          <p:cNvSpPr txBox="1"/>
          <p:nvPr/>
        </p:nvSpPr>
        <p:spPr>
          <a:xfrm>
            <a:off x="533400" y="2362201"/>
            <a:ext cx="1113095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Tips:</a:t>
            </a:r>
          </a:p>
          <a:p>
            <a:pPr marL="9493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Start the report early – one section/week</a:t>
            </a:r>
          </a:p>
          <a:p>
            <a:pPr marL="9493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Backup files regularly</a:t>
            </a:r>
          </a:p>
          <a:p>
            <a:pPr marL="9493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Document failed attempts and what was learned</a:t>
            </a:r>
          </a:p>
        </p:txBody>
      </p:sp>
    </p:spTree>
    <p:extLst>
      <p:ext uri="{BB962C8B-B14F-4D97-AF65-F5344CB8AC3E}">
        <p14:creationId xmlns:p14="http://schemas.microsoft.com/office/powerpoint/2010/main" val="4270684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2306579-8FD7-A208-77AF-21080E861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BEB260E-FE59-8FA2-0CF3-85CC437C36D6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Report: Project Build &amp; Final Report Writing Plan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C437CB2C-602D-8FA3-5754-DFA4CD6E9FB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82D045F-E6E0-1CA4-29E1-31FA8257B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3489621"/>
              </p:ext>
            </p:extLst>
          </p:nvPr>
        </p:nvGraphicFramePr>
        <p:xfrm>
          <a:off x="163894" y="2626794"/>
          <a:ext cx="11963400" cy="6431280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2731706">
                  <a:extLst>
                    <a:ext uri="{9D8B030D-6E8A-4147-A177-3AD203B41FA5}">
                      <a16:colId xmlns:a16="http://schemas.microsoft.com/office/drawing/2014/main" val="3592837481"/>
                    </a:ext>
                  </a:extLst>
                </a:gridCol>
                <a:gridCol w="3211894">
                  <a:extLst>
                    <a:ext uri="{9D8B030D-6E8A-4147-A177-3AD203B41FA5}">
                      <a16:colId xmlns:a16="http://schemas.microsoft.com/office/drawing/2014/main" val="2787086026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968183173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1732669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2800" dirty="0"/>
                        <a:t>Topic Example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Key Focus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Tools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Output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007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800" b="1" dirty="0"/>
                        <a:t>AI in Healthcare</a:t>
                      </a:r>
                      <a:endParaRPr 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Review use cases, challenges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Python, Scikit-learn, PubMed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Research Q: How effective is AI in early disease prediction?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0337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800" b="1"/>
                        <a:t>Data Privacy Laws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Review global frameworks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Data scraping, legal archives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Research Q: How GDPR impacts corporate analytics?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97345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800" b="1"/>
                        <a:t>Cybersecurity in E-commerce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Analyze breach cases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OWASP, PHP, 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Research Q: What methods mitigate SQL injection attacks?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22930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800" b="1"/>
                        <a:t>Data Analytics in Finance</a:t>
                      </a:r>
                      <a:endParaRPr lang="en-US" sz="2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Review fraud detection models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Python, Power BI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Research Q: Can ML detect real-time transaction fraud?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4552242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1208F519-5D5E-D202-9662-85F1225E49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718940"/>
            <a:ext cx="541205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Example Guidance Based on Topics</a:t>
            </a:r>
          </a:p>
        </p:txBody>
      </p:sp>
    </p:spTree>
    <p:extLst>
      <p:ext uri="{BB962C8B-B14F-4D97-AF65-F5344CB8AC3E}">
        <p14:creationId xmlns:p14="http://schemas.microsoft.com/office/powerpoint/2010/main" val="784994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39A68BE-E935-CAB3-73AC-A1FB4EAD7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FC3B6B7-0EB6-C476-BD52-15F8A20A44C5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Report: Project Build &amp; Final Report Writing Plan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B32DBEB8-F302-E8DA-8382-258BD4D8ED9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F8F7CB2B-BB0F-AA26-83BF-2C6CBB323C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2649" y="1674958"/>
            <a:ext cx="7532831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Resources to Provide Students</a:t>
            </a:r>
          </a:p>
          <a:p>
            <a:pPr marL="8286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Literature Review Matrix Template (Excel)</a:t>
            </a:r>
          </a:p>
          <a:p>
            <a:pPr marL="8286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Holmes Harvard Referencing Guide</a:t>
            </a:r>
          </a:p>
          <a:p>
            <a:pPr marL="8286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Sample Proposal (Word)</a:t>
            </a:r>
          </a:p>
          <a:p>
            <a:pPr marL="8286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Gantt Chart Template (Excel or PowerPoint)</a:t>
            </a:r>
          </a:p>
          <a:p>
            <a:pPr marL="8286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Sample Abstracts and Research Questions</a:t>
            </a:r>
          </a:p>
          <a:p>
            <a:pPr marL="8286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Session Slides (if you'd like, I can draft these)</a:t>
            </a:r>
          </a:p>
        </p:txBody>
      </p:sp>
    </p:spTree>
    <p:extLst>
      <p:ext uri="{BB962C8B-B14F-4D97-AF65-F5344CB8AC3E}">
        <p14:creationId xmlns:p14="http://schemas.microsoft.com/office/powerpoint/2010/main" val="32681882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5B01582-3669-1DA9-BF74-799528ECD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F7C92A6-4521-2BAB-02E1-7E8B4A37E338}"/>
              </a:ext>
            </a:extLst>
          </p:cNvPr>
          <p:cNvSpPr txBox="1"/>
          <p:nvPr/>
        </p:nvSpPr>
        <p:spPr>
          <a:xfrm>
            <a:off x="191211" y="213486"/>
            <a:ext cx="104013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algn="l">
              <a:lnSpc>
                <a:spcPct val="100000"/>
              </a:lnSpc>
              <a:spcBef>
                <a:spcPts val="100"/>
              </a:spcBef>
            </a:pPr>
            <a:r>
              <a:rPr lang="en-US" sz="3600" b="1" dirty="0">
                <a:latin typeface="+mj-lt"/>
              </a:rPr>
              <a:t>Preparation for Group Final Report: Project Build &amp; Final Report Writing Plan</a:t>
            </a:r>
            <a:endParaRPr sz="3300" b="1" dirty="0">
              <a:latin typeface="+mj-lt"/>
              <a:cs typeface="Calibri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3A8D8B6B-5127-1980-EEB0-E538A182C2E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A92FE286-1CA0-AC97-F9A0-DC42D0DB30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2649" y="1998123"/>
            <a:ext cx="7409401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Resources to Provide Students</a:t>
            </a:r>
          </a:p>
          <a:p>
            <a:pPr marL="8286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Literature Review Matrix Template (Excel)</a:t>
            </a:r>
          </a:p>
          <a:p>
            <a:pPr marL="8286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Holmes Harvard Referencing Guide</a:t>
            </a:r>
          </a:p>
          <a:p>
            <a:pPr marL="8286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Sample Proposal (Word)</a:t>
            </a:r>
          </a:p>
          <a:p>
            <a:pPr marL="8286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Gantt Chart Template (Excel or PowerPoint)</a:t>
            </a:r>
          </a:p>
          <a:p>
            <a:pPr marL="8286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Sample Abstracts and </a:t>
            </a:r>
            <a:r>
              <a:rPr lang="en-US" sz="2800">
                <a:latin typeface="+mj-lt"/>
              </a:rPr>
              <a:t>Research Questions</a:t>
            </a:r>
            <a:endParaRPr lang="en-U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28608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8E0D2-9286-EC6A-FC28-A59187C9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53D8119B-B033-4742-7B01-FE383058F9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10538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Group Progress Presentation – Overview of Progress at least 5 min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4872E6-ECC6-7615-EF56-326EA87CDB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199" b="23637"/>
          <a:stretch/>
        </p:blipFill>
        <p:spPr>
          <a:xfrm>
            <a:off x="8626" y="1371600"/>
            <a:ext cx="12192000" cy="4263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877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8CDC9-A7F0-B9E3-E9E4-516B6197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D91AB5A2-B21D-66A0-4528-C2C55210EBB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EF6D16-E124-24B9-1D4B-698CF1363FA5}"/>
              </a:ext>
            </a:extLst>
          </p:cNvPr>
          <p:cNvSpPr txBox="1"/>
          <p:nvPr/>
        </p:nvSpPr>
        <p:spPr>
          <a:xfrm>
            <a:off x="0" y="0"/>
            <a:ext cx="118871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Thank You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2B71991-9C10-2CDD-0295-065A9579E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550CBBC-F537-AFEC-634C-56C9DAB146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23996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5037F8A-312A-5706-B9D4-BD56C9AD7D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56063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163D227C-1D36-DEFE-C2F8-3CA3D97D92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6066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E1BCA2-620C-3559-3A80-9228DA241173}"/>
              </a:ext>
            </a:extLst>
          </p:cNvPr>
          <p:cNvSpPr txBox="1"/>
          <p:nvPr/>
        </p:nvSpPr>
        <p:spPr>
          <a:xfrm>
            <a:off x="609600" y="2441246"/>
            <a:ext cx="962420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Need Help? Send an email or ask during the tutorial session.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Good luck with your capstone journey!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Dr. Farshid Keivanian</a:t>
            </a:r>
            <a:br>
              <a:rPr lang="en-US" sz="2800" dirty="0">
                <a:latin typeface="+mj-lt"/>
              </a:rPr>
            </a:br>
            <a:r>
              <a:rPr lang="en-US" sz="2800" dirty="0">
                <a:latin typeface="+mj-lt"/>
              </a:rPr>
              <a:t>Capstone Project Supervisor</a:t>
            </a:r>
            <a:br>
              <a:rPr lang="en-US" sz="2800" dirty="0">
                <a:latin typeface="+mj-lt"/>
              </a:rPr>
            </a:br>
            <a:r>
              <a:rPr lang="en-US" sz="2800" dirty="0">
                <a:latin typeface="+mj-lt"/>
              </a:rPr>
              <a:t>Fkeivanian@my.holmes.edu.au</a:t>
            </a:r>
          </a:p>
        </p:txBody>
      </p:sp>
    </p:spTree>
    <p:extLst>
      <p:ext uri="{BB962C8B-B14F-4D97-AF65-F5344CB8AC3E}">
        <p14:creationId xmlns:p14="http://schemas.microsoft.com/office/powerpoint/2010/main" val="2583695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393</TotalTime>
  <Words>585</Words>
  <Application>Microsoft Office PowerPoint</Application>
  <PresentationFormat>Custom</PresentationFormat>
  <Paragraphs>82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Group Progress Presentation – Overview of Progress at least 5 min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Farshid Keivanian</dc:creator>
  <cp:lastModifiedBy>Farshid Keivanian</cp:lastModifiedBy>
  <cp:revision>149</cp:revision>
  <dcterms:created xsi:type="dcterms:W3CDTF">2025-04-05T17:32:34Z</dcterms:created>
  <dcterms:modified xsi:type="dcterms:W3CDTF">2025-08-09T19:48:40Z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2024-05-02T00:00:00Z</vt:filetime>
  </property>
  <property fmtid="{D5CDD505-2E9C-101B-9397-08002B2CF9AE}" pid="3" name="Creator">
    <vt:lpwstr>Microsoft® Word for Microsoft 365</vt:lpwstr>
  </property>
  <property fmtid="{D5CDD505-2E9C-101B-9397-08002B2CF9AE}" pid="4" name="LastSaved">
    <vt:filetime>2025-04-05T00:00:00Z</vt:filetime>
  </property>
  <property fmtid="{D5CDD505-2E9C-101B-9397-08002B2CF9AE}" pid="5" name="Producer">
    <vt:lpwstr>Adobe Acrobat Pro (64-bit) 24.2.20687</vt:lpwstr>
  </property>
</Properties>
</file>